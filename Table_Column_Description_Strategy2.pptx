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2"/>
    <p:restoredTop sz="94679"/>
  </p:normalViewPr>
  <p:slideViewPr>
    <p:cSldViewPr snapToGrid="0" snapToObjects="1">
      <p:cViewPr>
        <p:scale>
          <a:sx n="90" d="100"/>
          <a:sy n="90" d="100"/>
        </p:scale>
        <p:origin x="82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324F"/>
                </a:solidFill>
                <a:latin typeface="Calibri"/>
              </a:rPr>
              <a:t>We govern our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831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9A5E14"/>
                </a:solidFill>
                <a:latin typeface="Calibri"/>
              </a:rPr>
              <a:t>Its meaning is still tribal knowledge.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831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6770"/>
                </a:solidFill>
                <a:latin typeface="Calibri"/>
              </a:rPr>
              <a:t>We publish structure — names, types, owners. The meaning that makes data usable never ships with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42062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274320" cy="219456"/>
          </a:xfrm>
          <a:prstGeom prst="rect">
            <a:avLst/>
          </a:prstGeom>
          <a:noFill/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822960" y="2176272"/>
            <a:ext cx="274320" cy="0"/>
          </a:xfrm>
          <a:prstGeom prst="line">
            <a:avLst/>
          </a:prstGeom>
          <a:ln w="1270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2103120"/>
            <a:ext cx="0" cy="219456"/>
          </a:xfrm>
          <a:prstGeom prst="line">
            <a:avLst/>
          </a:prstGeom>
          <a:ln w="12700">
            <a:solidFill>
              <a:srgbClr val="163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4440" y="2084831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6324F"/>
                </a:solidFill>
                <a:latin typeface="Consolas"/>
              </a:rPr>
              <a:t>dm.subject_visits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2468880"/>
            <a:ext cx="3566160" cy="0"/>
          </a:xfrm>
          <a:prstGeom prst="line">
            <a:avLst/>
          </a:prstGeom>
          <a:ln w="12700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26334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06040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A5E14"/>
                </a:solidFill>
                <a:latin typeface="Consolas"/>
              </a:rPr>
              <a:t>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980944"/>
            <a:ext cx="3474720" cy="0"/>
          </a:xfrm>
          <a:prstGeom prst="line">
            <a:avLst/>
          </a:prstGeom>
          <a:ln w="9525">
            <a:solidFill>
              <a:srgbClr val="E3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0906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063240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A5E14"/>
                </a:solidFill>
                <a:latin typeface="Consolas"/>
              </a:rPr>
              <a:t>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3438144"/>
            <a:ext cx="3474720" cy="0"/>
          </a:xfrm>
          <a:prstGeom prst="line">
            <a:avLst/>
          </a:prstGeom>
          <a:ln w="9525">
            <a:solidFill>
              <a:srgbClr val="E3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35478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770"/>
                </a:solidFill>
                <a:latin typeface="Calibri"/>
              </a:rPr>
              <a:t>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520440"/>
            <a:ext cx="457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A5E14"/>
                </a:solidFill>
                <a:latin typeface="Consolas"/>
              </a:rPr>
              <a:t>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3895344"/>
            <a:ext cx="3474720" cy="0"/>
          </a:xfrm>
          <a:prstGeom prst="line">
            <a:avLst/>
          </a:prstGeom>
          <a:ln w="9525">
            <a:solidFill>
              <a:srgbClr val="E3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409651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9A5E14"/>
                </a:solidFill>
                <a:latin typeface="Calibri"/>
              </a:rPr>
              <a:t>⚠  no meaning or business context attached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4398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9A5E14"/>
                </a:solidFill>
                <a:latin typeface="Calibri"/>
              </a:rPr>
              <a:t>⚠  not AI-ready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37760" y="3200400"/>
            <a:ext cx="640080" cy="457200"/>
          </a:xfrm>
          <a:prstGeom prst="rightArrow">
            <a:avLst/>
          </a:prstGeom>
          <a:solidFill>
            <a:srgbClr val="2E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06440" y="1874519"/>
            <a:ext cx="5879592" cy="896112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27432" rIns="54864" bIns="27432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Analysts hunt, decisions wait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B6770"/>
                </a:solidFill>
                <a:latin typeface="Calibri"/>
              </a:rPr>
              <a:t>finding the person who knows replaces analysing the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1874519"/>
            <a:ext cx="68580" cy="896112"/>
          </a:xfrm>
          <a:prstGeom prst="rect">
            <a:avLst/>
          </a:prstGeom>
          <a:solidFill>
            <a:srgbClr val="2E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89320" y="2167128"/>
            <a:ext cx="237744" cy="237744"/>
          </a:xfrm>
          <a:prstGeom prst="ellipse">
            <a:avLst/>
          </a:prstGeom>
          <a:noFill/>
          <a:ln w="22225">
            <a:solidFill>
              <a:srgbClr val="2E6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6172200" y="2368296"/>
            <a:ext cx="100584" cy="100584"/>
          </a:xfrm>
          <a:prstGeom prst="line">
            <a:avLst/>
          </a:prstGeom>
          <a:ln w="25400">
            <a:solidFill>
              <a:srgbClr val="2E6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806440" y="2916935"/>
            <a:ext cx="5879592" cy="896112"/>
          </a:xfrm>
          <a:prstGeom prst="rect">
            <a:avLst/>
          </a:prstGeom>
          <a:solidFill>
            <a:srgbClr val="FB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27432" rIns="54864" bIns="27432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9A5E14"/>
                </a:solidFill>
                <a:latin typeface="Calibri"/>
              </a:rPr>
              <a:t>Expert knowledge never compounds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B6770"/>
                </a:solidFill>
                <a:latin typeface="Calibri"/>
              </a:rPr>
              <a:t>SMEs re-explain the same fields on every project — nothing is captured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2916935"/>
            <a:ext cx="68580" cy="896112"/>
          </a:xfrm>
          <a:prstGeom prst="rect">
            <a:avLst/>
          </a:prstGeom>
          <a:solidFill>
            <a:srgbClr val="C6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61888" y="3227832"/>
            <a:ext cx="310896" cy="237744"/>
          </a:xfrm>
          <a:prstGeom prst="roundRect">
            <a:avLst>
              <a:gd name="adj" fmla="val 35000"/>
            </a:avLst>
          </a:prstGeom>
          <a:noFill/>
          <a:ln w="22225">
            <a:solidFill>
              <a:srgbClr val="C67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67B22"/>
                </a:solidFill>
                <a:latin typeface="Calibri"/>
              </a:rPr>
              <a:t>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3959352"/>
            <a:ext cx="5879592" cy="896112"/>
          </a:xfrm>
          <a:prstGeom prst="rect">
            <a:avLst/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27432" rIns="54864" bIns="27432" rtlCol="0" anchor="ctr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25E51"/>
                </a:solidFill>
                <a:latin typeface="Calibri"/>
              </a:rPr>
              <a:t>AI guesses — confidently wrong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B6770"/>
                </a:solidFill>
                <a:latin typeface="Calibri"/>
              </a:rPr>
              <a:t>agents infer meaning from column names, with no ground truth to 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3959352"/>
            <a:ext cx="68580" cy="896112"/>
          </a:xfrm>
          <a:prstGeom prst="rect">
            <a:avLst/>
          </a:prstGeom>
          <a:solidFill>
            <a:srgbClr val="1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2" name="4-Point Star 31"/>
          <p:cNvSpPr/>
          <p:nvPr/>
        </p:nvSpPr>
        <p:spPr>
          <a:xfrm>
            <a:off x="5971032" y="4251960"/>
            <a:ext cx="292608" cy="292608"/>
          </a:xfrm>
          <a:prstGeom prst="star4">
            <a:avLst/>
          </a:prstGeom>
          <a:noFill/>
          <a:ln w="22225">
            <a:solidFill>
              <a:srgbClr val="1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02920" y="5212080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358384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Treat table &amp; column meaning as a governed data product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33288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9D6E3"/>
                </a:solidFill>
                <a:latin typeface="Calibri"/>
              </a:rPr>
              <a:t>authoritative first · AI-assisted at scale · human-approved · published to every consumer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3296" y="5422392"/>
            <a:ext cx="96012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Reuse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79992" y="5632704"/>
            <a:ext cx="18288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299448" y="5422392"/>
            <a:ext cx="96012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296144" y="5632704"/>
            <a:ext cx="182880" cy="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515600" y="5422392"/>
            <a:ext cx="96012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26364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770"/>
                </a:solidFill>
                <a:latin typeface="Calibri"/>
              </a:rPr>
              <a:t>Metadata is the interface between our data and everyone — human or AI — who uses it. The following slides set out how we build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324F"/>
                </a:solidFill>
                <a:latin typeface="Calibri"/>
              </a:rPr>
              <a:t>Solution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49640" y="329184"/>
            <a:ext cx="3136392" cy="475488"/>
          </a:xfrm>
          <a:prstGeom prst="roundRect">
            <a:avLst>
              <a:gd name="adj" fmla="val 50000"/>
            </a:avLst>
          </a:prstGeom>
          <a:solidFill>
            <a:srgbClr val="5D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ENRICH  →  APPROVE  → 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29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24F"/>
                </a:solidFill>
                <a:latin typeface="Calibri"/>
              </a:rPr>
              <a:t>SOURCES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481320"/>
            <a:ext cx="2011680" cy="0"/>
          </a:xfrm>
          <a:prstGeom prst="line">
            <a:avLst/>
          </a:prstGeom>
          <a:ln w="12700">
            <a:solidFill>
              <a:srgbClr val="9AA5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62072" y="114299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25E51"/>
                </a:solidFill>
                <a:latin typeface="Calibri"/>
              </a:rPr>
              <a:t>ENRICH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62072" y="1481320"/>
            <a:ext cx="2194559" cy="0"/>
          </a:xfrm>
          <a:prstGeom prst="line">
            <a:avLst/>
          </a:prstGeom>
          <a:ln w="12700">
            <a:solidFill>
              <a:srgbClr val="9AA5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12664" y="114299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4E79"/>
                </a:solidFill>
                <a:latin typeface="Calibri"/>
              </a:rPr>
              <a:t>CURATE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12664" y="1481320"/>
            <a:ext cx="2103119" cy="0"/>
          </a:xfrm>
          <a:prstGeom prst="line">
            <a:avLst/>
          </a:prstGeom>
          <a:ln w="12700">
            <a:solidFill>
              <a:srgbClr val="9AA5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71816" y="11429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24F"/>
                </a:solidFill>
                <a:latin typeface="Calibri"/>
              </a:rPr>
              <a:t>PUBLISH · APPROVED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71816" y="1481320"/>
            <a:ext cx="2011680" cy="0"/>
          </a:xfrm>
          <a:prstGeom prst="line">
            <a:avLst/>
          </a:prstGeom>
          <a:ln w="12700">
            <a:solidFill>
              <a:srgbClr val="9AA5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39528" y="1142992"/>
            <a:ext cx="17465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6770"/>
                </a:solidFill>
                <a:latin typeface="Calibri"/>
              </a:rPr>
              <a:t>CONSUME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939528" y="1481320"/>
            <a:ext cx="1746504" cy="0"/>
          </a:xfrm>
          <a:prstGeom prst="line">
            <a:avLst/>
          </a:prstGeom>
          <a:ln w="12700">
            <a:solidFill>
              <a:srgbClr val="9AA5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75488" y="1874512"/>
            <a:ext cx="2011680" cy="658368"/>
          </a:xfrm>
          <a:prstGeom prst="rect">
            <a:avLst/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6324F"/>
                </a:solidFill>
                <a:latin typeface="Calibri"/>
              </a:rPr>
              <a:t>Source data in Databricks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770"/>
                </a:solidFill>
                <a:latin typeface="Calibri"/>
              </a:rPr>
              <a:t>tables · columns · schemas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1874512"/>
            <a:ext cx="54864" cy="65836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2487168" y="2203695"/>
            <a:ext cx="137160" cy="0"/>
          </a:xfrm>
          <a:prstGeom prst="line">
            <a:avLst/>
          </a:prstGeom>
          <a:ln w="1587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75488" y="2660895"/>
            <a:ext cx="2011680" cy="65836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E79"/>
                </a:solidFill>
                <a:latin typeface="Calibri"/>
              </a:rPr>
              <a:t>Clinical standards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770"/>
                </a:solidFill>
                <a:latin typeface="Calibri"/>
              </a:rPr>
              <a:t>CDISC · MedDRA · WHODrug · NCI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2660895"/>
            <a:ext cx="54864" cy="658368"/>
          </a:xfrm>
          <a:prstGeom prst="rect">
            <a:avLst/>
          </a:prstGeom>
          <a:solidFill>
            <a:srgbClr val="2E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2487168" y="2990079"/>
            <a:ext cx="137160" cy="0"/>
          </a:xfrm>
          <a:prstGeom prst="line">
            <a:avLst/>
          </a:prstGeom>
          <a:ln w="1587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75488" y="3447279"/>
            <a:ext cx="2011680" cy="65836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E79"/>
                </a:solidFill>
                <a:latin typeface="Calibri"/>
              </a:rPr>
              <a:t>Vendor metadata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770"/>
                </a:solidFill>
                <a:latin typeface="Calibri"/>
              </a:rPr>
              <a:t>Inform/Veeva · EDC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3447279"/>
            <a:ext cx="54864" cy="658368"/>
          </a:xfrm>
          <a:prstGeom prst="rect">
            <a:avLst/>
          </a:prstGeom>
          <a:solidFill>
            <a:srgbClr val="2E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2487168" y="3776464"/>
            <a:ext cx="137160" cy="0"/>
          </a:xfrm>
          <a:prstGeom prst="line">
            <a:avLst/>
          </a:prstGeom>
          <a:ln w="1587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75488" y="4233664"/>
            <a:ext cx="2011680" cy="658368"/>
          </a:xfrm>
          <a:prstGeom prst="rect">
            <a:avLst/>
          </a:prstGeom>
          <a:solidFill>
            <a:srgbClr val="FB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9A5E14"/>
                </a:solidFill>
                <a:latin typeface="Calibri"/>
              </a:rPr>
              <a:t>Curated enterprise metadata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770"/>
                </a:solidFill>
                <a:latin typeface="Calibri"/>
              </a:rPr>
              <a:t>catalog · glossary · SMEs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4233664"/>
            <a:ext cx="54864" cy="658368"/>
          </a:xfrm>
          <a:prstGeom prst="rect">
            <a:avLst/>
          </a:prstGeom>
          <a:solidFill>
            <a:srgbClr val="C6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2487168" y="4562848"/>
            <a:ext cx="137160" cy="0"/>
          </a:xfrm>
          <a:prstGeom prst="line">
            <a:avLst/>
          </a:prstGeom>
          <a:ln w="1587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24328" y="2203695"/>
            <a:ext cx="0" cy="2359153"/>
          </a:xfrm>
          <a:prstGeom prst="line">
            <a:avLst/>
          </a:prstGeom>
          <a:ln w="1587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24328" y="2980936"/>
            <a:ext cx="237744" cy="0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62072" y="1874512"/>
            <a:ext cx="2194560" cy="1828800"/>
          </a:xfrm>
          <a:prstGeom prst="roundRect">
            <a:avLst>
              <a:gd name="adj" fmla="val 6000"/>
            </a:avLst>
          </a:prstGeom>
          <a:solidFill>
            <a:srgbClr val="E7F3F0"/>
          </a:solidFill>
          <a:ln w="19050">
            <a:solidFill>
              <a:srgbClr val="1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64592" rIns="54864" bIns="27432" rtlCol="0" anchor="t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25E51"/>
                </a:solidFill>
                <a:latin typeface="Calibri"/>
              </a:rPr>
              <a:t>SEMANTIC  ENRICHMENT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B6770"/>
                </a:solidFill>
                <a:latin typeface="Calibri"/>
              </a:rPr>
              <a:t>AI generates, enriches &amp;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B6770"/>
                </a:solidFill>
                <a:latin typeface="Calibri"/>
              </a:rPr>
              <a:t>grounds descriptions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72384" y="2706616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324F"/>
                </a:solidFill>
                <a:latin typeface="Calibri"/>
              </a:rPr>
              <a:t>Use as 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72384" y="3127240"/>
            <a:ext cx="17739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324F"/>
                </a:solidFill>
                <a:latin typeface="Calibri"/>
              </a:rPr>
              <a:t>Enrich · generate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12664" y="1874512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9050">
            <a:solidFill>
              <a:srgbClr val="2E6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GB" sz="1050" b="1" i="0" dirty="0">
                <a:solidFill>
                  <a:srgbClr val="1F4E79"/>
                </a:solidFill>
                <a:latin typeface="Calibri"/>
              </a:rPr>
              <a:t>Semantic Metadata</a:t>
            </a:r>
            <a:endParaRPr sz="1050" b="1" i="0" dirty="0">
              <a:solidFill>
                <a:srgbClr val="1F4E79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 dirty="0">
                <a:solidFill>
                  <a:srgbClr val="5B6770"/>
                </a:solidFill>
                <a:latin typeface="Calibri"/>
              </a:rPr>
              <a:t>candidate &amp; approved metadata</a:t>
            </a:r>
          </a:p>
        </p:txBody>
      </p:sp>
      <p:sp>
        <p:nvSpPr>
          <p:cNvPr id="32" name="Can 31"/>
          <p:cNvSpPr/>
          <p:nvPr/>
        </p:nvSpPr>
        <p:spPr>
          <a:xfrm>
            <a:off x="5440680" y="2066536"/>
            <a:ext cx="274320" cy="384048"/>
          </a:xfrm>
          <a:prstGeom prst="can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495544" y="4426828"/>
            <a:ext cx="1737360" cy="86868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9050">
            <a:solidFill>
              <a:srgbClr val="2E6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Metadata App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5B6770"/>
                </a:solidFill>
                <a:latin typeface="Calibri"/>
              </a:rPr>
              <a:t>curate → approve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1">
                <a:solidFill>
                  <a:srgbClr val="5B6770"/>
                </a:solidFill>
                <a:latin typeface="Calibri"/>
              </a:rPr>
              <a:t>human-in-the-loop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56632" y="2304280"/>
            <a:ext cx="256032" cy="0"/>
          </a:xfrm>
          <a:prstGeom prst="line">
            <a:avLst/>
          </a:prstGeom>
          <a:ln w="15875">
            <a:solidFill>
              <a:srgbClr val="1E8A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64224" y="2743192"/>
            <a:ext cx="0" cy="1655064"/>
          </a:xfrm>
          <a:prstGeom prst="line">
            <a:avLst/>
          </a:prstGeom>
          <a:ln w="15875">
            <a:solidFill>
              <a:srgbClr val="2E6FA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71816" y="4320542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9EEEB"/>
          </a:solidFill>
          <a:ln w="19050">
            <a:solidFill>
              <a:srgbClr val="C15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9C4335"/>
                </a:solidFill>
                <a:latin typeface="Calibri"/>
              </a:rPr>
              <a:t>Databricks Unity Catalog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770"/>
                </a:solidFill>
                <a:latin typeface="Calibri"/>
              </a:rPr>
              <a:t>table &amp; column metadata</a:t>
            </a:r>
          </a:p>
        </p:txBody>
      </p:sp>
      <p:pic>
        <p:nvPicPr>
          <p:cNvPr id="37" name="Picture 36" descr="databrick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4558286"/>
            <a:ext cx="238346" cy="256032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7671816" y="5600703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5B6770"/>
                </a:solidFill>
                <a:latin typeface="Calibri"/>
              </a:rPr>
              <a:t>Data Marketplace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770"/>
                </a:solidFill>
                <a:latin typeface="Calibri"/>
              </a:rPr>
              <a:t>shared data products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15783" y="2468872"/>
            <a:ext cx="585217" cy="0"/>
          </a:xfrm>
          <a:prstGeom prst="line">
            <a:avLst/>
          </a:prstGeom>
          <a:ln w="1587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</p:cNvCxnSpPr>
          <p:nvPr/>
        </p:nvCxnSpPr>
        <p:spPr>
          <a:xfrm>
            <a:off x="8001000" y="2468872"/>
            <a:ext cx="0" cy="1817375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15783" y="2606032"/>
            <a:ext cx="128017" cy="0"/>
          </a:xfrm>
          <a:prstGeom prst="line">
            <a:avLst/>
          </a:prstGeom>
          <a:ln w="15875">
            <a:solidFill>
              <a:srgbClr val="9AA5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cxnSpLocks/>
          </p:cNvCxnSpPr>
          <p:nvPr/>
        </p:nvCxnSpPr>
        <p:spPr>
          <a:xfrm>
            <a:off x="7543800" y="2606032"/>
            <a:ext cx="0" cy="3360431"/>
          </a:xfrm>
          <a:prstGeom prst="line">
            <a:avLst/>
          </a:prstGeom>
          <a:ln w="15875">
            <a:solidFill>
              <a:srgbClr val="9AA5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43800" y="5966463"/>
            <a:ext cx="128016" cy="0"/>
          </a:xfrm>
          <a:prstGeom prst="line">
            <a:avLst/>
          </a:prstGeom>
          <a:ln w="15875">
            <a:solidFill>
              <a:srgbClr val="9AA5B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040880" y="3017512"/>
            <a:ext cx="1463040" cy="384048"/>
          </a:xfrm>
          <a:prstGeom prst="roundRect">
            <a:avLst>
              <a:gd name="adj" fmla="val 15000"/>
            </a:avLst>
          </a:prstGeom>
          <a:solidFill>
            <a:srgbClr val="EAF1F8"/>
          </a:solidFill>
          <a:ln w="19050">
            <a:solidFill>
              <a:srgbClr val="2E6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Approved → Publish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39528" y="1920232"/>
            <a:ext cx="1746504" cy="7772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9050">
            <a:solidFill>
              <a:srgbClr val="2E6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 dirty="0">
                <a:solidFill>
                  <a:srgbClr val="1F4E79"/>
                </a:solidFill>
                <a:latin typeface="Calibri"/>
              </a:rPr>
              <a:t>Discovery Agents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 dirty="0">
                <a:solidFill>
                  <a:srgbClr val="5B6770"/>
                </a:solidFill>
                <a:latin typeface="Calibri"/>
              </a:rPr>
              <a:t>automated data discovery</a:t>
            </a:r>
            <a:endParaRPr lang="en-GB" sz="750" b="0" i="0" dirty="0">
              <a:solidFill>
                <a:srgbClr val="5B677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GB" sz="750" dirty="0">
                <a:solidFill>
                  <a:srgbClr val="5B6770"/>
                </a:solidFill>
                <a:latin typeface="Calibri"/>
              </a:rPr>
              <a:t>(Supervisor agent)</a:t>
            </a:r>
            <a:endParaRPr sz="750" b="0" i="0" dirty="0">
              <a:solidFill>
                <a:srgbClr val="5B6770"/>
              </a:solidFill>
              <a:latin typeface="Calibri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939528" y="4077663"/>
            <a:ext cx="1746504" cy="777240"/>
          </a:xfrm>
          <a:prstGeom prst="roundRect">
            <a:avLst>
              <a:gd name="adj" fmla="val 10000"/>
            </a:avLst>
          </a:prstGeom>
          <a:solidFill>
            <a:srgbClr val="F9EEEB"/>
          </a:solidFill>
          <a:ln w="19050">
            <a:solidFill>
              <a:srgbClr val="C15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9C4335"/>
                </a:solidFill>
                <a:latin typeface="Calibri"/>
              </a:rPr>
              <a:t>Genie One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770"/>
                </a:solidFill>
                <a:latin typeface="Calibri"/>
              </a:rPr>
              <a:t>conversational analytics</a:t>
            </a:r>
          </a:p>
        </p:txBody>
      </p:sp>
      <p:pic>
        <p:nvPicPr>
          <p:cNvPr id="47" name="Picture 46" descr="databrick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4333695"/>
            <a:ext cx="238346" cy="25603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9939528" y="5220663"/>
            <a:ext cx="1746504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47472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6324F"/>
                </a:solidFill>
                <a:latin typeface="Calibri"/>
              </a:rPr>
              <a:t>ChatGPT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770"/>
                </a:solidFill>
                <a:latin typeface="Calibri"/>
              </a:rPr>
              <a:t>external AI assistants</a:t>
            </a:r>
          </a:p>
        </p:txBody>
      </p:sp>
      <p:pic>
        <p:nvPicPr>
          <p:cNvPr id="49" name="Picture 48" descr="openai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5476695"/>
            <a:ext cx="253351" cy="256032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>
            <a:off x="7415783" y="2304280"/>
            <a:ext cx="2523745" cy="0"/>
          </a:xfrm>
          <a:prstGeom prst="line">
            <a:avLst/>
          </a:prstGeom>
          <a:ln w="15875">
            <a:solidFill>
              <a:srgbClr val="9AA5B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110727" y="2066536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0" i="1">
                <a:solidFill>
                  <a:srgbClr val="5B6770"/>
                </a:solidFill>
                <a:latin typeface="Calibri"/>
              </a:rPr>
              <a:t>candidate &amp; approved</a:t>
            </a:r>
          </a:p>
        </p:txBody>
      </p:sp>
      <p:cxnSp>
        <p:nvCxnSpPr>
          <p:cNvPr id="52" name="Connector 51"/>
          <p:cNvCxnSpPr>
            <a:cxnSpLocks/>
            <a:endCxn id="46" idx="1"/>
          </p:cNvCxnSpPr>
          <p:nvPr/>
        </p:nvCxnSpPr>
        <p:spPr>
          <a:xfrm flipV="1">
            <a:off x="9683496" y="4466283"/>
            <a:ext cx="256032" cy="37140"/>
          </a:xfrm>
          <a:prstGeom prst="line">
            <a:avLst/>
          </a:prstGeom>
          <a:ln w="15875">
            <a:solidFill>
              <a:srgbClr val="9AA5B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683496" y="4869182"/>
            <a:ext cx="256032" cy="530352"/>
          </a:xfrm>
          <a:prstGeom prst="line">
            <a:avLst/>
          </a:prstGeom>
          <a:ln w="15875">
            <a:solidFill>
              <a:srgbClr val="9AA5B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808208" y="4854903"/>
            <a:ext cx="0" cy="365760"/>
          </a:xfrm>
          <a:prstGeom prst="line">
            <a:avLst/>
          </a:prstGeom>
          <a:ln w="15875">
            <a:solidFill>
              <a:srgbClr val="9AA5B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442448" y="4973775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50" b="1" i="0" dirty="0">
                <a:solidFill>
                  <a:srgbClr val="5B6770"/>
                </a:solidFill>
                <a:latin typeface="Calibri"/>
              </a:rPr>
              <a:t>MCP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64941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 dirty="0">
                <a:solidFill>
                  <a:srgbClr val="5B6770"/>
                </a:solidFill>
                <a:latin typeface="Calibri"/>
              </a:rPr>
              <a:t>One metadata flow — from sources and standards to every downstream consumer.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F28AC4B-4B1E-4A3E-9255-667A339D37C8}"/>
              </a:ext>
            </a:extLst>
          </p:cNvPr>
          <p:cNvSpPr/>
          <p:nvPr/>
        </p:nvSpPr>
        <p:spPr>
          <a:xfrm>
            <a:off x="9934956" y="2830636"/>
            <a:ext cx="1746504" cy="7772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rgbClr val="2E6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GB" sz="950" b="1" i="0" dirty="0">
                <a:solidFill>
                  <a:srgbClr val="1F4E79"/>
                </a:solidFill>
                <a:latin typeface="Calibri"/>
              </a:rPr>
              <a:t>Custom Genie Agents</a:t>
            </a:r>
            <a:endParaRPr sz="950" b="1" i="0" dirty="0">
              <a:solidFill>
                <a:srgbClr val="1F4E79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GB" sz="750" b="0" i="0" dirty="0">
                <a:solidFill>
                  <a:srgbClr val="5B6770"/>
                </a:solidFill>
                <a:latin typeface="Calibri"/>
              </a:rPr>
              <a:t>Additional Metadata</a:t>
            </a:r>
            <a:endParaRPr sz="750" b="0" i="0" dirty="0">
              <a:solidFill>
                <a:srgbClr val="5B6770"/>
              </a:solidFill>
              <a:latin typeface="Calibri"/>
            </a:endParaRPr>
          </a:p>
        </p:txBody>
      </p:sp>
      <p:cxnSp>
        <p:nvCxnSpPr>
          <p:cNvPr id="60" name="Connector 41">
            <a:extLst>
              <a:ext uri="{FF2B5EF4-FFF2-40B4-BE49-F238E27FC236}">
                <a16:creationId xmlns:a16="http://schemas.microsoft.com/office/drawing/2014/main" id="{CB2833D4-5152-52B3-D773-0917D302BE44}"/>
              </a:ext>
            </a:extLst>
          </p:cNvPr>
          <p:cNvCxnSpPr>
            <a:cxnSpLocks/>
          </p:cNvCxnSpPr>
          <p:nvPr/>
        </p:nvCxnSpPr>
        <p:spPr>
          <a:xfrm>
            <a:off x="9310691" y="2323136"/>
            <a:ext cx="0" cy="905832"/>
          </a:xfrm>
          <a:prstGeom prst="line">
            <a:avLst/>
          </a:prstGeom>
          <a:ln w="15875">
            <a:solidFill>
              <a:srgbClr val="9AA5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42">
            <a:extLst>
              <a:ext uri="{FF2B5EF4-FFF2-40B4-BE49-F238E27FC236}">
                <a16:creationId xmlns:a16="http://schemas.microsoft.com/office/drawing/2014/main" id="{49C937B5-3A1A-E308-0468-C976FC006B4E}"/>
              </a:ext>
            </a:extLst>
          </p:cNvPr>
          <p:cNvCxnSpPr>
            <a:cxnSpLocks/>
            <a:endCxn id="58" idx="1"/>
          </p:cNvCxnSpPr>
          <p:nvPr/>
        </p:nvCxnSpPr>
        <p:spPr>
          <a:xfrm flipV="1">
            <a:off x="9310691" y="3219256"/>
            <a:ext cx="624265" cy="9712"/>
          </a:xfrm>
          <a:prstGeom prst="line">
            <a:avLst/>
          </a:prstGeom>
          <a:ln w="15875">
            <a:solidFill>
              <a:srgbClr val="9AA5B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51">
            <a:extLst>
              <a:ext uri="{FF2B5EF4-FFF2-40B4-BE49-F238E27FC236}">
                <a16:creationId xmlns:a16="http://schemas.microsoft.com/office/drawing/2014/main" id="{99399322-C533-AF24-F3EF-B57AA8AADBF6}"/>
              </a:ext>
            </a:extLst>
          </p:cNvPr>
          <p:cNvCxnSpPr>
            <a:cxnSpLocks/>
            <a:stCxn id="58" idx="2"/>
            <a:endCxn id="46" idx="0"/>
          </p:cNvCxnSpPr>
          <p:nvPr/>
        </p:nvCxnSpPr>
        <p:spPr>
          <a:xfrm>
            <a:off x="10808208" y="3607876"/>
            <a:ext cx="4572" cy="469787"/>
          </a:xfrm>
          <a:prstGeom prst="line">
            <a:avLst/>
          </a:prstGeom>
          <a:ln w="15875">
            <a:solidFill>
              <a:srgbClr val="9AA5B1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4C73056-2FED-0CE6-E2E5-8B4ECE86F489}"/>
              </a:ext>
            </a:extLst>
          </p:cNvPr>
          <p:cNvSpPr txBox="1"/>
          <p:nvPr/>
        </p:nvSpPr>
        <p:spPr>
          <a:xfrm>
            <a:off x="10929936" y="3785064"/>
            <a:ext cx="54864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750" b="1" i="0" dirty="0">
                <a:solidFill>
                  <a:srgbClr val="5B6770"/>
                </a:solidFill>
                <a:latin typeface="Calibri"/>
              </a:rPr>
              <a:t>Can use </a:t>
            </a:r>
            <a:endParaRPr sz="750" b="1" i="0" dirty="0">
              <a:solidFill>
                <a:srgbClr val="5B677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324F"/>
                </a:solidFill>
                <a:latin typeface="Calibri"/>
              </a:rPr>
              <a:t>Table &amp; Column Description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49640" y="329184"/>
            <a:ext cx="3136392" cy="475488"/>
          </a:xfrm>
          <a:prstGeom prst="roundRect">
            <a:avLst>
              <a:gd name="adj" fmla="val 50000"/>
            </a:avLst>
          </a:prstGeom>
          <a:solidFill>
            <a:srgbClr val="5D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REUSE   →   ENRICH   →   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24F"/>
                </a:solidFill>
                <a:latin typeface="Calibri"/>
              </a:rPr>
              <a:t>≈  MOST ASSETS TODAY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371600"/>
            <a:ext cx="3511295" cy="0"/>
          </a:xfrm>
          <a:prstGeom prst="line">
            <a:avLst/>
          </a:prstGeom>
          <a:ln w="12700">
            <a:solidFill>
              <a:srgbClr val="9AA5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338828" y="987552"/>
            <a:ext cx="73472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6324F"/>
                </a:solidFill>
                <a:latin typeface="Calibri"/>
              </a:rPr>
              <a:t>PREFERRED WHEN METADATA EXISTS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38828" y="1371600"/>
            <a:ext cx="7347204" cy="0"/>
          </a:xfrm>
          <a:prstGeom prst="line">
            <a:avLst/>
          </a:prstGeom>
          <a:ln w="12700">
            <a:solidFill>
              <a:srgbClr val="9AA5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2920" y="1481328"/>
            <a:ext cx="3511296" cy="914400"/>
          </a:xfrm>
          <a:prstGeom prst="rect">
            <a:avLst/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25E51"/>
                </a:solidFill>
                <a:latin typeface="Calibri"/>
              </a:rPr>
              <a:t>NO  EXISTING  DESCRIPTION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B6770"/>
                </a:solidFill>
                <a:latin typeface="Calibri"/>
              </a:rPr>
              <a:t>Only technical context available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B6770"/>
                </a:solidFill>
                <a:latin typeface="Calibri"/>
              </a:rPr>
              <a:t>names · schema · lineage ·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68580" cy="914400"/>
          </a:xfrm>
          <a:prstGeom prst="rect">
            <a:avLst/>
          </a:prstGeom>
          <a:solidFill>
            <a:srgbClr val="1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38828" y="1481328"/>
            <a:ext cx="3511296" cy="9144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AUTHORITATIVE  SOURCE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B6770"/>
                </a:solidFill>
                <a:latin typeface="Calibri"/>
              </a:rPr>
              <a:t>Vendor / standard description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B6770"/>
                </a:solidFill>
                <a:latin typeface="Calibri"/>
              </a:rPr>
              <a:t>MedDRA · WHODrug · EDC · source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828" y="1481328"/>
            <a:ext cx="68580" cy="914400"/>
          </a:xfrm>
          <a:prstGeom prst="rect">
            <a:avLst/>
          </a:prstGeom>
          <a:solidFill>
            <a:srgbClr val="2E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74736" y="1481328"/>
            <a:ext cx="3511296" cy="914400"/>
          </a:xfrm>
          <a:prstGeom prst="rect">
            <a:avLst/>
          </a:prstGeom>
          <a:solidFill>
            <a:srgbClr val="FB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9A5E14"/>
                </a:solidFill>
                <a:latin typeface="Calibri"/>
              </a:rPr>
              <a:t>CURATED  ENTERPRISE  METADATA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B6770"/>
                </a:solidFill>
                <a:latin typeface="Calibri"/>
              </a:rPr>
              <a:t>Catalog · glossary · ontology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B6770"/>
                </a:solidFill>
                <a:latin typeface="Calibri"/>
              </a:rPr>
              <a:t>SME-authored definitions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6" y="1481328"/>
            <a:ext cx="68580" cy="914400"/>
          </a:xfrm>
          <a:prstGeom prst="rect">
            <a:avLst/>
          </a:prstGeom>
          <a:solidFill>
            <a:srgbClr val="C6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6094476" y="2395728"/>
            <a:ext cx="0" cy="201168"/>
          </a:xfrm>
          <a:prstGeom prst="line">
            <a:avLst/>
          </a:prstGeom>
          <a:ln w="1587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30384" y="2395728"/>
            <a:ext cx="0" cy="201168"/>
          </a:xfrm>
          <a:prstGeom prst="line">
            <a:avLst/>
          </a:prstGeom>
          <a:ln w="1587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4476" y="2596896"/>
            <a:ext cx="3835908" cy="0"/>
          </a:xfrm>
          <a:prstGeom prst="line">
            <a:avLst/>
          </a:prstGeom>
          <a:ln w="15875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12429" y="2596896"/>
            <a:ext cx="0" cy="164592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43749" y="2761488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324F"/>
                </a:solidFill>
                <a:latin typeface="Calibri"/>
              </a:rPr>
              <a:t>Fit for purpose?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34990" y="3639312"/>
            <a:ext cx="19659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324F"/>
                </a:solidFill>
                <a:latin typeface="Calibri"/>
              </a:rPr>
              <a:t>Enrich with context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B6770"/>
                </a:solidFill>
                <a:latin typeface="Calibri"/>
              </a:rPr>
              <a:t>keep meaning, add business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23909" y="3639312"/>
            <a:ext cx="196596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324F"/>
                </a:solidFill>
                <a:latin typeface="Calibri"/>
              </a:rPr>
              <a:t>Use as-is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B6770"/>
                </a:solidFill>
                <a:latin typeface="Calibri"/>
              </a:rPr>
              <a:t>existing definition retained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617970" y="3200400"/>
            <a:ext cx="1394459" cy="438912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12429" y="3200400"/>
            <a:ext cx="1394460" cy="438912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80809" y="3255264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B6770"/>
                </a:solidFill>
                <a:latin typeface="Calibri"/>
              </a:rP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5721" y="3255264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5B6770"/>
                </a:solidFill>
                <a:latin typeface="Calibri"/>
              </a:rP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49390" y="352044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AI-ASSISTED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06889" y="4425696"/>
            <a:ext cx="0" cy="438912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17970" y="4425696"/>
            <a:ext cx="0" cy="438912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58568" y="2395728"/>
            <a:ext cx="0" cy="365760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4088" y="2761488"/>
            <a:ext cx="3108960" cy="16642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324F"/>
                </a:solidFill>
                <a:latin typeface="Calibri"/>
              </a:rPr>
              <a:t>Generate from context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70"/>
                </a:solidFill>
                <a:latin typeface="Calibri"/>
              </a:rPr>
              <a:t>inferred from names, schema, lineage,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770"/>
                </a:solidFill>
                <a:latin typeface="Calibri"/>
              </a:rPr>
              <a:t>profiling, ontologies, similar assets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 i="1">
                <a:solidFill>
                  <a:srgbClr val="125E51"/>
                </a:solidFill>
                <a:latin typeface="Calibri"/>
              </a:rPr>
              <a:t>Labelled as AI-generated · SME review when confidence is 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61488" y="2642616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AI-ASSISTED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58568" y="4425696"/>
            <a:ext cx="0" cy="438912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02920" y="4864608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3" name="Can 32"/>
          <p:cNvSpPr/>
          <p:nvPr/>
        </p:nvSpPr>
        <p:spPr>
          <a:xfrm>
            <a:off x="841248" y="5020056"/>
            <a:ext cx="457200" cy="530352"/>
          </a:xfrm>
          <a:prstGeom prst="can">
            <a:avLst/>
          </a:prstGeom>
          <a:noFill/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81328" y="5010912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Trusted Table &amp; Column Description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5367528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9D6E3"/>
                </a:solidFill>
                <a:latin typeface="Calibri"/>
              </a:rPr>
              <a:t>a governed metadata asset in Databricks — consumed downstream by people, pipelines and AI agents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50224" y="5074920"/>
            <a:ext cx="1234440" cy="42062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930384" y="5285232"/>
            <a:ext cx="219456" cy="0"/>
          </a:xfrm>
          <a:prstGeom prst="line">
            <a:avLst/>
          </a:prstGeom>
          <a:ln w="22225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95560" y="5074920"/>
            <a:ext cx="1280160" cy="420624"/>
          </a:xfrm>
          <a:prstGeom prst="roundRect">
            <a:avLst>
              <a:gd name="adj" fmla="val 50000"/>
            </a:avLst>
          </a:prstGeom>
          <a:solidFill>
            <a:srgbClr val="1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98932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770"/>
                </a:solidFill>
                <a:latin typeface="Calibri"/>
              </a:rPr>
              <a:t>Authoritative first — AI where it’s needed, to scale across hundreds of thousands of columns.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324F"/>
                </a:solidFill>
                <a:latin typeface="Calibri"/>
              </a:rPr>
              <a:t>AI-Assisted Metadata Enrichment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49640" y="329184"/>
            <a:ext cx="3136392" cy="475488"/>
          </a:xfrm>
          <a:prstGeom prst="roundRect">
            <a:avLst>
              <a:gd name="adj" fmla="val 50000"/>
            </a:avLst>
          </a:prstGeom>
          <a:solidFill>
            <a:srgbClr val="5D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GENERATE   +   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898648" y="1051560"/>
            <a:ext cx="6400800" cy="713232"/>
          </a:xfrm>
          <a:prstGeom prst="rect">
            <a:avLst/>
          </a:prstGeom>
          <a:solidFill>
            <a:srgbClr val="F0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6324F"/>
                </a:solidFill>
                <a:latin typeface="Calibri"/>
              </a:rPr>
              <a:t>AVAILABLE  DATA  CONTEXT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5B6770"/>
                </a:solidFill>
                <a:latin typeface="Calibri"/>
              </a:rPr>
              <a:t>names · data types · schema · lineage · profiling · example values · domain · similar assets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4476" y="1764792"/>
            <a:ext cx="0" cy="320039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860036" y="2084831"/>
            <a:ext cx="2468880" cy="420624"/>
          </a:xfrm>
          <a:prstGeom prst="roundRect">
            <a:avLst>
              <a:gd name="adj" fmla="val 50000"/>
            </a:avLst>
          </a:prstGeom>
          <a:solidFill>
            <a:srgbClr val="1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AI-ASSISTED  ENRICHMENT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429000" y="2505456"/>
            <a:ext cx="2665476" cy="402336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4476" y="2505456"/>
            <a:ext cx="2665476" cy="402336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63040" y="2907792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E8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25E51"/>
                </a:solidFill>
                <a:latin typeface="Calibri"/>
              </a:rPr>
              <a:t>GENERATE  MEANING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770"/>
                </a:solidFill>
                <a:latin typeface="Calibri"/>
              </a:rPr>
              <a:t>“What does this data actually mean?”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6324F"/>
                </a:solidFill>
                <a:latin typeface="Calibri"/>
              </a:rPr>
              <a:t>AI creates or improves a human-readable description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770"/>
                </a:solidFill>
                <a:latin typeface="Calibri"/>
              </a:rPr>
              <a:t>from schema · lineage · profiling · domain · similar assets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 i="1">
                <a:solidFill>
                  <a:srgbClr val="125E51"/>
                </a:solidFill>
                <a:latin typeface="Calibri"/>
              </a:rPr>
              <a:t>labelled as AI-generated · confidence scored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3992" y="2907792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E6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GROUND  MEANING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770"/>
                </a:solidFill>
                <a:latin typeface="Calibri"/>
              </a:rPr>
              <a:t>“Is there an established clinical concept for this?”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6324F"/>
                </a:solidFill>
                <a:latin typeface="Calibri"/>
              </a:rPr>
              <a:t>AI aligns metadata to clinical standards &amp; terminology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B6770"/>
                </a:solidFill>
                <a:latin typeface="Calibri"/>
              </a:rPr>
              <a:t>CDISC · NCI Thesaurus · MedDRA · WHODrug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 i="1">
                <a:solidFill>
                  <a:srgbClr val="1F4E79"/>
                </a:solidFill>
                <a:latin typeface="Calibri"/>
              </a:rPr>
              <a:t>the concept mapping itself is retained as metadata</a:t>
            </a:r>
          </a:p>
        </p:txBody>
      </p:sp>
      <p:sp>
        <p:nvSpPr>
          <p:cNvPr id="11" name="Oval 10"/>
          <p:cNvSpPr/>
          <p:nvPr/>
        </p:nvSpPr>
        <p:spPr>
          <a:xfrm>
            <a:off x="5847588" y="3410711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6324F"/>
                </a:solidFill>
                <a:latin typeface="Calibri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076" y="39684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5B6770"/>
                </a:solidFill>
                <a:latin typeface="Calibri"/>
              </a:rPr>
              <a:t>together or alone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29000" y="4736592"/>
            <a:ext cx="0" cy="402336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59952" y="4736592"/>
            <a:ext cx="0" cy="402336"/>
          </a:xfrm>
          <a:prstGeom prst="line">
            <a:avLst/>
          </a:prstGeom>
          <a:ln w="15875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5138928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6" name="Can 15"/>
          <p:cNvSpPr/>
          <p:nvPr/>
        </p:nvSpPr>
        <p:spPr>
          <a:xfrm>
            <a:off x="841248" y="5294376"/>
            <a:ext cx="457200" cy="530352"/>
          </a:xfrm>
          <a:prstGeom prst="can">
            <a:avLst/>
          </a:prstGeom>
          <a:noFill/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81328" y="528523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Enriched, Governed Metadata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564184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C9D6E3"/>
                </a:solidFill>
                <a:latin typeface="Calibri"/>
              </a:rPr>
              <a:t>feeds the trusted table &amp; column description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70448" y="5376672"/>
            <a:ext cx="114300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9752" y="5376672"/>
            <a:ext cx="164592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Concept / Standard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5376672"/>
            <a:ext cx="118872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Provenance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5376672"/>
            <a:ext cx="118872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9D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6364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770"/>
                </a:solidFill>
                <a:latin typeface="Calibri"/>
              </a:rPr>
              <a:t>Generate where needed. Ground where possible. Always retain provenance.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324F"/>
                </a:solidFill>
                <a:latin typeface="Calibri"/>
              </a:rPr>
              <a:t>Metadata Source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770"/>
                </a:solidFill>
                <a:latin typeface="Calibri"/>
              </a:rPr>
              <a:t>Where each description should come from — in order of precedence.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55367" y="1572768"/>
            <a:ext cx="8595360" cy="786384"/>
          </a:xfrm>
          <a:prstGeom prst="roundRect">
            <a:avLst>
              <a:gd name="adj" fmla="val 12000"/>
            </a:avLst>
          </a:prstGeom>
          <a:solidFill>
            <a:srgbClr val="2E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Authoritative standards &amp; vendor metadata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DDEAF6"/>
                </a:solidFill>
                <a:latin typeface="Calibri"/>
              </a:rPr>
              <a:t>MedDRA, WHODrug, vendor dictionaries, source-system definitions — preserve as supplied</a:t>
            </a:r>
          </a:p>
        </p:txBody>
      </p:sp>
      <p:sp>
        <p:nvSpPr>
          <p:cNvPr id="5" name="Oval 4"/>
          <p:cNvSpPr/>
          <p:nvPr/>
        </p:nvSpPr>
        <p:spPr>
          <a:xfrm>
            <a:off x="1688439" y="1773936"/>
            <a:ext cx="384048" cy="384048"/>
          </a:xfrm>
          <a:prstGeom prst="ellipse">
            <a:avLst/>
          </a:prstGeom>
          <a:solidFill>
            <a:srgbClr val="2E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6827" y="2505456"/>
            <a:ext cx="8092440" cy="786384"/>
          </a:xfrm>
          <a:prstGeom prst="roundRect">
            <a:avLst>
              <a:gd name="adj" fmla="val 12000"/>
            </a:avLst>
          </a:prstGeom>
          <a:solidFill>
            <a:srgbClr val="C6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Curated enterprise metadata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FAECDB"/>
                </a:solidFill>
                <a:latin typeface="Calibri"/>
              </a:rPr>
              <a:t>Data catalog, business glossary, ontology, SME-authored definitions</a:t>
            </a:r>
          </a:p>
        </p:txBody>
      </p:sp>
      <p:sp>
        <p:nvSpPr>
          <p:cNvPr id="7" name="Oval 6"/>
          <p:cNvSpPr/>
          <p:nvPr/>
        </p:nvSpPr>
        <p:spPr>
          <a:xfrm>
            <a:off x="1939899" y="2706624"/>
            <a:ext cx="384048" cy="384048"/>
          </a:xfrm>
          <a:prstGeom prst="ellipse">
            <a:avLst/>
          </a:prstGeom>
          <a:solidFill>
            <a:srgbClr val="C6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8287" y="3438144"/>
            <a:ext cx="7589520" cy="786384"/>
          </a:xfrm>
          <a:prstGeom prst="roundRect">
            <a:avLst>
              <a:gd name="adj" fmla="val 12000"/>
            </a:avLst>
          </a:prstGeom>
          <a:solidFill>
            <a:srgbClr val="1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Contextual enrichment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DDF0EC"/>
                </a:solidFill>
                <a:latin typeface="Calibri"/>
              </a:rPr>
              <a:t>Add business and domain context where the meaning is incomplete</a:t>
            </a:r>
          </a:p>
        </p:txBody>
      </p:sp>
      <p:sp>
        <p:nvSpPr>
          <p:cNvPr id="9" name="Oval 8"/>
          <p:cNvSpPr/>
          <p:nvPr/>
        </p:nvSpPr>
        <p:spPr>
          <a:xfrm>
            <a:off x="2191359" y="3639311"/>
            <a:ext cx="384048" cy="384048"/>
          </a:xfrm>
          <a:prstGeom prst="ellipse">
            <a:avLst/>
          </a:prstGeom>
          <a:solidFill>
            <a:srgbClr val="1E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9747" y="4370832"/>
            <a:ext cx="7086600" cy="786384"/>
          </a:xfrm>
          <a:prstGeom prst="roundRect">
            <a:avLst>
              <a:gd name="adj" fmla="val 12000"/>
            </a:avLst>
          </a:prstGeom>
          <a:solidFill>
            <a:srgbClr val="12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AI-generated / inferred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DDF0EC"/>
                </a:solidFill>
                <a:latin typeface="Calibri"/>
              </a:rPr>
              <a:t>Where no adequate metadata exists (≈ most assets today) — always labelled as generated</a:t>
            </a:r>
          </a:p>
        </p:txBody>
      </p:sp>
      <p:sp>
        <p:nvSpPr>
          <p:cNvPr id="11" name="Oval 10"/>
          <p:cNvSpPr/>
          <p:nvPr/>
        </p:nvSpPr>
        <p:spPr>
          <a:xfrm>
            <a:off x="2442819" y="4572000"/>
            <a:ext cx="384048" cy="384048"/>
          </a:xfrm>
          <a:prstGeom prst="ellipse">
            <a:avLst/>
          </a:prstGeom>
          <a:solidFill>
            <a:srgbClr val="125E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1207" y="5303520"/>
            <a:ext cx="658368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16324F"/>
                </a:solidFill>
                <a:latin typeface="Calibri"/>
              </a:rPr>
              <a:t>Human review &amp; approval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B6770"/>
                </a:solidFill>
                <a:latin typeface="Calibri"/>
              </a:rPr>
              <a:t>Review → Approve for low-confidence or business-critical descriptions</a:t>
            </a:r>
          </a:p>
        </p:txBody>
      </p:sp>
      <p:sp>
        <p:nvSpPr>
          <p:cNvPr id="13" name="Oval 12"/>
          <p:cNvSpPr/>
          <p:nvPr/>
        </p:nvSpPr>
        <p:spPr>
          <a:xfrm>
            <a:off x="2694279" y="550468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6324F"/>
                </a:solidFill>
                <a:latin typeface="Calibri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0927" y="1664208"/>
            <a:ext cx="0" cy="4334256"/>
          </a:xfrm>
          <a:prstGeom prst="line">
            <a:avLst/>
          </a:prstGeom>
          <a:ln w="19050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-277520" y="34930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5B6770"/>
                </a:solidFill>
                <a:latin typeface="Calibri"/>
              </a:rPr>
              <a:t>precedence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5B6770"/>
                </a:solidFill>
                <a:latin typeface="Calibri"/>
              </a:rPr>
              <a:t>Every description carries its provenance — the organisation always knows which layer it came from.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5694</TotalTime>
  <Words>675</Words>
  <Application>Microsoft Macintosh PowerPoint</Application>
  <PresentationFormat>Widescreen</PresentationFormat>
  <Paragraphs>142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Melvin Lancelot</cp:lastModifiedBy>
  <cp:revision>3</cp:revision>
  <dcterms:created xsi:type="dcterms:W3CDTF">2013-01-27T09:14:16Z</dcterms:created>
  <dcterms:modified xsi:type="dcterms:W3CDTF">2026-09-15T16:15:52Z</dcterms:modified>
  <cp:category/>
</cp:coreProperties>
</file>