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ming" id="{4df4b61d-1258-4711-c1ae-b94fc4df5cee}">
          <p14:sldIdLst>
            <p14:sldId id="256"/>
            <p14:sldId id="257"/>
            <p14:sldId id="258"/>
            <p14:sldId id="259"/>
            <p14:sldId id="260"/>
            <p14:sldId id="261"/>
          </p14:sldIdLst>
        </p14:section>
        <p14:section name="The options" id="{0d624861-9eaa-8a27-e6ae-e4b3c07b557c}">
          <p14:sldIdLst>
            <p14:sldId id="262"/>
            <p14:sldId id="263"/>
            <p14:sldId id="264"/>
            <p14:sldId id="265"/>
            <p14:sldId id="266"/>
            <p14:sldId id="267"/>
            <p14:sldId id="268"/>
            <p14:sldId id="269"/>
          </p14:sldIdLst>
        </p14:section>
        <p14:section name="Decision framework" id="{864830fa-c5fc-40d7-262c-5910fef45e13}">
          <p14:sldIdLst>
            <p14:sldId id="270"/>
            <p14:sldId id="271"/>
            <p14:sldId id="272"/>
            <p14:sldId id="273"/>
            <p14:sldId id="274"/>
          </p14:sldIdLst>
        </p14:section>
        <p14:section name="Next steps" id="{ff97b0e8-7077-e2e9-1397-0f3bb80f91df}">
          <p14:sldIdLst>
            <p14:sldId id="275"/>
            <p14:sldId id="276"/>
          </p14:sldIdLst>
        </p14:section>
        <p14:section name="Appendix" id="{2d7c4fe0-475a-0697-92c8-a482370261d2}">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us a shared way to think about ontology on Databricks before we pick tools. The deck covers four options: two Databricks-native or Databricks-built options (Genie Ontology with Unity Catalog semantics, and the dbxmetagen accelerator), one Databricks Labs project (OntoBricks), and one open-source engine (Ontop). Third-party commercial products are deliberately out of scope for this discussion. The aim is to agree the parameters that drive the choice, not to pick a winner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We want analysts, applications and AI agents to share one consistent understanding of our clinical concepts, such as Study, Site, Participant and Adverse Event, across our data. Several options on or around Databricks now all use the word 'ontology', but they do different jobs, so it is hard to tell whether they compete, overlap or complement each other. This deck separates them, compares them through the same four lenses (authoring, landing in Databricks, querying and governance), and sets out the parameters that should drive the choice. In scope: Genie Ontology (Databricks native, Public Preview), dbxmetagen (a Databricks solutions accelerator), OntoBricks (a Databricks Labs project) and Ontop (an open-source engine). Third-party commercial platforms are deliberately out of scope. Terms: a solutions accelerator is Databricks reference code without an SLA; Databricks Labs projects are likewise provided without formal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three things: first, these tools are not four versions of the same thing. They put the ontology in different places, and that placement drives everything else. Second, for regulated clinical data, the question 'whose identity does Unity Catalog see when a query runs?' can rule options in or out on its own. Third, the realistic answer is a combination: use the native path for most consumers and add a formal layer only where we genuinely need standards-based semantics or reasoning. Terms: Unity Catalog (UC) is Databricks' governance layer for data and AI; ABAC is attribute-based access control, the row filters and column masks we use on clinical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terms carry the argument in the rest of the deck. An ontology is the agreed set of concepts and relationships; a knowledge graph is data stored as connected facts, each fact being a triple, written in RDF format. OWL is how the ontology itself is written, SPARQL is how you query an RDF graph, and mappings (R2RML is the W3C standard) bind concepts to physical tables, for example a Participant to rows of the SDTM DM domain keyed by USUBJID. The most important distinction for our decision is materialised versus virtual: copying data into a graph, or translating each query at run time; we will see which options do which. Reasoning means deriving facts that are implied rather than stored. Everything else is in the appendix glossary. The table is plain text so rows can be edited or added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option answers a different question, and the word 'ontology' means something different in each. Question 1, context for AI: helping Genie answer business questions with the right definitions; the 'ontology' is learned context, and Genie Ontology addresses it natively. Question 2, metadata enrichment: making Unity Catalog describe what our tables and columns mean, including entity bindings to standards like FHIR and OMOP; dbxmetagen addresses it. Question 3, formal semantic access: querying data through one conceptual model that stays stable across different physical schemas, for example the same clinical concepts mapped onto CTMS, EDC and SDTM. That is ontology-based data access proper. Within it there are two architectures, materialised (OntoBricks) and virtual (Ontop), and that split matters for governance, as we'll see. These layers compose; most of our demand is likely in 1 and 2, with 3 justified domain by domain. Terms: GraphQL is an API query language; MCP (Model Context Protocol) is how AI agents call tools; FHIR and OMOP are healthcare data standards; CTMS and EDC are trial management and electronic data capture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OBDA has a precise meaning: an ontology, mappings from the ontology to the physical tables, and a rewriting step that turns a query in business terms into SQL at query time, so the data never moves. Ontop is the textbook implementation. Genie behaves similarly in spirit, but uses an LLM and a learned context graph rather than a formal model and deterministic rewriting. dbxmetagen enriches metadata so other tools generate better SQL, and OntoBricks materialises a graph. None of that is wrong; it just means the options sit at different points of the trade-off we will look at. Terms: query rewriting means translating a question asked in ontology terms into SQL at the moment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Databricks-native and Databricks-built options plus one open-source engine. Third-party commercial products are excluded for this discussion. Status as of October 2026: Genie Ontology is in Public Preview and currently has no extra charge for curation. dbxmetagen is a Databricks solutions accelerator (Databricks licence; every output is meant to be reviewed before it is applied). OntoBricks is a Databricks Labs project at version 0.8, source-available, with no formal support SLA. Ontop is an open-source virtual knowledge graph engine from the Free University of Bozen-Bolzano; it has supported Databricks through JDBC since version 5.0. Terms: R2RML is the W3C standard for mapping tables to an RDF graph; CDISC is the standards body behind SDTM and ADaM; MCP is how AI agents call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Genie Ontology is the native context layer. Read the diagram top to bottom: a business user asks in natural language; Genie uses the ontology to pick the right definitions and generates SQL; the SQL runs on a warehouse under that user's identity, so ABAC applies as normal. On the right, meaning is built from curated Unity Catalog metadata (table and column descriptions, tags and keys) and semantics (metric views, domains and Pages), and Genie infers the rest from usage; no data is copied. Databricks' own guidance puts descriptions and column comments at the base of Genie Ontology and names dbxmetagen as a way to generate a first pass. The watch-outs: the model is not something we can inspect or export, quality depends on curation, and it is in Public Preview. Terms: metric views are governed, reusable KPI definitions; domains group assets by business area; Pages are governed definitions of business concepts. Every option slide uses the same lanes and box positions, so flipping between them shows only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diagram, different delta. dbxmetagen never sits on the query path: users query through Genie, SQL or BI, and Unity Catalog sees them as themselves. Its contribution is the meaning lane, which it writes into the catalog, and the build column, where an LLM proposes metadata and stewards review it. The data-flow arrow is the red flag: by default, sample rows are sent to the model endpoint, which needs to be switched off or controlled for PHI. Also note that its ontology tables stay in Delta and nothing else reads them unless we project them out (see the later slide on where its ontology goes). Terms: PHI is protected health information; a bundle is dbxmetagen's YAML ontology package (FHIR R4, OMOP and others); FK means foreign key. Every option slide uses the same lanes and box positions, so flipping between them shows only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option where the query path does not reach Unity Catalog tables at query time. Apps and agents query the graph store through GraphQL, REST or MCP. The data got there through the sync on the right, which runs as a service principal (normally the Databricks App's own identity), so whatever row filters and masks applied to that service principal are baked into the graph. If OntoBricks is configured with a personal access token instead, it is that person's permissions that get baked in. Either way it is one fixed identity, applied once at sync, never the end user's. That is the dashed line from the access check to the data. Strong on formal semantics and CDISC; weak on freshness and per-user governance. The governance point is an inference from the architecture and should be tested in a POC. Terms: OWL 2 RL is the rule-based subset of OWL; SWRL adds if-then rules; SHACL validates graph data quality; Lakebase is Databricks' managed Postgres; SDTM, CDASH, SEND and ADaM are CDISC standards. Every option slide uses the same lanes and box positions, so flipping between them shows only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Ontop is the textbook query-time pattern. The query path runs all the way down to live Unity Catalog tables with no copy, which is its strength. The delta to look for is the access-check lane: every SPARQL caller shares the endpoint's single JDBC identity, so Unity Catalog applies that identity's ABAC policies, not the end user's. Unless we run one endpoint per role or dataset, that makes it unsuitable for row-level-protected trial data. Also note the performance caveat: Databricks does not expose integrity constraints to Ontop, so keys must be declared or queries become inefficient. Terms: OWL 2 QL is the subset of OWL designed for query rewriting over databases; a lens is an Ontop view that declares keys the database does not expose; JDBC is the standard Java database connection. Every option slide uses the same lanes and box positions, so flipping between them shows only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three original questions for each option: how you author the ontology, how it gets into Databricks, and how you query data through it. Note the pattern: the further right you go, the more formal and inspectable the model, and the further it sits from Unity Catalog's native enforcement. Genie needs no separate model at all; Ontop keeps everything outside Databricks and pushes SQL in. Terms: Protégé is the standard open-source ontology editor; OBDA mappings are Ontop's own, simpler alternative to R2RML.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most for clinical data. Genie enforces each user's Unity Catalog permissions on the context it uses and on the SQL it runs. dbxmetagen only produces metadata, so data access still flows through Unity Catalog; its own exploration app uses a service principal unless on-behalf-of auth is enabled. OntoBricks materialises triples: whatever row filters and column masks applied to the service principal that ran the sync are baked into the graph (or, if it is configured with a personal access token, that person's permissions), and the Lakebase copy sits outside our ABAC policies. Ontop connects with one JDBC credential per endpoint and has no row-level security of its own. The governance point for OntoBricks is my inference from its architecture and should be confirmed in a POC. Terms: a service principal is a non-human identity used by apps and jobs; on-behalf-of auth lets an app act as the signed-in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framing. Three things we would like at once: a formal, standards-based model; semantics applied to live data with no copies; and Unity Catalog enforcing each user's permissions. Today no single option in scope gives all three. Genie and dbxmetagen keep data live and governed per user but their semantics are informal or metadata-level. Ontop is formal and live but runs as one service identity. OntoBricks is formal but works on a materialised copy. So the real decision is which corner each use case can live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I'd like this group to answer, ideally per use case rather than once for the whole organisation. Parameters 2 and 3 are usually set by policy rather than preference for clinical data. Parameter 1 is where the value case lives: if we don't need formal semantics, the native path is simpler and better governed. Parameter 6 is about operating model as much as technology: Labs and accelerator code has no SLA, and OWL and R2RML skills are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as 'how well does this option satisfy this parameter'. More dots is always better, including on the risk row, where more dots means lower delivery risk. The scores are judgement calls from documentation as of October 2026, not benchmark results. Two patterns stand out: the Databricks-native column wins on governance and live data but loses on rigour and transparency; the two formal options are the mirror image. Nothing scores well on everything, which is the point of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routing guide. Most analytical and business-user demand lands on the first row, which is the best governed path. dbxmetagen is usually a starting accelerator rather than an end state: it bootstraps the semantics that Genie then uses. OntoBricks earns its place where we need CDISC-aligned structure, rules and SHACL-style validation on a bounded domain, accepting a governed copy. Ontop fits when standards-based SPARQL access to live tables matters more than per-user identity, or when we can isolate identity by running one endpoint per role or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shape of the answer. The left stack is the default path for most users: Unity Catalog governs, dbxmetagen bootstraps meaning, stewards curate Unity Catalog semantics, and Genie consumes it with per-user enforcement. The right box is optional and scoped: where a domain needs formal semantics, we add OntoBricks (materialised) or Ontop (virtual), fed from governed tables and restricted to data whose sensitivity matches the identity model of that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dbxmetagen's ontology has two parts: the bundle, which is the ontology itself (FHIR R4, OMOP, Schema.org or a custom YAML bundle), and the bindings, which say which of our tables is which concept, what role each column plays, and how entities relate, each with a confidence score. Today all of that lands as Delta tables in dbxmetagen's own output schema, plus a vector index and a Lakebase copy for its agent. Nothing else in Databricks reads those tables natively, and there is no ontology object in Unity Catalog Semantics to receive them. To get value beyond dbxmetagen itself, we project the bindings outward along three routes. Route 1 turns them into Unity Catalog tags and foreign-key constraints, which Genie, Catalog Explorer and ABAC policies can use; approved foreign keys already flow into dbxmetagen's DDL, but entity tagging needs verifying. Route 2 writes one Unity Catalog Page per core entity, so the concepts become authoritative, modeled context for Genie Ontology. Route 3 generates OWL and R2RML from the bindings to seed OntoBricks or Ontop, rather than mapping from scratch; that is our own code, not a dbxmetagen feature. Each route is a small engineering investment someone has to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open risks, framed as things a proof of concept can settle. ABAC end to end is the gating test. The PHI point is a configuration choice in dbxmetagen, but it has a quality cost we should measure. The dbxmetagen projection test checks that its ontology bindings can actually be written back as Unity Catalog tags and constraints; approved foreign keys already flow into its DDL, but entity tagging is not clearly documented as a write-back step. Ontop's documentation explicitly warns that Databricks does not supply integrity-constraint information, which makes queries very inefficient unless we declare keys. Genie Ontology is in Public Preview, so we should benchmark rather than assume. OntoBricks caps its in-memory graph analytics at 500,000 triples by default. Finally, neither Labs nor accelerator code comes with Databricks support, so ownership needs to be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four decisions that set the boundaries, then a proof of concept to fill in the evidence. The POC should pick one bounded clinical domain, for example a single study's SDTM data, and run the native path against one formal path, scoring both on the six parameters. The ABAC test is the gate: if a formal path cannot meet our access-control requirements for that data, it is limited to de-identified or aggregate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the terms used across the deck. Key terms with clinical examples are on the 'Key terms in plain English' slide near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the terms used across the deck. Key terms with clinical examples are on the 'Key terms in plain English' slide near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337560"/>
            <a:ext cx="676656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731520" y="5669280"/>
            <a:ext cx="6766560" cy="411480"/>
          </a:xfrm>
          <a:prstGeom prst="rect">
            <a:avLst/>
          </a:prstGeom>
          <a:noFill/>
          <a:ln/>
        </p:spPr>
        <p:txBody>
          <a:bodyPr wrap="square" rtlCol="0"/>
          <a:lstStyle>
            <a:lvl1pPr algn="l" indent="0" marL="0">
              <a:buNone/>
              <a:defRPr lang="en-US" sz="1400" dirty="0">
                <a:solidFill>
                  <a:schemeClr val="accent5"/>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Ontology on Databricks · Options framing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NE_TEX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463040"/>
            <a:ext cx="11064240" cy="470916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Ontology on Databricks · Options framing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TEX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463040"/>
            <a:ext cx="5486400" cy="470916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
        <p:nvSpPr>
          <p:cNvPr id="4" name="Text 0"/>
          <p:cNvSpPr/>
          <p:nvPr>
            <p:ph idx="102" type="body" hasCustomPrompt="1"/>
          </p:nvPr>
        </p:nvSpPr>
        <p:spPr>
          <a:xfrm>
            <a:off x="6492240" y="1463040"/>
            <a:ext cx="5120640" cy="470916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Ontology on Databricks · Options framing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Ontology on Databricks · Options framing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3.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3.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4400" b="1" dirty="0">
                <a:solidFill>
                  <a:schemeClr val="bg1"/>
                </a:solidFill>
              </a:rPr>
              <a:t>Ontology on Databricks</a:t>
            </a:r>
            <a:endParaRPr lang="en-US" sz="4400" dirty="0"/>
          </a:p>
        </p:txBody>
      </p:sp>
      <p:sp>
        <p:nvSpPr>
          <p:cNvPr id="3" name="Text 0"/>
          <p:cNvSpPr/>
          <p:nvPr>
            <p:ph idx="101" type="body" hasCustomPrompt="1"/>
          </p:nvPr>
        </p:nvSpPr>
        <p:spPr>
          <a:xfrm>
            <a:off x="731520" y="3337560"/>
            <a:ext cx="6766560" cy="1005840"/>
          </a:xfrm>
          <a:prstGeom prst="rect">
            <a:avLst/>
          </a:prstGeom>
          <a:noFill/>
          <a:ln/>
        </p:spPr>
        <p:txBody>
          <a:bodyPr wrap="square" lIns="0" tIns="0" rIns="0" bIns="0" rtlCol="0" anchor="t"/>
          <a:lstStyle/>
          <a:p>
            <a:pPr algn="l" indent="0" marL="0">
              <a:buNone/>
            </a:pPr>
            <a:r>
              <a:rPr lang="en-US" sz="2000" dirty="0">
                <a:solidFill>
                  <a:schemeClr val="bg2"/>
                </a:solidFill>
              </a:rPr>
              <a:t>Framing the options for ontology-based data access, and the parameters that decide between them</a:t>
            </a:r>
            <a:endParaRPr lang="en-US" sz="2000" dirty="0"/>
          </a:p>
        </p:txBody>
      </p:sp>
      <p:sp>
        <p:nvSpPr>
          <p:cNvPr id="4" name="Text 0"/>
          <p:cNvSpPr/>
          <p:nvPr>
            <p:ph idx="102" type="body" hasCustomPrompt="1"/>
          </p:nvPr>
        </p:nvSpPr>
        <p:spPr>
          <a:xfrm>
            <a:off x="731520" y="5669280"/>
            <a:ext cx="6766560" cy="411480"/>
          </a:xfrm>
          <a:prstGeom prst="rect">
            <a:avLst/>
          </a:prstGeom>
          <a:noFill/>
          <a:ln/>
        </p:spPr>
        <p:txBody>
          <a:bodyPr wrap="square" lIns="0" tIns="0" rIns="0" bIns="0" rtlCol="0" anchor="t"/>
          <a:lstStyle/>
          <a:p>
            <a:pPr algn="l" indent="0" marL="0">
              <a:buNone/>
            </a:pPr>
            <a:r>
              <a:rPr lang="en-US" sz="1400" dirty="0">
                <a:solidFill>
                  <a:schemeClr val="accent5"/>
                </a:solidFill>
              </a:rPr>
              <a:t>Technical leadership discussion · October 2026</a:t>
            </a:r>
            <a:endParaRPr lang="en-US" sz="1400" dirty="0"/>
          </a:p>
        </p:txBody>
      </p:sp>
      <p:sp>
        <p:nvSpPr>
          <p:cNvPr id="5" name="line_1"/>
          <p:cNvSpPr/>
          <p:nvPr/>
        </p:nvSpPr>
        <p:spPr>
          <a:xfrm>
            <a:off x="8938260" y="2263140"/>
            <a:ext cx="2103120" cy="822960"/>
          </a:xfrm>
          <a:prstGeom prst="line">
            <a:avLst/>
          </a:prstGeom>
          <a:noFill/>
          <a:ln w="19050">
            <a:solidFill>
              <a:schemeClr val="accent6"/>
            </a:solidFill>
            <a:prstDash val="solid"/>
          </a:ln>
        </p:spPr>
      </p:sp>
      <p:sp>
        <p:nvSpPr>
          <p:cNvPr id="6" name="line_2"/>
          <p:cNvSpPr/>
          <p:nvPr/>
        </p:nvSpPr>
        <p:spPr>
          <a:xfrm>
            <a:off x="8938260" y="2263140"/>
            <a:ext cx="548640" cy="2377440"/>
          </a:xfrm>
          <a:prstGeom prst="line">
            <a:avLst/>
          </a:prstGeom>
          <a:noFill/>
          <a:ln w="19050">
            <a:solidFill>
              <a:schemeClr val="accent6"/>
            </a:solidFill>
            <a:prstDash val="solid"/>
          </a:ln>
        </p:spPr>
      </p:sp>
      <p:sp>
        <p:nvSpPr>
          <p:cNvPr id="7" name="line_3"/>
          <p:cNvSpPr/>
          <p:nvPr/>
        </p:nvSpPr>
        <p:spPr>
          <a:xfrm flipH="1">
            <a:off x="9486900" y="3086100"/>
            <a:ext cx="1554480" cy="1554480"/>
          </a:xfrm>
          <a:prstGeom prst="line">
            <a:avLst/>
          </a:prstGeom>
          <a:noFill/>
          <a:ln w="19050">
            <a:solidFill>
              <a:schemeClr val="accent6"/>
            </a:solidFill>
            <a:prstDash val="solid"/>
          </a:ln>
        </p:spPr>
      </p:sp>
      <p:sp>
        <p:nvSpPr>
          <p:cNvPr id="8" name="line_4"/>
          <p:cNvSpPr/>
          <p:nvPr/>
        </p:nvSpPr>
        <p:spPr>
          <a:xfrm>
            <a:off x="11041380" y="3086100"/>
            <a:ext cx="365760" cy="2103120"/>
          </a:xfrm>
          <a:prstGeom prst="line">
            <a:avLst/>
          </a:prstGeom>
          <a:noFill/>
          <a:ln w="19050">
            <a:solidFill>
              <a:schemeClr val="accent6"/>
            </a:solidFill>
            <a:prstDash val="solid"/>
          </a:ln>
        </p:spPr>
      </p:sp>
      <p:sp>
        <p:nvSpPr>
          <p:cNvPr id="9" name="line_5"/>
          <p:cNvSpPr/>
          <p:nvPr/>
        </p:nvSpPr>
        <p:spPr>
          <a:xfrm>
            <a:off x="9486900" y="4640580"/>
            <a:ext cx="1920240" cy="548640"/>
          </a:xfrm>
          <a:prstGeom prst="line">
            <a:avLst/>
          </a:prstGeom>
          <a:noFill/>
          <a:ln w="19050">
            <a:solidFill>
              <a:schemeClr val="accent6"/>
            </a:solidFill>
            <a:prstDash val="solid"/>
          </a:ln>
        </p:spPr>
      </p:sp>
      <p:sp>
        <p:nvSpPr>
          <p:cNvPr id="10" name="node_6"/>
          <p:cNvSpPr/>
          <p:nvPr/>
        </p:nvSpPr>
        <p:spPr>
          <a:xfrm>
            <a:off x="8503920" y="1828800"/>
            <a:ext cx="868680" cy="868680"/>
          </a:xfrm>
          <a:prstGeom prst="ellipse">
            <a:avLst/>
          </a:prstGeom>
          <a:solidFill>
            <a:schemeClr val="accent1"/>
          </a:solidFill>
          <a:ln w="12700">
            <a:solidFill>
              <a:schemeClr val="accent1"/>
            </a:solidFill>
            <a:prstDash val="solid"/>
          </a:ln>
        </p:spPr>
      </p:sp>
      <p:pic>
        <p:nvPicPr>
          <p:cNvPr id="11" name="icon_7" descr="preencoded.png">    </p:cNvPr>
          <p:cNvPicPr>
            <a:picLocks noChangeAspect="1"/>
          </p:cNvPicPr>
          <p:nvPr/>
        </p:nvPicPr>
        <p:blipFill>
          <a:blip r:embed="rId1"/>
          <a:stretch>
            <a:fillRect/>
          </a:stretch>
        </p:blipFill>
        <p:spPr>
          <a:xfrm>
            <a:off x="8712403" y="2037283"/>
            <a:ext cx="451714" cy="451714"/>
          </a:xfrm>
          <a:prstGeom prst="rect">
            <a:avLst/>
          </a:prstGeom>
        </p:spPr>
      </p:pic>
      <p:sp>
        <p:nvSpPr>
          <p:cNvPr id="12" name="node_8"/>
          <p:cNvSpPr/>
          <p:nvPr/>
        </p:nvSpPr>
        <p:spPr>
          <a:xfrm>
            <a:off x="10607040" y="2651760"/>
            <a:ext cx="868680" cy="868680"/>
          </a:xfrm>
          <a:prstGeom prst="ellipse">
            <a:avLst/>
          </a:prstGeom>
          <a:solidFill>
            <a:schemeClr val="accent2"/>
          </a:solidFill>
          <a:ln w="12700">
            <a:solidFill>
              <a:schemeClr val="accent2"/>
            </a:solidFill>
            <a:prstDash val="solid"/>
          </a:ln>
        </p:spPr>
      </p:sp>
      <p:pic>
        <p:nvPicPr>
          <p:cNvPr id="13" name="icon_9" descr="preencoded.png">    </p:cNvPr>
          <p:cNvPicPr>
            <a:picLocks noChangeAspect="1"/>
          </p:cNvPicPr>
          <p:nvPr/>
        </p:nvPicPr>
        <p:blipFill>
          <a:blip r:embed="rId2"/>
          <a:stretch>
            <a:fillRect/>
          </a:stretch>
        </p:blipFill>
        <p:spPr>
          <a:xfrm>
            <a:off x="10815523" y="2860243"/>
            <a:ext cx="451714" cy="451714"/>
          </a:xfrm>
          <a:prstGeom prst="rect">
            <a:avLst/>
          </a:prstGeom>
        </p:spPr>
      </p:pic>
      <p:sp>
        <p:nvSpPr>
          <p:cNvPr id="14" name="node_10"/>
          <p:cNvSpPr/>
          <p:nvPr/>
        </p:nvSpPr>
        <p:spPr>
          <a:xfrm>
            <a:off x="9052560" y="4206240"/>
            <a:ext cx="868680" cy="868680"/>
          </a:xfrm>
          <a:prstGeom prst="ellipse">
            <a:avLst/>
          </a:prstGeom>
          <a:solidFill>
            <a:schemeClr val="accent3"/>
          </a:solidFill>
          <a:ln w="12700">
            <a:solidFill>
              <a:schemeClr val="accent3"/>
            </a:solidFill>
            <a:prstDash val="solid"/>
          </a:ln>
        </p:spPr>
      </p:sp>
      <p:pic>
        <p:nvPicPr>
          <p:cNvPr id="15" name="icon_11" descr="preencoded.png">    </p:cNvPr>
          <p:cNvPicPr>
            <a:picLocks noChangeAspect="1"/>
          </p:cNvPicPr>
          <p:nvPr/>
        </p:nvPicPr>
        <p:blipFill>
          <a:blip r:embed="rId3"/>
          <a:stretch>
            <a:fillRect/>
          </a:stretch>
        </p:blipFill>
        <p:spPr>
          <a:xfrm>
            <a:off x="9261043" y="4414723"/>
            <a:ext cx="451714" cy="451714"/>
          </a:xfrm>
          <a:prstGeom prst="rect">
            <a:avLst/>
          </a:prstGeom>
        </p:spPr>
      </p:pic>
      <p:sp>
        <p:nvSpPr>
          <p:cNvPr id="16" name="node_12"/>
          <p:cNvSpPr/>
          <p:nvPr/>
        </p:nvSpPr>
        <p:spPr>
          <a:xfrm>
            <a:off x="10972800" y="4754880"/>
            <a:ext cx="868680" cy="868680"/>
          </a:xfrm>
          <a:prstGeom prst="ellipse">
            <a:avLst/>
          </a:prstGeom>
          <a:solidFill>
            <a:schemeClr val="accent4"/>
          </a:solidFill>
          <a:ln w="12700">
            <a:solidFill>
              <a:schemeClr val="accent4"/>
            </a:solidFill>
            <a:prstDash val="solid"/>
          </a:ln>
        </p:spPr>
      </p:sp>
      <p:pic>
        <p:nvPicPr>
          <p:cNvPr id="17" name="icon_13" descr="preencoded.png">    </p:cNvPr>
          <p:cNvPicPr>
            <a:picLocks noChangeAspect="1"/>
          </p:cNvPicPr>
          <p:nvPr/>
        </p:nvPicPr>
        <p:blipFill>
          <a:blip r:embed="rId4"/>
          <a:stretch>
            <a:fillRect/>
          </a:stretch>
        </p:blipFill>
        <p:spPr>
          <a:xfrm>
            <a:off x="11181283" y="4963363"/>
            <a:ext cx="451714" cy="4517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we're comparing and why</a:t>
            </a:r>
            <a:endParaRPr lang="en-US" sz="3600" dirty="0"/>
          </a:p>
        </p:txBody>
      </p:sp>
      <p:sp>
        <p:nvSpPr>
          <p:cNvPr id="3" name="Text 0"/>
          <p:cNvSpPr/>
          <p:nvPr>
            <p:ph idx="101" type="body" hasCustomPrompt="1"/>
          </p:nvPr>
        </p:nvSpPr>
        <p:spPr>
          <a:xfrm>
            <a:off x="548640" y="1463040"/>
            <a:ext cx="5486400" cy="4709160"/>
          </a:xfrm>
          <a:prstGeom prst="rect">
            <a:avLst/>
          </a:prstGeom>
          <a:noFill/>
          <a:ln/>
        </p:spPr>
        <p:txBody>
          <a:bodyPr wrap="square" lIns="0" tIns="0" rIns="0" bIns="0" rtlCol="0" anchor="t"/>
          <a:lstStyle/>
          <a:p>
            <a:pPr algn="l" indent="0" marL="0">
              <a:spcBef>
                <a:spcPts val="600"/>
              </a:spcBef>
              <a:spcAft>
                <a:spcPts val="400"/>
              </a:spcAft>
              <a:buNone/>
            </a:pPr>
            <a:r>
              <a:rPr lang="en-US" sz="1800" b="1" dirty="0">
                <a:solidFill>
                  <a:schemeClr val="tx2"/>
                </a:solidFill>
              </a:rPr>
              <a:t>The problem</a:t>
            </a:r>
            <a:endParaRPr lang="en-US" sz="1600" dirty="0"/>
          </a:p>
          <a:p>
            <a:pPr algn="l" marL="342900" indent="-342900">
              <a:spcAft>
                <a:spcPts val="600"/>
              </a:spcAft>
              <a:buSzPct val="100000"/>
              <a:buChar char="•"/>
            </a:pPr>
            <a:r>
              <a:rPr lang="en-US" sz="1600" dirty="0">
                <a:solidFill>
                  <a:schemeClr val="tx1"/>
                </a:solidFill>
              </a:rPr>
              <a:t>Analysts, applications and AI agents need consistent business meaning across our clinical data: Study, Site, Participant, Adverse Event.</a:t>
            </a:r>
            <a:endParaRPr lang="en-US" sz="1600" dirty="0"/>
          </a:p>
          <a:p>
            <a:pPr algn="l" marL="342900" indent="-342900">
              <a:spcAft>
                <a:spcPts val="600"/>
              </a:spcAft>
              <a:buSzPct val="100000"/>
              <a:buChar char="•"/>
            </a:pPr>
            <a:r>
              <a:rPr lang="en-US" sz="1600" dirty="0">
                <a:solidFill>
                  <a:schemeClr val="tx1"/>
                </a:solidFill>
              </a:rPr>
              <a:t>Several options on or around Databricks now describe themselves as “ontology”, but they solve different problems.</a:t>
            </a:r>
            <a:endParaRPr lang="en-US" sz="1600" dirty="0"/>
          </a:p>
          <a:p>
            <a:pPr algn="l" marL="342900" indent="-342900">
              <a:spcAft>
                <a:spcPts val="600"/>
              </a:spcAft>
              <a:buSzPct val="100000"/>
              <a:buChar char="•"/>
            </a:pPr>
            <a:r>
              <a:rPr lang="en-US" sz="1600" dirty="0">
                <a:solidFill>
                  <a:schemeClr val="tx1"/>
                </a:solidFill>
              </a:rPr>
              <a:t>It isn't clear whether they compete, overlap or complement each other, or which fits which need.</a:t>
            </a:r>
            <a:endParaRPr lang="en-US" sz="1600" dirty="0"/>
          </a:p>
          <a:p>
            <a:pPr algn="l" indent="0" marL="0">
              <a:spcBef>
                <a:spcPts val="600"/>
              </a:spcBef>
              <a:spcAft>
                <a:spcPts val="400"/>
              </a:spcAft>
              <a:buNone/>
            </a:pPr>
            <a:r>
              <a:rPr lang="en-US" sz="1800" b="1" dirty="0">
                <a:solidFill>
                  <a:schemeClr val="tx2"/>
                </a:solidFill>
              </a:rPr>
              <a:t>What this deck does</a:t>
            </a:r>
            <a:endParaRPr lang="en-US" sz="1600" dirty="0"/>
          </a:p>
          <a:p>
            <a:pPr algn="l" marL="342900" indent="-342900">
              <a:spcAft>
                <a:spcPts val="600"/>
              </a:spcAft>
              <a:buSzPct val="100000"/>
              <a:buChar char="•"/>
            </a:pPr>
            <a:r>
              <a:rPr lang="en-US" sz="1600" dirty="0">
                <a:solidFill>
                  <a:schemeClr val="tx1"/>
                </a:solidFill>
              </a:rPr>
              <a:t>Separates the options, compares them on the same lenses, and sets out the parameters for choosing between them.</a:t>
            </a:r>
            <a:endParaRPr lang="en-US" sz="1600" dirty="0"/>
          </a:p>
        </p:txBody>
      </p:sp>
      <p:sp>
        <p:nvSpPr>
          <p:cNvPr id="4" name="Text 0"/>
          <p:cNvSpPr/>
          <p:nvPr>
            <p:ph idx="102" type="body" hasCustomPrompt="1"/>
          </p:nvPr>
        </p:nvSpPr>
        <p:spPr>
          <a:xfrm>
            <a:off x="6492240" y="1463040"/>
            <a:ext cx="5120640" cy="4709160"/>
          </a:xfrm>
          <a:prstGeom prst="rect">
            <a:avLst/>
          </a:prstGeom>
          <a:noFill/>
          <a:ln/>
        </p:spPr>
        <p:txBody>
          <a:bodyPr wrap="square" lIns="0" tIns="0" rIns="0" bIns="0" rtlCol="0" anchor="t"/>
          <a:lstStyle/>
          <a:p>
            <a:pPr algn="l" indent="0" marL="0">
              <a:spcBef>
                <a:spcPts val="600"/>
              </a:spcBef>
              <a:spcAft>
                <a:spcPts val="400"/>
              </a:spcAft>
              <a:buNone/>
            </a:pPr>
            <a:r>
              <a:rPr lang="en-US" sz="1800" b="1" dirty="0">
                <a:solidFill>
                  <a:schemeClr val="tx2"/>
                </a:solidFill>
              </a:rPr>
              <a:t>In scope</a:t>
            </a:r>
            <a:endParaRPr lang="en-US" sz="1600" dirty="0"/>
          </a:p>
          <a:p>
            <a:pPr algn="l" marL="342900" indent="-342900">
              <a:spcAft>
                <a:spcPts val="600"/>
              </a:spcAft>
              <a:buSzPct val="100000"/>
              <a:buChar char="•"/>
            </a:pPr>
            <a:r>
              <a:rPr lang="en-US" sz="1600" dirty="0">
                <a:solidFill>
                  <a:schemeClr val="tx1"/>
                </a:solidFill>
              </a:rPr>
              <a:t>Genie Ontology: Databricks native, Public Preview</a:t>
            </a:r>
            <a:endParaRPr lang="en-US" sz="1600" dirty="0"/>
          </a:p>
          <a:p>
            <a:pPr algn="l" marL="342900" indent="-342900">
              <a:spcAft>
                <a:spcPts val="600"/>
              </a:spcAft>
              <a:buSzPct val="100000"/>
              <a:buChar char="•"/>
            </a:pPr>
            <a:r>
              <a:rPr lang="en-US" sz="1600" dirty="0">
                <a:solidFill>
                  <a:schemeClr val="tx1"/>
                </a:solidFill>
              </a:rPr>
              <a:t>dbxmetagen: Databricks solutions accelerator</a:t>
            </a:r>
            <a:endParaRPr lang="en-US" sz="1600" dirty="0"/>
          </a:p>
          <a:p>
            <a:pPr algn="l" marL="342900" indent="-342900">
              <a:spcAft>
                <a:spcPts val="600"/>
              </a:spcAft>
              <a:buSzPct val="100000"/>
              <a:buChar char="•"/>
            </a:pPr>
            <a:r>
              <a:rPr lang="en-US" sz="1600" dirty="0">
                <a:solidFill>
                  <a:schemeClr val="tx1"/>
                </a:solidFill>
              </a:rPr>
              <a:t>OntoBricks: Databricks Labs project, v0.8</a:t>
            </a:r>
            <a:endParaRPr lang="en-US" sz="1600" dirty="0"/>
          </a:p>
          <a:p>
            <a:pPr algn="l" marL="342900" indent="-342900">
              <a:spcAft>
                <a:spcPts val="600"/>
              </a:spcAft>
              <a:buSzPct val="100000"/>
              <a:buChar char="•"/>
            </a:pPr>
            <a:r>
              <a:rPr lang="en-US" sz="1600" dirty="0">
                <a:solidFill>
                  <a:schemeClr val="tx1"/>
                </a:solidFill>
              </a:rPr>
              <a:t>Ontop: open-source engine, Apache 2.0</a:t>
            </a:r>
            <a:endParaRPr lang="en-US" sz="1600" dirty="0"/>
          </a:p>
          <a:p>
            <a:pPr algn="l" indent="0" marL="0">
              <a:spcBef>
                <a:spcPts val="600"/>
              </a:spcBef>
              <a:spcAft>
                <a:spcPts val="400"/>
              </a:spcAft>
              <a:buNone/>
            </a:pPr>
            <a:r>
              <a:rPr lang="en-US" sz="1800" b="1" dirty="0">
                <a:solidFill>
                  <a:schemeClr val="tx2"/>
                </a:solidFill>
              </a:rPr>
              <a:t>How we compared them</a:t>
            </a:r>
            <a:endParaRPr lang="en-US" sz="1600" dirty="0"/>
          </a:p>
          <a:p>
            <a:pPr algn="l" marL="342900" indent="-342900">
              <a:spcAft>
                <a:spcPts val="600"/>
              </a:spcAft>
              <a:buSzPct val="100000"/>
              <a:buChar char="•"/>
            </a:pPr>
            <a:r>
              <a:rPr lang="en-US" sz="1600" dirty="0">
                <a:solidFill>
                  <a:schemeClr val="tx1"/>
                </a:solidFill>
              </a:rPr>
              <a:t>Authoring, landing in Databricks, querying and governance</a:t>
            </a:r>
            <a:endParaRPr lang="en-US" sz="1600" dirty="0"/>
          </a:p>
          <a:p>
            <a:pPr algn="l" indent="0" marL="0">
              <a:spcBef>
                <a:spcPts val="600"/>
              </a:spcBef>
              <a:spcAft>
                <a:spcPts val="400"/>
              </a:spcAft>
              <a:buNone/>
            </a:pPr>
            <a:r>
              <a:rPr lang="en-US" sz="1800" b="1" dirty="0">
                <a:solidFill>
                  <a:schemeClr val="tx2"/>
                </a:solidFill>
              </a:rPr>
              <a:t>Out of scope</a:t>
            </a:r>
            <a:endParaRPr lang="en-US" sz="1600" dirty="0"/>
          </a:p>
          <a:p>
            <a:pPr algn="l" marL="342900" indent="-342900">
              <a:spcAft>
                <a:spcPts val="600"/>
              </a:spcAft>
              <a:buSzPct val="100000"/>
              <a:buChar char="•"/>
            </a:pPr>
            <a:r>
              <a:rPr lang="en-US" sz="1600" dirty="0">
                <a:solidFill>
                  <a:schemeClr val="tx1"/>
                </a:solidFill>
              </a:rPr>
              <a:t>Third-party commercial ontology and knowledge-graph platforms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Three things to take away</a:t>
            </a:r>
            <a:endParaRPr lang="en-US" sz="3600" dirty="0"/>
          </a:p>
        </p:txBody>
      </p:sp>
      <p:sp>
        <p:nvSpPr>
          <p:cNvPr id="3" name="Text 0"/>
          <p:cNvSpPr/>
          <p:nvPr>
            <p:ph idx="101" type="body" hasCustomPrompt="1"/>
          </p:nvPr>
        </p:nvSpPr>
        <p:spPr>
          <a:xfrm>
            <a:off x="548640" y="1463040"/>
            <a:ext cx="11064240" cy="4709160"/>
          </a:xfrm>
          <a:prstGeom prst="rect">
            <a:avLst/>
          </a:prstGeom>
          <a:noFill/>
          <a:ln/>
        </p:spPr>
        <p:txBody>
          <a:bodyPr wrap="square" lIns="0" tIns="0" rIns="0" bIns="0" rtlCol="0" anchor="t"/>
          <a:lstStyle/>
          <a:p>
            <a:pPr algn="l" indent="0" marL="0">
              <a:spcAft>
                <a:spcPts val="600"/>
              </a:spcAft>
              <a:buNone/>
            </a:pPr>
            <a:r>
              <a:rPr lang="en-US" sz="2200" b="1" dirty="0">
                <a:solidFill>
                  <a:schemeClr val="tx2"/>
                </a:solidFill>
              </a:rPr>
              <a:t>1.  The options differ on where meaning lives, not on features</a:t>
            </a:r>
            <a:endParaRPr lang="en-US" sz="1600" dirty="0"/>
          </a:p>
          <a:p>
            <a:pPr algn="l" indent="0" marL="0">
              <a:spcAft>
                <a:spcPts val="3000"/>
              </a:spcAft>
              <a:buNone/>
            </a:pPr>
            <a:r>
              <a:rPr lang="en-US" sz="1700" dirty="0">
                <a:solidFill>
                  <a:schemeClr val="tx1"/>
                </a:solidFill>
              </a:rPr>
              <a:t>A learned context graph, Unity Catalog metadata, a materialised graph, or query-time rewriting. Each home brings its own trade-offs.</a:t>
            </a:r>
            <a:endParaRPr lang="en-US" sz="1600" dirty="0"/>
          </a:p>
          <a:p>
            <a:pPr algn="l" indent="0" marL="0">
              <a:spcAft>
                <a:spcPts val="600"/>
              </a:spcAft>
              <a:buNone/>
            </a:pPr>
            <a:r>
              <a:rPr lang="en-US" sz="2200" b="1" dirty="0">
                <a:solidFill>
                  <a:schemeClr val="tx2"/>
                </a:solidFill>
              </a:rPr>
              <a:t>2.  Governance is the deciding parameter for clinical data</a:t>
            </a:r>
            <a:endParaRPr lang="en-US" sz="1600" dirty="0"/>
          </a:p>
          <a:p>
            <a:pPr algn="l" indent="0" marL="0">
              <a:spcAft>
                <a:spcPts val="3000"/>
              </a:spcAft>
              <a:buNone/>
            </a:pPr>
            <a:r>
              <a:rPr lang="en-US" sz="1700" dirty="0">
                <a:solidFill>
                  <a:schemeClr val="tx1"/>
                </a:solidFill>
              </a:rPr>
              <a:t>Only the native path enforces each user's Unity Catalog permissions at query time. The other engines see a service principal instead.</a:t>
            </a:r>
            <a:endParaRPr lang="en-US" sz="1600" dirty="0"/>
          </a:p>
          <a:p>
            <a:pPr algn="l" indent="0" marL="0">
              <a:spcAft>
                <a:spcPts val="600"/>
              </a:spcAft>
              <a:buNone/>
            </a:pPr>
            <a:r>
              <a:rPr lang="en-US" sz="2200" b="1" dirty="0">
                <a:solidFill>
                  <a:schemeClr val="tx2"/>
                </a:solidFill>
              </a:rPr>
              <a:t>3.  Treat them as layers, not rivals</a:t>
            </a:r>
            <a:endParaRPr lang="en-US" sz="1600" dirty="0"/>
          </a:p>
          <a:p>
            <a:pPr algn="l" indent="0" marL="0">
              <a:spcAft>
                <a:spcPts val="3000"/>
              </a:spcAft>
              <a:buNone/>
            </a:pPr>
            <a:r>
              <a:rPr lang="en-US" sz="1700" dirty="0">
                <a:solidFill>
                  <a:schemeClr val="tx1"/>
                </a:solidFill>
              </a:rPr>
              <a:t>Bootstrap metadata, consume natively, and add a formal ontology layer only where the rigour justifies the governance cost.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Key terms in plain English</a:t>
            </a:r>
            <a:endParaRPr lang="en-US" sz="3600" dirty="0"/>
          </a:p>
        </p:txBody>
      </p:sp>
      <p:graphicFrame>
        <p:nvGraphicFramePr>
          <p:cNvPr id="5" name="keyterms_14"/>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377440"/>
                <a:gridCol w="4937760"/>
                <a:gridCol w="3749040"/>
              </a:tblGrid>
              <a:tr h="438912">
                <a:tc>
                  <a:txBody>
                    <a:bodyPr/>
                    <a:lstStyle/>
                    <a:p>
                      <a:pPr indent="0" marL="0">
                        <a:buNone/>
                      </a:pPr>
                      <a:r>
                        <a:rPr lang="en-US" sz="1400" b="1" dirty="0">
                          <a:solidFill>
                            <a:schemeClr val="bg1"/>
                          </a:solidFill>
                        </a:rPr>
                        <a:t>Term</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tx2"/>
                          </a:solidFill>
                        </a:rPr>
                        <a:t>Ontology</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A defined set of business concepts and how they relate</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Study → Site → Participant</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Knowledge graph</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Data stored as connected facts instead of rows and columns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Participants linked to sites and events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Triple</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One fact, written as subject, predicate, object</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Participant 123 · enrolled in · Study ABC</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RDF</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The W3C standard format for writing triples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How facts like the triple above are written down</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OWL</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The language for defining an ontology's classes, links and rules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A serious AE is a kind of adverse event</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SPARQL</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The query language for RDF graphs: SQL's equivalent</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Find participants with a serious AE at UK sites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Mappings (R2RML)</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Rules that bind ontology concepts to tables and columns</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Participant = DM rows keyed by USUBJID</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Materialised vs virtual</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Copy data into a graph, or translate each query at run time</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A nightly copy vs a live query</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r h="438912">
                <a:tc>
                  <a:txBody>
                    <a:bodyPr/>
                    <a:lstStyle/>
                    <a:p>
                      <a:pPr indent="0" marL="0">
                        <a:buNone/>
                      </a:pPr>
                      <a:r>
                        <a:rPr lang="en-US" sz="1400" b="1" dirty="0">
                          <a:solidFill>
                            <a:schemeClr val="tx2"/>
                          </a:solidFill>
                        </a:rPr>
                        <a:t>Reasoning</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Deriving facts that aren't stored explicitly</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c>
                  <a:txBody>
                    <a:bodyPr/>
                    <a:lstStyle/>
                    <a:p>
                      <a:pPr indent="0" marL="0">
                        <a:buNone/>
                      </a:pPr>
                      <a:r>
                        <a:rPr lang="en-US" sz="1400" dirty="0">
                          <a:solidFill>
                            <a:schemeClr val="tx1"/>
                          </a:solidFill>
                        </a:rPr>
                        <a:t>Every serious AE also counts as an AE</a:t>
                      </a:r>
                      <a:endParaRPr lang="en-US" sz="1400" dirty="0"/>
                    </a:p>
                  </a:txBody>
                  <a:tcPr marL="109728" marR="109728" marT="36576" marB="36576"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tcPr>
                </a:tc>
              </a:tr>
            </a:tbl>
          </a:graphicData>
        </a:graphic>
      </p:graphicFrame>
      <p:sp>
        <p:nvSpPr>
          <p:cNvPr id="4" name="txt_15"/>
          <p:cNvSpPr txBox="1"/>
          <p:nvPr/>
        </p:nvSpPr>
        <p:spPr>
          <a:xfrm>
            <a:off x="548640" y="5943600"/>
            <a:ext cx="11064240" cy="256032"/>
          </a:xfrm>
          <a:prstGeom prst="rect">
            <a:avLst/>
          </a:prstGeom>
          <a:noFill/>
          <a:ln/>
        </p:spPr>
        <p:txBody>
          <a:bodyPr wrap="square" lIns="0" tIns="0" rIns="0" bIns="0" rtlCol="0" anchor="t"/>
          <a:lstStyle/>
          <a:p>
            <a:pPr indent="0" marL="0">
              <a:buNone/>
            </a:pPr>
            <a:r>
              <a:rPr lang="en-US" sz="1200" i="1" dirty="0">
                <a:solidFill>
                  <a:schemeClr val="accent6"/>
                </a:solidFill>
              </a:rPr>
              <a:t>The full glossary is in the appendix.</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Each option answers a different question</a:t>
            </a:r>
            <a:endParaRPr lang="en-US" sz="3600" dirty="0"/>
          </a:p>
        </p:txBody>
      </p:sp>
      <p:sp>
        <p:nvSpPr>
          <p:cNvPr id="3" name="card_16"/>
          <p:cNvSpPr/>
          <p:nvPr/>
        </p:nvSpPr>
        <p:spPr>
          <a:xfrm>
            <a:off x="548640" y="1417320"/>
            <a:ext cx="3504895" cy="4069080"/>
          </a:xfrm>
          <a:prstGeom prst="roundRect">
            <a:avLst>
              <a:gd name="adj" fmla="val 2087"/>
            </a:avLst>
          </a:prstGeom>
          <a:solidFill>
            <a:schemeClr val="bg2"/>
          </a:solidFill>
          <a:ln w="12700">
            <a:solidFill>
              <a:schemeClr val="bg2"/>
            </a:solidFill>
            <a:prstDash val="solid"/>
          </a:ln>
        </p:spPr>
      </p:sp>
      <p:sp>
        <p:nvSpPr>
          <p:cNvPr id="4" name="num_17"/>
          <p:cNvSpPr/>
          <p:nvPr/>
        </p:nvSpPr>
        <p:spPr>
          <a:xfrm>
            <a:off x="777240" y="1645920"/>
            <a:ext cx="502920" cy="502920"/>
          </a:xfrm>
          <a:prstGeom prst="ellipse">
            <a:avLst/>
          </a:prstGeom>
          <a:solidFill>
            <a:schemeClr val="accent1"/>
          </a:solidFill>
          <a:ln w="12700">
            <a:solidFill>
              <a:schemeClr val="accent1"/>
            </a:solidFill>
            <a:prstDash val="solid"/>
          </a:ln>
        </p:spPr>
      </p:sp>
      <p:sp>
        <p:nvSpPr>
          <p:cNvPr id="5" name="numtxt_18"/>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xt_19"/>
          <p:cNvSpPr txBox="1"/>
          <p:nvPr/>
        </p:nvSpPr>
        <p:spPr>
          <a:xfrm>
            <a:off x="1417320" y="1645920"/>
            <a:ext cx="2453335" cy="502920"/>
          </a:xfrm>
          <a:prstGeom prst="rect">
            <a:avLst/>
          </a:prstGeom>
          <a:noFill/>
          <a:ln/>
        </p:spPr>
        <p:txBody>
          <a:bodyPr wrap="square" lIns="0" tIns="0" rIns="0" bIns="0" rtlCol="0" anchor="ctr"/>
          <a:lstStyle/>
          <a:p>
            <a:pPr indent="0" marL="0">
              <a:buNone/>
            </a:pPr>
            <a:r>
              <a:rPr lang="en-US" sz="1800" b="1" dirty="0">
                <a:solidFill>
                  <a:schemeClr val="tx2"/>
                </a:solidFill>
              </a:rPr>
              <a:t>Context for AI</a:t>
            </a:r>
            <a:endParaRPr lang="en-US" sz="1800" dirty="0"/>
          </a:p>
        </p:txBody>
      </p:sp>
      <p:sp>
        <p:nvSpPr>
          <p:cNvPr id="7" name="txt_20"/>
          <p:cNvSpPr txBox="1"/>
          <p:nvPr/>
        </p:nvSpPr>
        <p:spPr>
          <a:xfrm>
            <a:off x="777240" y="2313432"/>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QUESTION</a:t>
            </a:r>
            <a:endParaRPr lang="en-US" sz="1100" dirty="0"/>
          </a:p>
        </p:txBody>
      </p:sp>
      <p:sp>
        <p:nvSpPr>
          <p:cNvPr id="8" name="txt_21"/>
          <p:cNvSpPr txBox="1"/>
          <p:nvPr/>
        </p:nvSpPr>
        <p:spPr>
          <a:xfrm>
            <a:off x="777240" y="2551176"/>
            <a:ext cx="3047695" cy="777240"/>
          </a:xfrm>
          <a:prstGeom prst="rect">
            <a:avLst/>
          </a:prstGeom>
          <a:noFill/>
          <a:ln/>
        </p:spPr>
        <p:txBody>
          <a:bodyPr wrap="square" lIns="0" tIns="0" rIns="0" bIns="0" rtlCol="0" anchor="t"/>
          <a:lstStyle/>
          <a:p>
            <a:pPr indent="0" marL="0">
              <a:buNone/>
            </a:pPr>
            <a:r>
              <a:rPr lang="en-US" sz="1500" b="1" dirty="0">
                <a:solidFill>
                  <a:schemeClr val="tx1"/>
                </a:solidFill>
              </a:rPr>
              <a:t>How do we help AI answer business questions with the right definitions?</a:t>
            </a:r>
            <a:endParaRPr lang="en-US" sz="1500" dirty="0"/>
          </a:p>
        </p:txBody>
      </p:sp>
      <p:sp>
        <p:nvSpPr>
          <p:cNvPr id="9" name="txt_22"/>
          <p:cNvSpPr txBox="1"/>
          <p:nvPr/>
        </p:nvSpPr>
        <p:spPr>
          <a:xfrm>
            <a:off x="777240" y="3383280"/>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“ONTOLOGY” MEANS HERE</a:t>
            </a:r>
            <a:endParaRPr lang="en-US" sz="1100" dirty="0"/>
          </a:p>
        </p:txBody>
      </p:sp>
      <p:sp>
        <p:nvSpPr>
          <p:cNvPr id="10" name="txt_23"/>
          <p:cNvSpPr txBox="1"/>
          <p:nvPr/>
        </p:nvSpPr>
        <p:spPr>
          <a:xfrm>
            <a:off x="777240" y="3621024"/>
            <a:ext cx="3047695" cy="502920"/>
          </a:xfrm>
          <a:prstGeom prst="rect">
            <a:avLst/>
          </a:prstGeom>
          <a:noFill/>
          <a:ln/>
        </p:spPr>
        <p:txBody>
          <a:bodyPr wrap="square" lIns="0" tIns="0" rIns="0" bIns="0" rtlCol="0" anchor="t"/>
          <a:lstStyle/>
          <a:p>
            <a:pPr indent="0" marL="0">
              <a:buNone/>
            </a:pPr>
            <a:r>
              <a:rPr lang="en-US" sz="1400" dirty="0">
                <a:solidFill>
                  <a:schemeClr val="tx1"/>
                </a:solidFill>
              </a:rPr>
              <a:t>Learned context: descriptions, metrics, domains and usage signals</a:t>
            </a:r>
            <a:endParaRPr lang="en-US" sz="1400" dirty="0"/>
          </a:p>
        </p:txBody>
      </p:sp>
      <p:sp>
        <p:nvSpPr>
          <p:cNvPr id="11" name="txt_24"/>
          <p:cNvSpPr txBox="1"/>
          <p:nvPr/>
        </p:nvSpPr>
        <p:spPr>
          <a:xfrm>
            <a:off x="777240" y="4178808"/>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PRIMARY CONSUMER</a:t>
            </a:r>
            <a:endParaRPr lang="en-US" sz="1100" dirty="0"/>
          </a:p>
        </p:txBody>
      </p:sp>
      <p:sp>
        <p:nvSpPr>
          <p:cNvPr id="12" name="txt_25"/>
          <p:cNvSpPr txBox="1"/>
          <p:nvPr/>
        </p:nvSpPr>
        <p:spPr>
          <a:xfrm>
            <a:off x="777240" y="4416552"/>
            <a:ext cx="3047695" cy="457200"/>
          </a:xfrm>
          <a:prstGeom prst="rect">
            <a:avLst/>
          </a:prstGeom>
          <a:noFill/>
          <a:ln/>
        </p:spPr>
        <p:txBody>
          <a:bodyPr wrap="square" lIns="0" tIns="0" rIns="0" bIns="0" rtlCol="0" anchor="t"/>
          <a:lstStyle/>
          <a:p>
            <a:pPr indent="0" marL="0">
              <a:buNone/>
            </a:pPr>
            <a:r>
              <a:rPr lang="en-US" sz="1400" dirty="0">
                <a:solidFill>
                  <a:schemeClr val="tx1"/>
                </a:solidFill>
              </a:rPr>
              <a:t>Business users, through Genie</a:t>
            </a:r>
            <a:endParaRPr lang="en-US" sz="1400" dirty="0"/>
          </a:p>
        </p:txBody>
      </p:sp>
      <p:sp>
        <p:nvSpPr>
          <p:cNvPr id="13" name="node_26"/>
          <p:cNvSpPr/>
          <p:nvPr/>
        </p:nvSpPr>
        <p:spPr>
          <a:xfrm>
            <a:off x="777240" y="4983480"/>
            <a:ext cx="384048" cy="384048"/>
          </a:xfrm>
          <a:prstGeom prst="ellipse">
            <a:avLst/>
          </a:prstGeom>
          <a:solidFill>
            <a:schemeClr val="accent1"/>
          </a:solidFill>
          <a:ln w="12700">
            <a:solidFill>
              <a:schemeClr val="accent1"/>
            </a:solidFill>
            <a:prstDash val="solid"/>
          </a:ln>
        </p:spPr>
      </p:sp>
      <p:pic>
        <p:nvPicPr>
          <p:cNvPr id="14" name="icon_27" descr="preencoded.png">    </p:cNvPr>
          <p:cNvPicPr>
            <a:picLocks noChangeAspect="1"/>
          </p:cNvPicPr>
          <p:nvPr/>
        </p:nvPicPr>
        <p:blipFill>
          <a:blip r:embed="rId1"/>
          <a:stretch>
            <a:fillRect/>
          </a:stretch>
        </p:blipFill>
        <p:spPr>
          <a:xfrm>
            <a:off x="869412" y="5075652"/>
            <a:ext cx="199705" cy="199705"/>
          </a:xfrm>
          <a:prstGeom prst="rect">
            <a:avLst/>
          </a:prstGeom>
        </p:spPr>
      </p:pic>
      <p:sp>
        <p:nvSpPr>
          <p:cNvPr id="15" name="chip_28"/>
          <p:cNvSpPr txBox="1"/>
          <p:nvPr/>
        </p:nvSpPr>
        <p:spPr>
          <a:xfrm>
            <a:off x="1234440" y="4946904"/>
            <a:ext cx="2590495" cy="457200"/>
          </a:xfrm>
          <a:prstGeom prst="rect">
            <a:avLst/>
          </a:prstGeom>
          <a:noFill/>
          <a:ln/>
        </p:spPr>
        <p:txBody>
          <a:bodyPr wrap="square" lIns="0" tIns="0" rIns="0" bIns="0" rtlCol="0" anchor="ctr"/>
          <a:lstStyle/>
          <a:p>
            <a:pPr indent="0" marL="0">
              <a:buNone/>
            </a:pPr>
            <a:r>
              <a:rPr lang="en-US" sz="1400" b="1" dirty="0">
                <a:solidFill>
                  <a:schemeClr val="accent1"/>
                </a:solidFill>
              </a:rPr>
              <a:t>Genie Ontology</a:t>
            </a:r>
            <a:endParaRPr lang="en-US" sz="1400" dirty="0"/>
          </a:p>
          <a:p>
            <a:pPr indent="0" marL="0">
              <a:buNone/>
            </a:pPr>
            <a:r>
              <a:rPr lang="en-US" sz="1100" dirty="0">
                <a:solidFill>
                  <a:schemeClr val="accent6"/>
                </a:solidFill>
              </a:rPr>
              <a:t>Native, Preview</a:t>
            </a:r>
            <a:endParaRPr lang="en-US" sz="1400" dirty="0"/>
          </a:p>
        </p:txBody>
      </p:sp>
      <p:sp>
        <p:nvSpPr>
          <p:cNvPr id="16" name="card_29"/>
          <p:cNvSpPr/>
          <p:nvPr/>
        </p:nvSpPr>
        <p:spPr>
          <a:xfrm>
            <a:off x="4327855" y="1417320"/>
            <a:ext cx="3504895" cy="4069080"/>
          </a:xfrm>
          <a:prstGeom prst="roundRect">
            <a:avLst>
              <a:gd name="adj" fmla="val 2087"/>
            </a:avLst>
          </a:prstGeom>
          <a:solidFill>
            <a:schemeClr val="bg2"/>
          </a:solidFill>
          <a:ln w="12700">
            <a:solidFill>
              <a:schemeClr val="bg2"/>
            </a:solidFill>
            <a:prstDash val="solid"/>
          </a:ln>
        </p:spPr>
      </p:sp>
      <p:sp>
        <p:nvSpPr>
          <p:cNvPr id="17" name="num_30"/>
          <p:cNvSpPr/>
          <p:nvPr/>
        </p:nvSpPr>
        <p:spPr>
          <a:xfrm>
            <a:off x="4556455" y="1645920"/>
            <a:ext cx="502920" cy="502920"/>
          </a:xfrm>
          <a:prstGeom prst="ellipse">
            <a:avLst/>
          </a:prstGeom>
          <a:solidFill>
            <a:schemeClr val="accent2"/>
          </a:solidFill>
          <a:ln w="12700">
            <a:solidFill>
              <a:schemeClr val="accent2"/>
            </a:solidFill>
            <a:prstDash val="solid"/>
          </a:ln>
        </p:spPr>
      </p:sp>
      <p:sp>
        <p:nvSpPr>
          <p:cNvPr id="18" name="numtxt_31"/>
          <p:cNvSpPr txBox="1"/>
          <p:nvPr/>
        </p:nvSpPr>
        <p:spPr>
          <a:xfrm>
            <a:off x="4556455"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xt_32"/>
          <p:cNvSpPr txBox="1"/>
          <p:nvPr/>
        </p:nvSpPr>
        <p:spPr>
          <a:xfrm>
            <a:off x="5196535" y="1645920"/>
            <a:ext cx="2453335" cy="502920"/>
          </a:xfrm>
          <a:prstGeom prst="rect">
            <a:avLst/>
          </a:prstGeom>
          <a:noFill/>
          <a:ln/>
        </p:spPr>
        <p:txBody>
          <a:bodyPr wrap="square" lIns="0" tIns="0" rIns="0" bIns="0" rtlCol="0" anchor="ctr"/>
          <a:lstStyle/>
          <a:p>
            <a:pPr indent="0" marL="0">
              <a:buNone/>
            </a:pPr>
            <a:r>
              <a:rPr lang="en-US" sz="1800" b="1" dirty="0">
                <a:solidFill>
                  <a:schemeClr val="tx2"/>
                </a:solidFill>
              </a:rPr>
              <a:t>Metadata enrichment</a:t>
            </a:r>
            <a:endParaRPr lang="en-US" sz="1800" dirty="0"/>
          </a:p>
        </p:txBody>
      </p:sp>
      <p:sp>
        <p:nvSpPr>
          <p:cNvPr id="20" name="txt_33"/>
          <p:cNvSpPr txBox="1"/>
          <p:nvPr/>
        </p:nvSpPr>
        <p:spPr>
          <a:xfrm>
            <a:off x="4556455" y="2313432"/>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QUESTION</a:t>
            </a:r>
            <a:endParaRPr lang="en-US" sz="1100" dirty="0"/>
          </a:p>
        </p:txBody>
      </p:sp>
      <p:sp>
        <p:nvSpPr>
          <p:cNvPr id="21" name="txt_34"/>
          <p:cNvSpPr txBox="1"/>
          <p:nvPr/>
        </p:nvSpPr>
        <p:spPr>
          <a:xfrm>
            <a:off x="4556455" y="2551176"/>
            <a:ext cx="3047695" cy="777240"/>
          </a:xfrm>
          <a:prstGeom prst="rect">
            <a:avLst/>
          </a:prstGeom>
          <a:noFill/>
          <a:ln/>
        </p:spPr>
        <p:txBody>
          <a:bodyPr wrap="square" lIns="0" tIns="0" rIns="0" bIns="0" rtlCol="0" anchor="t"/>
          <a:lstStyle/>
          <a:p>
            <a:pPr indent="0" marL="0">
              <a:buNone/>
            </a:pPr>
            <a:r>
              <a:rPr lang="en-US" sz="1500" b="1" dirty="0">
                <a:solidFill>
                  <a:schemeClr val="tx1"/>
                </a:solidFill>
              </a:rPr>
              <a:t>How do we make the catalog say what our tables and columns mean?</a:t>
            </a:r>
            <a:endParaRPr lang="en-US" sz="1500" dirty="0"/>
          </a:p>
        </p:txBody>
      </p:sp>
      <p:sp>
        <p:nvSpPr>
          <p:cNvPr id="22" name="txt_35"/>
          <p:cNvSpPr txBox="1"/>
          <p:nvPr/>
        </p:nvSpPr>
        <p:spPr>
          <a:xfrm>
            <a:off x="4556455" y="3383280"/>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“ONTOLOGY” MEANS HERE</a:t>
            </a:r>
            <a:endParaRPr lang="en-US" sz="1100" dirty="0"/>
          </a:p>
        </p:txBody>
      </p:sp>
      <p:sp>
        <p:nvSpPr>
          <p:cNvPr id="23" name="txt_36"/>
          <p:cNvSpPr txBox="1"/>
          <p:nvPr/>
        </p:nvSpPr>
        <p:spPr>
          <a:xfrm>
            <a:off x="4556455" y="3621024"/>
            <a:ext cx="3047695" cy="502920"/>
          </a:xfrm>
          <a:prstGeom prst="rect">
            <a:avLst/>
          </a:prstGeom>
          <a:noFill/>
          <a:ln/>
        </p:spPr>
        <p:txBody>
          <a:bodyPr wrap="square" lIns="0" tIns="0" rIns="0" bIns="0" rtlCol="0" anchor="t"/>
          <a:lstStyle/>
          <a:p>
            <a:pPr indent="0" marL="0">
              <a:buNone/>
            </a:pPr>
            <a:r>
              <a:rPr lang="en-US" sz="1400" dirty="0">
                <a:solidFill>
                  <a:schemeClr val="tx1"/>
                </a:solidFill>
              </a:rPr>
              <a:t>Annotations: descriptions, tags and entity bindings to FHIR or OMOP</a:t>
            </a:r>
            <a:endParaRPr lang="en-US" sz="1400" dirty="0"/>
          </a:p>
        </p:txBody>
      </p:sp>
      <p:sp>
        <p:nvSpPr>
          <p:cNvPr id="24" name="txt_37"/>
          <p:cNvSpPr txBox="1"/>
          <p:nvPr/>
        </p:nvSpPr>
        <p:spPr>
          <a:xfrm>
            <a:off x="4556455" y="4178808"/>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PRIMARY CONSUMER</a:t>
            </a:r>
            <a:endParaRPr lang="en-US" sz="1100" dirty="0"/>
          </a:p>
        </p:txBody>
      </p:sp>
      <p:sp>
        <p:nvSpPr>
          <p:cNvPr id="25" name="txt_38"/>
          <p:cNvSpPr txBox="1"/>
          <p:nvPr/>
        </p:nvSpPr>
        <p:spPr>
          <a:xfrm>
            <a:off x="4556455" y="4416552"/>
            <a:ext cx="3047695" cy="457200"/>
          </a:xfrm>
          <a:prstGeom prst="rect">
            <a:avLst/>
          </a:prstGeom>
          <a:noFill/>
          <a:ln/>
        </p:spPr>
        <p:txBody>
          <a:bodyPr wrap="square" lIns="0" tIns="0" rIns="0" bIns="0" rtlCol="0" anchor="t"/>
          <a:lstStyle/>
          <a:p>
            <a:pPr indent="0" marL="0">
              <a:buNone/>
            </a:pPr>
            <a:r>
              <a:rPr lang="en-US" sz="1400" dirty="0">
                <a:solidFill>
                  <a:schemeClr val="tx1"/>
                </a:solidFill>
              </a:rPr>
              <a:t>Unity Catalog search, Genie and agents</a:t>
            </a:r>
            <a:endParaRPr lang="en-US" sz="1400" dirty="0"/>
          </a:p>
        </p:txBody>
      </p:sp>
      <p:sp>
        <p:nvSpPr>
          <p:cNvPr id="26" name="node_39"/>
          <p:cNvSpPr/>
          <p:nvPr/>
        </p:nvSpPr>
        <p:spPr>
          <a:xfrm>
            <a:off x="4556455" y="4983480"/>
            <a:ext cx="384048" cy="384048"/>
          </a:xfrm>
          <a:prstGeom prst="ellipse">
            <a:avLst/>
          </a:prstGeom>
          <a:solidFill>
            <a:schemeClr val="accent2"/>
          </a:solidFill>
          <a:ln w="12700">
            <a:solidFill>
              <a:schemeClr val="accent2"/>
            </a:solidFill>
            <a:prstDash val="solid"/>
          </a:ln>
        </p:spPr>
      </p:sp>
      <p:pic>
        <p:nvPicPr>
          <p:cNvPr id="27" name="icon_40" descr="preencoded.png">    </p:cNvPr>
          <p:cNvPicPr>
            <a:picLocks noChangeAspect="1"/>
          </p:cNvPicPr>
          <p:nvPr/>
        </p:nvPicPr>
        <p:blipFill>
          <a:blip r:embed="rId2"/>
          <a:stretch>
            <a:fillRect/>
          </a:stretch>
        </p:blipFill>
        <p:spPr>
          <a:xfrm>
            <a:off x="4648627" y="5075652"/>
            <a:ext cx="199705" cy="199705"/>
          </a:xfrm>
          <a:prstGeom prst="rect">
            <a:avLst/>
          </a:prstGeom>
        </p:spPr>
      </p:pic>
      <p:sp>
        <p:nvSpPr>
          <p:cNvPr id="28" name="chip_41"/>
          <p:cNvSpPr txBox="1"/>
          <p:nvPr/>
        </p:nvSpPr>
        <p:spPr>
          <a:xfrm>
            <a:off x="5013655" y="4946904"/>
            <a:ext cx="2590495" cy="457200"/>
          </a:xfrm>
          <a:prstGeom prst="rect">
            <a:avLst/>
          </a:prstGeom>
          <a:noFill/>
          <a:ln/>
        </p:spPr>
        <p:txBody>
          <a:bodyPr wrap="square" lIns="0" tIns="0" rIns="0" bIns="0" rtlCol="0" anchor="ctr"/>
          <a:lstStyle/>
          <a:p>
            <a:pPr indent="0" marL="0">
              <a:buNone/>
            </a:pPr>
            <a:r>
              <a:rPr lang="en-US" sz="1400" b="1" dirty="0">
                <a:solidFill>
                  <a:schemeClr val="accent2"/>
                </a:solidFill>
              </a:rPr>
              <a:t>dbxmetagen</a:t>
            </a:r>
            <a:endParaRPr lang="en-US" sz="1400" dirty="0"/>
          </a:p>
          <a:p>
            <a:pPr indent="0" marL="0">
              <a:buNone/>
            </a:pPr>
            <a:r>
              <a:rPr lang="en-US" sz="1100" dirty="0">
                <a:solidFill>
                  <a:schemeClr val="accent6"/>
                </a:solidFill>
              </a:rPr>
              <a:t>Accelerator</a:t>
            </a:r>
            <a:endParaRPr lang="en-US" sz="1400" dirty="0"/>
          </a:p>
        </p:txBody>
      </p:sp>
      <p:sp>
        <p:nvSpPr>
          <p:cNvPr id="29" name="card_42"/>
          <p:cNvSpPr/>
          <p:nvPr/>
        </p:nvSpPr>
        <p:spPr>
          <a:xfrm>
            <a:off x="8107070" y="1417320"/>
            <a:ext cx="3504895" cy="4069080"/>
          </a:xfrm>
          <a:prstGeom prst="roundRect">
            <a:avLst>
              <a:gd name="adj" fmla="val 2087"/>
            </a:avLst>
          </a:prstGeom>
          <a:solidFill>
            <a:schemeClr val="bg2"/>
          </a:solidFill>
          <a:ln w="12700">
            <a:solidFill>
              <a:schemeClr val="bg2"/>
            </a:solidFill>
            <a:prstDash val="solid"/>
          </a:ln>
        </p:spPr>
      </p:sp>
      <p:sp>
        <p:nvSpPr>
          <p:cNvPr id="30" name="num_43"/>
          <p:cNvSpPr/>
          <p:nvPr/>
        </p:nvSpPr>
        <p:spPr>
          <a:xfrm>
            <a:off x="8335670" y="1645920"/>
            <a:ext cx="502920" cy="502920"/>
          </a:xfrm>
          <a:prstGeom prst="ellipse">
            <a:avLst/>
          </a:prstGeom>
          <a:solidFill>
            <a:schemeClr val="tx2"/>
          </a:solidFill>
          <a:ln w="12700">
            <a:solidFill>
              <a:schemeClr val="tx2"/>
            </a:solidFill>
            <a:prstDash val="solid"/>
          </a:ln>
        </p:spPr>
      </p:sp>
      <p:sp>
        <p:nvSpPr>
          <p:cNvPr id="31" name="numtxt_44"/>
          <p:cNvSpPr txBox="1"/>
          <p:nvPr/>
        </p:nvSpPr>
        <p:spPr>
          <a:xfrm>
            <a:off x="833567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2" name="txt_45"/>
          <p:cNvSpPr txBox="1"/>
          <p:nvPr/>
        </p:nvSpPr>
        <p:spPr>
          <a:xfrm>
            <a:off x="8975750" y="1645920"/>
            <a:ext cx="2453335" cy="502920"/>
          </a:xfrm>
          <a:prstGeom prst="rect">
            <a:avLst/>
          </a:prstGeom>
          <a:noFill/>
          <a:ln/>
        </p:spPr>
        <p:txBody>
          <a:bodyPr wrap="square" lIns="0" tIns="0" rIns="0" bIns="0" rtlCol="0" anchor="ctr"/>
          <a:lstStyle/>
          <a:p>
            <a:pPr indent="0" marL="0">
              <a:buNone/>
            </a:pPr>
            <a:r>
              <a:rPr lang="en-US" sz="1800" b="1" dirty="0">
                <a:solidFill>
                  <a:schemeClr val="tx2"/>
                </a:solidFill>
              </a:rPr>
              <a:t>Formal semantic access</a:t>
            </a:r>
            <a:endParaRPr lang="en-US" sz="1800" dirty="0"/>
          </a:p>
        </p:txBody>
      </p:sp>
      <p:sp>
        <p:nvSpPr>
          <p:cNvPr id="33" name="txt_46"/>
          <p:cNvSpPr txBox="1"/>
          <p:nvPr/>
        </p:nvSpPr>
        <p:spPr>
          <a:xfrm>
            <a:off x="8335670" y="2313432"/>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QUESTION</a:t>
            </a:r>
            <a:endParaRPr lang="en-US" sz="1100" dirty="0"/>
          </a:p>
        </p:txBody>
      </p:sp>
      <p:sp>
        <p:nvSpPr>
          <p:cNvPr id="34" name="txt_47"/>
          <p:cNvSpPr txBox="1"/>
          <p:nvPr/>
        </p:nvSpPr>
        <p:spPr>
          <a:xfrm>
            <a:off x="8335670" y="2551176"/>
            <a:ext cx="3047695" cy="777240"/>
          </a:xfrm>
          <a:prstGeom prst="rect">
            <a:avLst/>
          </a:prstGeom>
          <a:noFill/>
          <a:ln/>
        </p:spPr>
        <p:txBody>
          <a:bodyPr wrap="square" lIns="0" tIns="0" rIns="0" bIns="0" rtlCol="0" anchor="t"/>
          <a:lstStyle/>
          <a:p>
            <a:pPr indent="0" marL="0">
              <a:buNone/>
            </a:pPr>
            <a:r>
              <a:rPr lang="en-US" sz="1500" b="1" dirty="0">
                <a:solidFill>
                  <a:schemeClr val="tx1"/>
                </a:solidFill>
              </a:rPr>
              <a:t>How do we query data through one conceptual model, independent of physical schemas?</a:t>
            </a:r>
            <a:endParaRPr lang="en-US" sz="1500" dirty="0"/>
          </a:p>
        </p:txBody>
      </p:sp>
      <p:sp>
        <p:nvSpPr>
          <p:cNvPr id="35" name="txt_48"/>
          <p:cNvSpPr txBox="1"/>
          <p:nvPr/>
        </p:nvSpPr>
        <p:spPr>
          <a:xfrm>
            <a:off x="8335670" y="3383280"/>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“ONTOLOGY” MEANS HERE</a:t>
            </a:r>
            <a:endParaRPr lang="en-US" sz="1100" dirty="0"/>
          </a:p>
        </p:txBody>
      </p:sp>
      <p:sp>
        <p:nvSpPr>
          <p:cNvPr id="36" name="txt_49"/>
          <p:cNvSpPr txBox="1"/>
          <p:nvPr/>
        </p:nvSpPr>
        <p:spPr>
          <a:xfrm>
            <a:off x="8335670" y="3621024"/>
            <a:ext cx="3047695" cy="502920"/>
          </a:xfrm>
          <a:prstGeom prst="rect">
            <a:avLst/>
          </a:prstGeom>
          <a:noFill/>
          <a:ln/>
        </p:spPr>
        <p:txBody>
          <a:bodyPr wrap="square" lIns="0" tIns="0" rIns="0" bIns="0" rtlCol="0" anchor="t"/>
          <a:lstStyle/>
          <a:p>
            <a:pPr indent="0" marL="0">
              <a:buNone/>
            </a:pPr>
            <a:r>
              <a:rPr lang="en-US" sz="1400" dirty="0">
                <a:solidFill>
                  <a:schemeClr val="tx1"/>
                </a:solidFill>
              </a:rPr>
              <a:t>A formal OWL model with explicit mappings to tables</a:t>
            </a:r>
            <a:endParaRPr lang="en-US" sz="1400" dirty="0"/>
          </a:p>
        </p:txBody>
      </p:sp>
      <p:sp>
        <p:nvSpPr>
          <p:cNvPr id="37" name="txt_50"/>
          <p:cNvSpPr txBox="1"/>
          <p:nvPr/>
        </p:nvSpPr>
        <p:spPr>
          <a:xfrm>
            <a:off x="8335670" y="4178808"/>
            <a:ext cx="304769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PRIMARY CONSUMER</a:t>
            </a:r>
            <a:endParaRPr lang="en-US" sz="1100" dirty="0"/>
          </a:p>
        </p:txBody>
      </p:sp>
      <p:sp>
        <p:nvSpPr>
          <p:cNvPr id="38" name="txt_51"/>
          <p:cNvSpPr txBox="1"/>
          <p:nvPr/>
        </p:nvSpPr>
        <p:spPr>
          <a:xfrm>
            <a:off x="8335670" y="4416552"/>
            <a:ext cx="3047695" cy="457200"/>
          </a:xfrm>
          <a:prstGeom prst="rect">
            <a:avLst/>
          </a:prstGeom>
          <a:noFill/>
          <a:ln/>
        </p:spPr>
        <p:txBody>
          <a:bodyPr wrap="square" lIns="0" tIns="0" rIns="0" bIns="0" rtlCol="0" anchor="t"/>
          <a:lstStyle/>
          <a:p>
            <a:pPr indent="0" marL="0">
              <a:buNone/>
            </a:pPr>
            <a:r>
              <a:rPr lang="en-US" sz="1400" dirty="0">
                <a:solidFill>
                  <a:schemeClr val="tx1"/>
                </a:solidFill>
              </a:rPr>
              <a:t>Applications and agents via GraphQL, SPARQL or MCP</a:t>
            </a:r>
            <a:endParaRPr lang="en-US" sz="1400" dirty="0"/>
          </a:p>
        </p:txBody>
      </p:sp>
      <p:sp>
        <p:nvSpPr>
          <p:cNvPr id="39" name="node_52"/>
          <p:cNvSpPr/>
          <p:nvPr/>
        </p:nvSpPr>
        <p:spPr>
          <a:xfrm>
            <a:off x="8335670" y="4983480"/>
            <a:ext cx="384048" cy="384048"/>
          </a:xfrm>
          <a:prstGeom prst="ellipse">
            <a:avLst/>
          </a:prstGeom>
          <a:solidFill>
            <a:schemeClr val="accent3"/>
          </a:solidFill>
          <a:ln w="12700">
            <a:solidFill>
              <a:schemeClr val="accent3"/>
            </a:solidFill>
            <a:prstDash val="solid"/>
          </a:ln>
        </p:spPr>
      </p:sp>
      <p:pic>
        <p:nvPicPr>
          <p:cNvPr id="40" name="icon_53" descr="preencoded.png">    </p:cNvPr>
          <p:cNvPicPr>
            <a:picLocks noChangeAspect="1"/>
          </p:cNvPicPr>
          <p:nvPr/>
        </p:nvPicPr>
        <p:blipFill>
          <a:blip r:embed="rId3"/>
          <a:stretch>
            <a:fillRect/>
          </a:stretch>
        </p:blipFill>
        <p:spPr>
          <a:xfrm>
            <a:off x="8427842" y="5075652"/>
            <a:ext cx="199705" cy="199705"/>
          </a:xfrm>
          <a:prstGeom prst="rect">
            <a:avLst/>
          </a:prstGeom>
        </p:spPr>
      </p:pic>
      <p:sp>
        <p:nvSpPr>
          <p:cNvPr id="41" name="chip_54"/>
          <p:cNvSpPr txBox="1"/>
          <p:nvPr/>
        </p:nvSpPr>
        <p:spPr>
          <a:xfrm>
            <a:off x="8792870" y="4946904"/>
            <a:ext cx="1097280" cy="457200"/>
          </a:xfrm>
          <a:prstGeom prst="rect">
            <a:avLst/>
          </a:prstGeom>
          <a:noFill/>
          <a:ln/>
        </p:spPr>
        <p:txBody>
          <a:bodyPr wrap="square" lIns="0" tIns="0" rIns="0" bIns="0" rtlCol="0" anchor="ctr"/>
          <a:lstStyle/>
          <a:p>
            <a:pPr indent="0" marL="0">
              <a:buNone/>
            </a:pPr>
            <a:r>
              <a:rPr lang="en-US" sz="1400" b="1" dirty="0">
                <a:solidFill>
                  <a:schemeClr val="accent3"/>
                </a:solidFill>
              </a:rPr>
              <a:t>OntoBricks</a:t>
            </a:r>
            <a:endParaRPr lang="en-US" sz="1400" dirty="0"/>
          </a:p>
          <a:p>
            <a:pPr indent="0" marL="0">
              <a:buNone/>
            </a:pPr>
            <a:r>
              <a:rPr lang="en-US" sz="1100" dirty="0">
                <a:solidFill>
                  <a:schemeClr val="accent6"/>
                </a:solidFill>
              </a:rPr>
              <a:t>Materialised</a:t>
            </a:r>
            <a:endParaRPr lang="en-US" sz="1400" dirty="0"/>
          </a:p>
        </p:txBody>
      </p:sp>
      <p:sp>
        <p:nvSpPr>
          <p:cNvPr id="42" name="node_55"/>
          <p:cNvSpPr/>
          <p:nvPr/>
        </p:nvSpPr>
        <p:spPr>
          <a:xfrm>
            <a:off x="9908438" y="4983480"/>
            <a:ext cx="384048" cy="384048"/>
          </a:xfrm>
          <a:prstGeom prst="ellipse">
            <a:avLst/>
          </a:prstGeom>
          <a:solidFill>
            <a:schemeClr val="accent4"/>
          </a:solidFill>
          <a:ln w="12700">
            <a:solidFill>
              <a:schemeClr val="accent4"/>
            </a:solidFill>
            <a:prstDash val="solid"/>
          </a:ln>
        </p:spPr>
      </p:sp>
      <p:pic>
        <p:nvPicPr>
          <p:cNvPr id="43" name="icon_56" descr="preencoded.png">    </p:cNvPr>
          <p:cNvPicPr>
            <a:picLocks noChangeAspect="1"/>
          </p:cNvPicPr>
          <p:nvPr/>
        </p:nvPicPr>
        <p:blipFill>
          <a:blip r:embed="rId4"/>
          <a:stretch>
            <a:fillRect/>
          </a:stretch>
        </p:blipFill>
        <p:spPr>
          <a:xfrm>
            <a:off x="10000610" y="5075652"/>
            <a:ext cx="199705" cy="199705"/>
          </a:xfrm>
          <a:prstGeom prst="rect">
            <a:avLst/>
          </a:prstGeom>
        </p:spPr>
      </p:pic>
      <p:sp>
        <p:nvSpPr>
          <p:cNvPr id="44" name="chip_57"/>
          <p:cNvSpPr txBox="1"/>
          <p:nvPr/>
        </p:nvSpPr>
        <p:spPr>
          <a:xfrm>
            <a:off x="10365638" y="4946904"/>
            <a:ext cx="1097280" cy="457200"/>
          </a:xfrm>
          <a:prstGeom prst="rect">
            <a:avLst/>
          </a:prstGeom>
          <a:noFill/>
          <a:ln/>
        </p:spPr>
        <p:txBody>
          <a:bodyPr wrap="square" lIns="0" tIns="0" rIns="0" bIns="0" rtlCol="0" anchor="ctr"/>
          <a:lstStyle/>
          <a:p>
            <a:pPr indent="0" marL="0">
              <a:buNone/>
            </a:pPr>
            <a:r>
              <a:rPr lang="en-US" sz="1400" b="1" dirty="0">
                <a:solidFill>
                  <a:schemeClr val="accent4"/>
                </a:solidFill>
              </a:rPr>
              <a:t>Ontop</a:t>
            </a:r>
            <a:endParaRPr lang="en-US" sz="1400" dirty="0"/>
          </a:p>
          <a:p>
            <a:pPr indent="0" marL="0">
              <a:buNone/>
            </a:pPr>
            <a:r>
              <a:rPr lang="en-US" sz="1100" dirty="0">
                <a:solidFill>
                  <a:schemeClr val="accent6"/>
                </a:solidFill>
              </a:rPr>
              <a:t>Virtual</a:t>
            </a:r>
            <a:endParaRPr lang="en-US" sz="1400" dirty="0"/>
          </a:p>
        </p:txBody>
      </p:sp>
      <p:sp>
        <p:nvSpPr>
          <p:cNvPr id="45" name="callout_58"/>
          <p:cNvSpPr/>
          <p:nvPr/>
        </p:nvSpPr>
        <p:spPr>
          <a:xfrm>
            <a:off x="548640" y="5596128"/>
            <a:ext cx="11064240" cy="576072"/>
          </a:xfrm>
          <a:prstGeom prst="roundRect">
            <a:avLst>
              <a:gd name="adj" fmla="val 12698"/>
            </a:avLst>
          </a:prstGeom>
          <a:solidFill>
            <a:schemeClr val="accent5">
              <a:alpha val="20000"/>
            </a:schemeClr>
          </a:solidFill>
          <a:ln w="12700">
            <a:solidFill>
              <a:schemeClr val="accent5"/>
            </a:solidFill>
            <a:prstDash val="solid"/>
          </a:ln>
        </p:spPr>
      </p:sp>
      <p:sp>
        <p:nvSpPr>
          <p:cNvPr id="46" name="txt_59"/>
          <p:cNvSpPr txBox="1"/>
          <p:nvPr/>
        </p:nvSpPr>
        <p:spPr>
          <a:xfrm>
            <a:off x="822960" y="5596128"/>
            <a:ext cx="10515600" cy="576072"/>
          </a:xfrm>
          <a:prstGeom prst="rect">
            <a:avLst/>
          </a:prstGeom>
          <a:noFill/>
          <a:ln/>
        </p:spPr>
        <p:txBody>
          <a:bodyPr wrap="square" lIns="0" tIns="0" rIns="0" bIns="0" rtlCol="0" anchor="ctr"/>
          <a:lstStyle/>
          <a:p>
            <a:pPr indent="0" marL="0">
              <a:buNone/>
            </a:pPr>
            <a:r>
              <a:rPr lang="en-US" sz="1500" b="1" dirty="0">
                <a:solidFill>
                  <a:schemeClr val="tx2"/>
                </a:solidFill>
              </a:rPr>
              <a:t>Most demand sits in questions 1 and 2. Question 3 is ontology-based data access in the strict sense, defined on the next slide.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ontology-based data access means</a:t>
            </a:r>
            <a:endParaRPr lang="en-US" sz="3600" dirty="0"/>
          </a:p>
        </p:txBody>
      </p:sp>
      <p:sp>
        <p:nvSpPr>
          <p:cNvPr id="3" name="txt_60"/>
          <p:cNvSpPr txBox="1"/>
          <p:nvPr/>
        </p:nvSpPr>
        <p:spPr>
          <a:xfrm>
            <a:off x="548640" y="1463040"/>
            <a:ext cx="5943600" cy="822960"/>
          </a:xfrm>
          <a:prstGeom prst="rect">
            <a:avLst/>
          </a:prstGeom>
          <a:noFill/>
          <a:ln/>
        </p:spPr>
        <p:txBody>
          <a:bodyPr wrap="square" lIns="0" tIns="0" rIns="0" bIns="0" rtlCol="0" anchor="t"/>
          <a:lstStyle/>
          <a:p>
            <a:pPr indent="0" marL="0">
              <a:buNone/>
            </a:pPr>
            <a:r>
              <a:rPr lang="en-US" sz="1600" dirty="0">
                <a:solidFill>
                  <a:schemeClr val="tx1"/>
                </a:solidFill>
              </a:rPr>
              <a:t>Questions asked in business terms are translated, at query time, into queries over the source data. Three parts make that work:</a:t>
            </a:r>
            <a:endParaRPr lang="en-US" sz="1600" dirty="0"/>
          </a:p>
        </p:txBody>
      </p:sp>
      <p:sp>
        <p:nvSpPr>
          <p:cNvPr id="4" name="node_61"/>
          <p:cNvSpPr/>
          <p:nvPr/>
        </p:nvSpPr>
        <p:spPr>
          <a:xfrm>
            <a:off x="548640" y="2423160"/>
            <a:ext cx="548640" cy="548640"/>
          </a:xfrm>
          <a:prstGeom prst="ellipse">
            <a:avLst/>
          </a:prstGeom>
          <a:solidFill>
            <a:schemeClr val="tx2"/>
          </a:solidFill>
          <a:ln w="12700">
            <a:solidFill>
              <a:schemeClr val="tx2"/>
            </a:solidFill>
            <a:prstDash val="solid"/>
          </a:ln>
        </p:spPr>
      </p:sp>
      <p:pic>
        <p:nvPicPr>
          <p:cNvPr id="5" name="icon_62" descr="preencoded.png">    </p:cNvPr>
          <p:cNvPicPr>
            <a:picLocks noChangeAspect="1"/>
          </p:cNvPicPr>
          <p:nvPr/>
        </p:nvPicPr>
        <p:blipFill>
          <a:blip r:embed="rId1"/>
          <a:stretch>
            <a:fillRect/>
          </a:stretch>
        </p:blipFill>
        <p:spPr>
          <a:xfrm>
            <a:off x="680314" y="2554834"/>
            <a:ext cx="285293" cy="285293"/>
          </a:xfrm>
          <a:prstGeom prst="rect">
            <a:avLst/>
          </a:prstGeom>
        </p:spPr>
      </p:pic>
      <p:sp>
        <p:nvSpPr>
          <p:cNvPr id="6" name="txt_63"/>
          <p:cNvSpPr txBox="1"/>
          <p:nvPr/>
        </p:nvSpPr>
        <p:spPr>
          <a:xfrm>
            <a:off x="1280160" y="2404872"/>
            <a:ext cx="5120640" cy="292608"/>
          </a:xfrm>
          <a:prstGeom prst="rect">
            <a:avLst/>
          </a:prstGeom>
          <a:noFill/>
          <a:ln/>
        </p:spPr>
        <p:txBody>
          <a:bodyPr wrap="square" lIns="0" tIns="0" rIns="0" bIns="0" rtlCol="0" anchor="t"/>
          <a:lstStyle/>
          <a:p>
            <a:pPr indent="0" marL="0">
              <a:buNone/>
            </a:pPr>
            <a:r>
              <a:rPr lang="en-US" sz="1600" b="1" dirty="0">
                <a:solidFill>
                  <a:schemeClr val="tx2"/>
                </a:solidFill>
              </a:rPr>
              <a:t>Ontology</a:t>
            </a:r>
            <a:endParaRPr lang="en-US" sz="1600" dirty="0"/>
          </a:p>
        </p:txBody>
      </p:sp>
      <p:sp>
        <p:nvSpPr>
          <p:cNvPr id="7" name="txt_64"/>
          <p:cNvSpPr txBox="1"/>
          <p:nvPr/>
        </p:nvSpPr>
        <p:spPr>
          <a:xfrm>
            <a:off x="1280160" y="2697480"/>
            <a:ext cx="5120640" cy="320040"/>
          </a:xfrm>
          <a:prstGeom prst="rect">
            <a:avLst/>
          </a:prstGeom>
          <a:noFill/>
          <a:ln/>
        </p:spPr>
        <p:txBody>
          <a:bodyPr wrap="square" lIns="0" tIns="0" rIns="0" bIns="0" rtlCol="0" anchor="t"/>
          <a:lstStyle/>
          <a:p>
            <a:pPr indent="0" marL="0">
              <a:buNone/>
            </a:pPr>
            <a:r>
              <a:rPr lang="en-US" sz="1400" dirty="0">
                <a:solidFill>
                  <a:schemeClr val="tx1"/>
                </a:solidFill>
              </a:rPr>
              <a:t>The concepts and how they relate: Patient, Study, Adverse Event</a:t>
            </a:r>
            <a:endParaRPr lang="en-US" sz="1400" dirty="0"/>
          </a:p>
        </p:txBody>
      </p:sp>
      <p:sp>
        <p:nvSpPr>
          <p:cNvPr id="8" name="node_65"/>
          <p:cNvSpPr/>
          <p:nvPr/>
        </p:nvSpPr>
        <p:spPr>
          <a:xfrm>
            <a:off x="548640" y="3291840"/>
            <a:ext cx="548640" cy="548640"/>
          </a:xfrm>
          <a:prstGeom prst="ellipse">
            <a:avLst/>
          </a:prstGeom>
          <a:solidFill>
            <a:schemeClr val="tx2"/>
          </a:solidFill>
          <a:ln w="12700">
            <a:solidFill>
              <a:schemeClr val="tx2"/>
            </a:solidFill>
            <a:prstDash val="solid"/>
          </a:ln>
        </p:spPr>
      </p:sp>
      <p:pic>
        <p:nvPicPr>
          <p:cNvPr id="9" name="icon_66" descr="preencoded.png">    </p:cNvPr>
          <p:cNvPicPr>
            <a:picLocks noChangeAspect="1"/>
          </p:cNvPicPr>
          <p:nvPr/>
        </p:nvPicPr>
        <p:blipFill>
          <a:blip r:embed="rId2"/>
          <a:stretch>
            <a:fillRect/>
          </a:stretch>
        </p:blipFill>
        <p:spPr>
          <a:xfrm>
            <a:off x="680314" y="3423514"/>
            <a:ext cx="285293" cy="285293"/>
          </a:xfrm>
          <a:prstGeom prst="rect">
            <a:avLst/>
          </a:prstGeom>
        </p:spPr>
      </p:pic>
      <p:sp>
        <p:nvSpPr>
          <p:cNvPr id="10" name="txt_67"/>
          <p:cNvSpPr txBox="1"/>
          <p:nvPr/>
        </p:nvSpPr>
        <p:spPr>
          <a:xfrm>
            <a:off x="1280160" y="3273552"/>
            <a:ext cx="5120640" cy="292608"/>
          </a:xfrm>
          <a:prstGeom prst="rect">
            <a:avLst/>
          </a:prstGeom>
          <a:noFill/>
          <a:ln/>
        </p:spPr>
        <p:txBody>
          <a:bodyPr wrap="square" lIns="0" tIns="0" rIns="0" bIns="0" rtlCol="0" anchor="t"/>
          <a:lstStyle/>
          <a:p>
            <a:pPr indent="0" marL="0">
              <a:buNone/>
            </a:pPr>
            <a:r>
              <a:rPr lang="en-US" sz="1600" b="1" dirty="0">
                <a:solidFill>
                  <a:schemeClr val="tx2"/>
                </a:solidFill>
              </a:rPr>
              <a:t>Mappings</a:t>
            </a:r>
            <a:endParaRPr lang="en-US" sz="1600" dirty="0"/>
          </a:p>
        </p:txBody>
      </p:sp>
      <p:sp>
        <p:nvSpPr>
          <p:cNvPr id="11" name="txt_68"/>
          <p:cNvSpPr txBox="1"/>
          <p:nvPr/>
        </p:nvSpPr>
        <p:spPr>
          <a:xfrm>
            <a:off x="1280160" y="3566160"/>
            <a:ext cx="5120640" cy="320040"/>
          </a:xfrm>
          <a:prstGeom prst="rect">
            <a:avLst/>
          </a:prstGeom>
          <a:noFill/>
          <a:ln/>
        </p:spPr>
        <p:txBody>
          <a:bodyPr wrap="square" lIns="0" tIns="0" rIns="0" bIns="0" rtlCol="0" anchor="t"/>
          <a:lstStyle/>
          <a:p>
            <a:pPr indent="0" marL="0">
              <a:buNone/>
            </a:pPr>
            <a:r>
              <a:rPr lang="en-US" sz="1400" dirty="0">
                <a:solidFill>
                  <a:schemeClr val="tx1"/>
                </a:solidFill>
              </a:rPr>
              <a:t>How each concept binds to tables and columns</a:t>
            </a:r>
            <a:endParaRPr lang="en-US" sz="1400" dirty="0"/>
          </a:p>
        </p:txBody>
      </p:sp>
      <p:sp>
        <p:nvSpPr>
          <p:cNvPr id="12" name="node_69"/>
          <p:cNvSpPr/>
          <p:nvPr/>
        </p:nvSpPr>
        <p:spPr>
          <a:xfrm>
            <a:off x="548640" y="4160520"/>
            <a:ext cx="548640" cy="548640"/>
          </a:xfrm>
          <a:prstGeom prst="ellipse">
            <a:avLst/>
          </a:prstGeom>
          <a:solidFill>
            <a:schemeClr val="tx2"/>
          </a:solidFill>
          <a:ln w="12700">
            <a:solidFill>
              <a:schemeClr val="tx2"/>
            </a:solidFill>
            <a:prstDash val="solid"/>
          </a:ln>
        </p:spPr>
      </p:sp>
      <p:pic>
        <p:nvPicPr>
          <p:cNvPr id="13" name="icon_70" descr="preencoded.png">    </p:cNvPr>
          <p:cNvPicPr>
            <a:picLocks noChangeAspect="1"/>
          </p:cNvPicPr>
          <p:nvPr/>
        </p:nvPicPr>
        <p:blipFill>
          <a:blip r:embed="rId3"/>
          <a:stretch>
            <a:fillRect/>
          </a:stretch>
        </p:blipFill>
        <p:spPr>
          <a:xfrm>
            <a:off x="680314" y="4292194"/>
            <a:ext cx="285293" cy="285293"/>
          </a:xfrm>
          <a:prstGeom prst="rect">
            <a:avLst/>
          </a:prstGeom>
        </p:spPr>
      </p:pic>
      <p:sp>
        <p:nvSpPr>
          <p:cNvPr id="14" name="txt_71"/>
          <p:cNvSpPr txBox="1"/>
          <p:nvPr/>
        </p:nvSpPr>
        <p:spPr>
          <a:xfrm>
            <a:off x="1280160" y="4142232"/>
            <a:ext cx="5120640" cy="292608"/>
          </a:xfrm>
          <a:prstGeom prst="rect">
            <a:avLst/>
          </a:prstGeom>
          <a:noFill/>
          <a:ln/>
        </p:spPr>
        <p:txBody>
          <a:bodyPr wrap="square" lIns="0" tIns="0" rIns="0" bIns="0" rtlCol="0" anchor="t"/>
          <a:lstStyle/>
          <a:p>
            <a:pPr indent="0" marL="0">
              <a:buNone/>
            </a:pPr>
            <a:r>
              <a:rPr lang="en-US" sz="1600" b="1" dirty="0">
                <a:solidFill>
                  <a:schemeClr val="tx2"/>
                </a:solidFill>
              </a:rPr>
              <a:t>Query rewriting</a:t>
            </a:r>
            <a:endParaRPr lang="en-US" sz="1600" dirty="0"/>
          </a:p>
        </p:txBody>
      </p:sp>
      <p:sp>
        <p:nvSpPr>
          <p:cNvPr id="15" name="txt_72"/>
          <p:cNvSpPr txBox="1"/>
          <p:nvPr/>
        </p:nvSpPr>
        <p:spPr>
          <a:xfrm>
            <a:off x="1280160" y="4434840"/>
            <a:ext cx="5120640" cy="320040"/>
          </a:xfrm>
          <a:prstGeom prst="rect">
            <a:avLst/>
          </a:prstGeom>
          <a:noFill/>
          <a:ln/>
        </p:spPr>
        <p:txBody>
          <a:bodyPr wrap="square" lIns="0" tIns="0" rIns="0" bIns="0" rtlCol="0" anchor="t"/>
          <a:lstStyle/>
          <a:p>
            <a:pPr indent="0" marL="0">
              <a:buNone/>
            </a:pPr>
            <a:r>
              <a:rPr lang="en-US" sz="1400" dirty="0">
                <a:solidFill>
                  <a:schemeClr val="tx1"/>
                </a:solidFill>
              </a:rPr>
              <a:t>A business-level query becomes SQL on governed tables</a:t>
            </a:r>
            <a:endParaRPr lang="en-US" sz="1400" dirty="0"/>
          </a:p>
        </p:txBody>
      </p:sp>
      <p:sp>
        <p:nvSpPr>
          <p:cNvPr id="16" name="card_73"/>
          <p:cNvSpPr/>
          <p:nvPr/>
        </p:nvSpPr>
        <p:spPr>
          <a:xfrm>
            <a:off x="7132320" y="1463040"/>
            <a:ext cx="4480560" cy="868680"/>
          </a:xfrm>
          <a:prstGeom prst="roundRect">
            <a:avLst>
              <a:gd name="adj" fmla="val 8421"/>
            </a:avLst>
          </a:prstGeom>
          <a:solidFill>
            <a:schemeClr val="bg2"/>
          </a:solidFill>
          <a:ln w="12700">
            <a:solidFill>
              <a:schemeClr val="bg2"/>
            </a:solidFill>
            <a:prstDash val="solid"/>
          </a:ln>
        </p:spPr>
      </p:sp>
      <p:sp>
        <p:nvSpPr>
          <p:cNvPr id="17" name="txt_74"/>
          <p:cNvSpPr txBox="1"/>
          <p:nvPr/>
        </p:nvSpPr>
        <p:spPr>
          <a:xfrm>
            <a:off x="7406640" y="1591056"/>
            <a:ext cx="3931920" cy="347472"/>
          </a:xfrm>
          <a:prstGeom prst="rect">
            <a:avLst/>
          </a:prstGeom>
          <a:noFill/>
          <a:ln/>
        </p:spPr>
        <p:txBody>
          <a:bodyPr wrap="square" lIns="0" tIns="0" rIns="0" bIns="0" rtlCol="0" anchor="t"/>
          <a:lstStyle/>
          <a:p>
            <a:pPr indent="0" marL="0">
              <a:buNone/>
            </a:pPr>
            <a:r>
              <a:rPr lang="en-US" sz="1700" b="1" dirty="0">
                <a:solidFill>
                  <a:schemeClr val="tx2"/>
                </a:solidFill>
              </a:rPr>
              <a:t>Question in business terms</a:t>
            </a:r>
            <a:endParaRPr lang="en-US" sz="1700" dirty="0"/>
          </a:p>
        </p:txBody>
      </p:sp>
      <p:sp>
        <p:nvSpPr>
          <p:cNvPr id="18" name="txt_75"/>
          <p:cNvSpPr txBox="1"/>
          <p:nvPr/>
        </p:nvSpPr>
        <p:spPr>
          <a:xfrm>
            <a:off x="7406640" y="1938528"/>
            <a:ext cx="3931920" cy="274320"/>
          </a:xfrm>
          <a:prstGeom prst="rect">
            <a:avLst/>
          </a:prstGeom>
          <a:noFill/>
          <a:ln/>
        </p:spPr>
        <p:txBody>
          <a:bodyPr wrap="square" lIns="0" tIns="0" rIns="0" bIns="0" rtlCol="0" anchor="t"/>
          <a:lstStyle/>
          <a:p>
            <a:pPr indent="0" marL="0">
              <a:buNone/>
            </a:pPr>
            <a:r>
              <a:rPr lang="en-US" sz="1300" dirty="0">
                <a:solidFill>
                  <a:schemeClr val="tx1"/>
                </a:solidFill>
              </a:rPr>
              <a:t>e.g. adverse events by study arm</a:t>
            </a:r>
            <a:endParaRPr lang="en-US" sz="1300" dirty="0"/>
          </a:p>
        </p:txBody>
      </p:sp>
      <p:sp>
        <p:nvSpPr>
          <p:cNvPr id="19" name="arrow_76"/>
          <p:cNvSpPr/>
          <p:nvPr/>
        </p:nvSpPr>
        <p:spPr>
          <a:xfrm>
            <a:off x="9189720" y="2377440"/>
            <a:ext cx="365760" cy="274320"/>
          </a:xfrm>
          <a:prstGeom prst="downArrow">
            <a:avLst/>
          </a:prstGeom>
          <a:solidFill>
            <a:schemeClr val="accent6"/>
          </a:solidFill>
          <a:ln w="12700">
            <a:solidFill>
              <a:schemeClr val="accent6"/>
            </a:solidFill>
            <a:prstDash val="solid"/>
          </a:ln>
        </p:spPr>
      </p:sp>
      <p:sp>
        <p:nvSpPr>
          <p:cNvPr id="20" name="card_77"/>
          <p:cNvSpPr/>
          <p:nvPr/>
        </p:nvSpPr>
        <p:spPr>
          <a:xfrm>
            <a:off x="7132320" y="2697480"/>
            <a:ext cx="4480560" cy="868680"/>
          </a:xfrm>
          <a:prstGeom prst="roundRect">
            <a:avLst>
              <a:gd name="adj" fmla="val 8421"/>
            </a:avLst>
          </a:prstGeom>
          <a:solidFill>
            <a:schemeClr val="tx2"/>
          </a:solidFill>
          <a:ln w="12700">
            <a:solidFill>
              <a:schemeClr val="tx2"/>
            </a:solidFill>
            <a:prstDash val="solid"/>
          </a:ln>
        </p:spPr>
      </p:sp>
      <p:sp>
        <p:nvSpPr>
          <p:cNvPr id="21" name="txt_78"/>
          <p:cNvSpPr txBox="1"/>
          <p:nvPr/>
        </p:nvSpPr>
        <p:spPr>
          <a:xfrm>
            <a:off x="7406640" y="2825496"/>
            <a:ext cx="3931920" cy="347472"/>
          </a:xfrm>
          <a:prstGeom prst="rect">
            <a:avLst/>
          </a:prstGeom>
          <a:noFill/>
          <a:ln/>
        </p:spPr>
        <p:txBody>
          <a:bodyPr wrap="square" lIns="0" tIns="0" rIns="0" bIns="0" rtlCol="0" anchor="t"/>
          <a:lstStyle/>
          <a:p>
            <a:pPr indent="0" marL="0">
              <a:buNone/>
            </a:pPr>
            <a:r>
              <a:rPr lang="en-US" sz="1700" b="1" dirty="0">
                <a:solidFill>
                  <a:schemeClr val="bg1"/>
                </a:solidFill>
              </a:rPr>
              <a:t>Ontology + mappings</a:t>
            </a:r>
            <a:endParaRPr lang="en-US" sz="1700" dirty="0"/>
          </a:p>
        </p:txBody>
      </p:sp>
      <p:sp>
        <p:nvSpPr>
          <p:cNvPr id="22" name="txt_79"/>
          <p:cNvSpPr txBox="1"/>
          <p:nvPr/>
        </p:nvSpPr>
        <p:spPr>
          <a:xfrm>
            <a:off x="7406640" y="3172968"/>
            <a:ext cx="3931920" cy="274320"/>
          </a:xfrm>
          <a:prstGeom prst="rect">
            <a:avLst/>
          </a:prstGeom>
          <a:noFill/>
          <a:ln/>
        </p:spPr>
        <p:txBody>
          <a:bodyPr wrap="square" lIns="0" tIns="0" rIns="0" bIns="0" rtlCol="0" anchor="t"/>
          <a:lstStyle/>
          <a:p>
            <a:pPr indent="0" marL="0">
              <a:buNone/>
            </a:pPr>
            <a:r>
              <a:rPr lang="en-US" sz="1300" dirty="0">
                <a:solidFill>
                  <a:schemeClr val="bg2"/>
                </a:solidFill>
              </a:rPr>
              <a:t>concepts bound to tables</a:t>
            </a:r>
            <a:endParaRPr lang="en-US" sz="1300" dirty="0"/>
          </a:p>
        </p:txBody>
      </p:sp>
      <p:sp>
        <p:nvSpPr>
          <p:cNvPr id="23" name="arrow_80"/>
          <p:cNvSpPr/>
          <p:nvPr/>
        </p:nvSpPr>
        <p:spPr>
          <a:xfrm>
            <a:off x="9189720" y="3611880"/>
            <a:ext cx="365760" cy="274320"/>
          </a:xfrm>
          <a:prstGeom prst="downArrow">
            <a:avLst/>
          </a:prstGeom>
          <a:solidFill>
            <a:schemeClr val="accent6"/>
          </a:solidFill>
          <a:ln w="12700">
            <a:solidFill>
              <a:schemeClr val="accent6"/>
            </a:solidFill>
            <a:prstDash val="solid"/>
          </a:ln>
        </p:spPr>
      </p:sp>
      <p:sp>
        <p:nvSpPr>
          <p:cNvPr id="24" name="card_81"/>
          <p:cNvSpPr/>
          <p:nvPr/>
        </p:nvSpPr>
        <p:spPr>
          <a:xfrm>
            <a:off x="7132320" y="3931920"/>
            <a:ext cx="4480560" cy="868680"/>
          </a:xfrm>
          <a:prstGeom prst="roundRect">
            <a:avLst>
              <a:gd name="adj" fmla="val 8421"/>
            </a:avLst>
          </a:prstGeom>
          <a:solidFill>
            <a:schemeClr val="bg2"/>
          </a:solidFill>
          <a:ln w="12700">
            <a:solidFill>
              <a:schemeClr val="bg2"/>
            </a:solidFill>
            <a:prstDash val="solid"/>
          </a:ln>
        </p:spPr>
      </p:sp>
      <p:sp>
        <p:nvSpPr>
          <p:cNvPr id="25" name="txt_82"/>
          <p:cNvSpPr txBox="1"/>
          <p:nvPr/>
        </p:nvSpPr>
        <p:spPr>
          <a:xfrm>
            <a:off x="7406640" y="4059936"/>
            <a:ext cx="3931920" cy="347472"/>
          </a:xfrm>
          <a:prstGeom prst="rect">
            <a:avLst/>
          </a:prstGeom>
          <a:noFill/>
          <a:ln/>
        </p:spPr>
        <p:txBody>
          <a:bodyPr wrap="square" lIns="0" tIns="0" rIns="0" bIns="0" rtlCol="0" anchor="t"/>
          <a:lstStyle/>
          <a:p>
            <a:pPr indent="0" marL="0">
              <a:buNone/>
            </a:pPr>
            <a:r>
              <a:rPr lang="en-US" sz="1700" b="1" dirty="0">
                <a:solidFill>
                  <a:schemeClr val="tx2"/>
                </a:solidFill>
              </a:rPr>
              <a:t>SQL on Unity Catalog tables</a:t>
            </a:r>
            <a:endParaRPr lang="en-US" sz="1700" dirty="0"/>
          </a:p>
        </p:txBody>
      </p:sp>
      <p:sp>
        <p:nvSpPr>
          <p:cNvPr id="26" name="txt_83"/>
          <p:cNvSpPr txBox="1"/>
          <p:nvPr/>
        </p:nvSpPr>
        <p:spPr>
          <a:xfrm>
            <a:off x="7406640" y="4407408"/>
            <a:ext cx="3931920" cy="274320"/>
          </a:xfrm>
          <a:prstGeom prst="rect">
            <a:avLst/>
          </a:prstGeom>
          <a:noFill/>
          <a:ln/>
        </p:spPr>
        <p:txBody>
          <a:bodyPr wrap="square" lIns="0" tIns="0" rIns="0" bIns="0" rtlCol="0" anchor="t"/>
          <a:lstStyle/>
          <a:p>
            <a:pPr indent="0" marL="0">
              <a:buNone/>
            </a:pPr>
            <a:r>
              <a:rPr lang="en-US" sz="1300" dirty="0">
                <a:solidFill>
                  <a:schemeClr val="tx1"/>
                </a:solidFill>
              </a:rPr>
              <a:t>executed under governance</a:t>
            </a:r>
            <a:endParaRPr lang="en-US" sz="1300" dirty="0"/>
          </a:p>
        </p:txBody>
      </p:sp>
      <p:sp>
        <p:nvSpPr>
          <p:cNvPr id="27" name="callout_84"/>
          <p:cNvSpPr/>
          <p:nvPr/>
        </p:nvSpPr>
        <p:spPr>
          <a:xfrm>
            <a:off x="548640" y="5257800"/>
            <a:ext cx="11064240" cy="868680"/>
          </a:xfrm>
          <a:prstGeom prst="roundRect">
            <a:avLst>
              <a:gd name="adj" fmla="val 8421"/>
            </a:avLst>
          </a:prstGeom>
          <a:solidFill>
            <a:schemeClr val="accent5">
              <a:alpha val="20000"/>
            </a:schemeClr>
          </a:solidFill>
          <a:ln w="12700">
            <a:solidFill>
              <a:schemeClr val="accent5"/>
            </a:solidFill>
            <a:prstDash val="solid"/>
          </a:ln>
        </p:spPr>
      </p:sp>
      <p:sp>
        <p:nvSpPr>
          <p:cNvPr id="28" name="txt_85"/>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500" dirty="0">
                <a:solidFill>
                  <a:schemeClr val="tx1"/>
                </a:solidFill>
              </a:rPr>
              <a:t>Strictly, only Ontop does formal query rewriting. Genie does something similar with an LLM over a learned, informal model; dbxmetagen and OntoBricks put meaning elsewhere. That is where the trade-offs come from.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Four options, four homes for meaning</a:t>
            </a:r>
            <a:endParaRPr lang="en-US" sz="3600" dirty="0"/>
          </a:p>
        </p:txBody>
      </p:sp>
      <p:sp>
        <p:nvSpPr>
          <p:cNvPr id="3" name="card_86"/>
          <p:cNvSpPr/>
          <p:nvPr/>
        </p:nvSpPr>
        <p:spPr>
          <a:xfrm>
            <a:off x="548640" y="1417320"/>
            <a:ext cx="2560320" cy="4754880"/>
          </a:xfrm>
          <a:prstGeom prst="roundRect">
            <a:avLst>
              <a:gd name="adj" fmla="val 2857"/>
            </a:avLst>
          </a:prstGeom>
          <a:solidFill>
            <a:schemeClr val="bg2"/>
          </a:solidFill>
          <a:ln w="12700">
            <a:solidFill>
              <a:schemeClr val="bg2"/>
            </a:solidFill>
            <a:prstDash val="solid"/>
          </a:ln>
        </p:spPr>
      </p:sp>
      <p:sp>
        <p:nvSpPr>
          <p:cNvPr id="4" name="node_87"/>
          <p:cNvSpPr/>
          <p:nvPr/>
        </p:nvSpPr>
        <p:spPr>
          <a:xfrm>
            <a:off x="777240" y="1691640"/>
            <a:ext cx="731520" cy="731520"/>
          </a:xfrm>
          <a:prstGeom prst="ellipse">
            <a:avLst/>
          </a:prstGeom>
          <a:solidFill>
            <a:schemeClr val="accent1"/>
          </a:solidFill>
          <a:ln w="12700">
            <a:solidFill>
              <a:schemeClr val="accent1"/>
            </a:solidFill>
            <a:prstDash val="solid"/>
          </a:ln>
        </p:spPr>
      </p:sp>
      <p:pic>
        <p:nvPicPr>
          <p:cNvPr id="5" name="icon_88" descr="preencoded.png">    </p:cNvPr>
          <p:cNvPicPr>
            <a:picLocks noChangeAspect="1"/>
          </p:cNvPicPr>
          <p:nvPr/>
        </p:nvPicPr>
        <p:blipFill>
          <a:blip r:embed="rId1"/>
          <a:stretch>
            <a:fillRect/>
          </a:stretch>
        </p:blipFill>
        <p:spPr>
          <a:xfrm>
            <a:off x="952805" y="1867205"/>
            <a:ext cx="380390" cy="380390"/>
          </a:xfrm>
          <a:prstGeom prst="rect">
            <a:avLst/>
          </a:prstGeom>
        </p:spPr>
      </p:pic>
      <p:sp>
        <p:nvSpPr>
          <p:cNvPr id="6" name="txt_89"/>
          <p:cNvSpPr txBox="1"/>
          <p:nvPr/>
        </p:nvSpPr>
        <p:spPr>
          <a:xfrm>
            <a:off x="777240" y="25603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Genie Ontology</a:t>
            </a:r>
            <a:endParaRPr lang="en-US" sz="2000" dirty="0"/>
          </a:p>
        </p:txBody>
      </p:sp>
      <p:sp>
        <p:nvSpPr>
          <p:cNvPr id="7" name="txt_90"/>
          <p:cNvSpPr txBox="1"/>
          <p:nvPr/>
        </p:nvSpPr>
        <p:spPr>
          <a:xfrm>
            <a:off x="777240" y="2971800"/>
            <a:ext cx="2103120" cy="320040"/>
          </a:xfrm>
          <a:prstGeom prst="rect">
            <a:avLst/>
          </a:prstGeom>
          <a:noFill/>
          <a:ln/>
        </p:spPr>
        <p:txBody>
          <a:bodyPr wrap="square" lIns="0" tIns="0" rIns="0" bIns="0" rtlCol="0" anchor="t"/>
          <a:lstStyle/>
          <a:p>
            <a:pPr indent="0" marL="0">
              <a:buNone/>
            </a:pPr>
            <a:r>
              <a:rPr lang="en-US" sz="1200" dirty="0">
                <a:solidFill>
                  <a:schemeClr val="accent6"/>
                </a:solidFill>
              </a:rPr>
              <a:t>Databricks native · Public Preview</a:t>
            </a:r>
            <a:endParaRPr lang="en-US" sz="1200" dirty="0"/>
          </a:p>
        </p:txBody>
      </p:sp>
      <p:sp>
        <p:nvSpPr>
          <p:cNvPr id="8" name="txt_91"/>
          <p:cNvSpPr txBox="1"/>
          <p:nvPr/>
        </p:nvSpPr>
        <p:spPr>
          <a:xfrm>
            <a:off x="777240" y="3429000"/>
            <a:ext cx="21031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WHERE MEANING LIVES</a:t>
            </a:r>
            <a:endParaRPr lang="en-US" sz="1100" dirty="0"/>
          </a:p>
        </p:txBody>
      </p:sp>
      <p:sp>
        <p:nvSpPr>
          <p:cNvPr id="9" name="txt_92"/>
          <p:cNvSpPr txBox="1"/>
          <p:nvPr/>
        </p:nvSpPr>
        <p:spPr>
          <a:xfrm>
            <a:off x="777240" y="3703320"/>
            <a:ext cx="2103120" cy="868680"/>
          </a:xfrm>
          <a:prstGeom prst="rect">
            <a:avLst/>
          </a:prstGeom>
          <a:noFill/>
          <a:ln/>
        </p:spPr>
        <p:txBody>
          <a:bodyPr wrap="square" lIns="0" tIns="0" rIns="0" bIns="0" rtlCol="0" anchor="t"/>
          <a:lstStyle/>
          <a:p>
            <a:pPr indent="0" marL="0">
              <a:buNone/>
            </a:pPr>
            <a:r>
              <a:rPr lang="en-US" sz="1500" b="1" dirty="0">
                <a:solidFill>
                  <a:schemeClr val="tx1"/>
                </a:solidFill>
              </a:rPr>
              <a:t>A learned context graph, fed by Unity Catalog metadata and semantics</a:t>
            </a:r>
            <a:endParaRPr lang="en-US" sz="1500" dirty="0"/>
          </a:p>
        </p:txBody>
      </p:sp>
      <p:sp>
        <p:nvSpPr>
          <p:cNvPr id="10" name="txt_93"/>
          <p:cNvSpPr txBox="1"/>
          <p:nvPr/>
        </p:nvSpPr>
        <p:spPr>
          <a:xfrm>
            <a:off x="777240" y="4663440"/>
            <a:ext cx="2103120" cy="1325880"/>
          </a:xfrm>
          <a:prstGeom prst="rect">
            <a:avLst/>
          </a:prstGeom>
          <a:noFill/>
          <a:ln/>
        </p:spPr>
        <p:txBody>
          <a:bodyPr wrap="square" lIns="0" tIns="0" rIns="0" bIns="0" rtlCol="0" anchor="t"/>
          <a:lstStyle/>
          <a:p>
            <a:pPr indent="0" marL="0">
              <a:buNone/>
            </a:pPr>
            <a:r>
              <a:rPr lang="en-US" sz="1400" dirty="0">
                <a:solidFill>
                  <a:schemeClr val="tx1"/>
                </a:solidFill>
              </a:rPr>
              <a:t>Ranks definitions from UC descriptions, metric views, domains, Pages and usage, then answers in natural language.</a:t>
            </a:r>
            <a:endParaRPr lang="en-US" sz="1400" dirty="0"/>
          </a:p>
        </p:txBody>
      </p:sp>
      <p:sp>
        <p:nvSpPr>
          <p:cNvPr id="11" name="card_94"/>
          <p:cNvSpPr/>
          <p:nvPr/>
        </p:nvSpPr>
        <p:spPr>
          <a:xfrm>
            <a:off x="3383280" y="1417320"/>
            <a:ext cx="2560320" cy="4754880"/>
          </a:xfrm>
          <a:prstGeom prst="roundRect">
            <a:avLst>
              <a:gd name="adj" fmla="val 2857"/>
            </a:avLst>
          </a:prstGeom>
          <a:solidFill>
            <a:schemeClr val="bg2"/>
          </a:solidFill>
          <a:ln w="12700">
            <a:solidFill>
              <a:schemeClr val="bg2"/>
            </a:solidFill>
            <a:prstDash val="solid"/>
          </a:ln>
        </p:spPr>
      </p:sp>
      <p:sp>
        <p:nvSpPr>
          <p:cNvPr id="12" name="node_95"/>
          <p:cNvSpPr/>
          <p:nvPr/>
        </p:nvSpPr>
        <p:spPr>
          <a:xfrm>
            <a:off x="3611880" y="1691640"/>
            <a:ext cx="731520" cy="731520"/>
          </a:xfrm>
          <a:prstGeom prst="ellipse">
            <a:avLst/>
          </a:prstGeom>
          <a:solidFill>
            <a:schemeClr val="accent2"/>
          </a:solidFill>
          <a:ln w="12700">
            <a:solidFill>
              <a:schemeClr val="accent2"/>
            </a:solidFill>
            <a:prstDash val="solid"/>
          </a:ln>
        </p:spPr>
      </p:sp>
      <p:pic>
        <p:nvPicPr>
          <p:cNvPr id="13" name="icon_96" descr="preencoded.png">    </p:cNvPr>
          <p:cNvPicPr>
            <a:picLocks noChangeAspect="1"/>
          </p:cNvPicPr>
          <p:nvPr/>
        </p:nvPicPr>
        <p:blipFill>
          <a:blip r:embed="rId2"/>
          <a:stretch>
            <a:fillRect/>
          </a:stretch>
        </p:blipFill>
        <p:spPr>
          <a:xfrm>
            <a:off x="3787445" y="1867205"/>
            <a:ext cx="380390" cy="380390"/>
          </a:xfrm>
          <a:prstGeom prst="rect">
            <a:avLst/>
          </a:prstGeom>
        </p:spPr>
      </p:pic>
      <p:sp>
        <p:nvSpPr>
          <p:cNvPr id="14" name="txt_97"/>
          <p:cNvSpPr txBox="1"/>
          <p:nvPr/>
        </p:nvSpPr>
        <p:spPr>
          <a:xfrm>
            <a:off x="3611880" y="25603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dbxmetagen</a:t>
            </a:r>
            <a:endParaRPr lang="en-US" sz="2000" dirty="0"/>
          </a:p>
        </p:txBody>
      </p:sp>
      <p:sp>
        <p:nvSpPr>
          <p:cNvPr id="15" name="txt_98"/>
          <p:cNvSpPr txBox="1"/>
          <p:nvPr/>
        </p:nvSpPr>
        <p:spPr>
          <a:xfrm>
            <a:off x="3611880" y="2971800"/>
            <a:ext cx="2103120" cy="320040"/>
          </a:xfrm>
          <a:prstGeom prst="rect">
            <a:avLst/>
          </a:prstGeom>
          <a:noFill/>
          <a:ln/>
        </p:spPr>
        <p:txBody>
          <a:bodyPr wrap="square" lIns="0" tIns="0" rIns="0" bIns="0" rtlCol="0" anchor="t"/>
          <a:lstStyle/>
          <a:p>
            <a:pPr indent="0" marL="0">
              <a:buNone/>
            </a:pPr>
            <a:r>
              <a:rPr lang="en-US" sz="1200" dirty="0">
                <a:solidFill>
                  <a:schemeClr val="accent6"/>
                </a:solidFill>
              </a:rPr>
              <a:t>Databricks solutions accelerator</a:t>
            </a:r>
            <a:endParaRPr lang="en-US" sz="1200" dirty="0"/>
          </a:p>
        </p:txBody>
      </p:sp>
      <p:sp>
        <p:nvSpPr>
          <p:cNvPr id="16" name="txt_99"/>
          <p:cNvSpPr txBox="1"/>
          <p:nvPr/>
        </p:nvSpPr>
        <p:spPr>
          <a:xfrm>
            <a:off x="3611880" y="3429000"/>
            <a:ext cx="21031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WHERE MEANING LIVES</a:t>
            </a:r>
            <a:endParaRPr lang="en-US" sz="1100" dirty="0"/>
          </a:p>
        </p:txBody>
      </p:sp>
      <p:sp>
        <p:nvSpPr>
          <p:cNvPr id="17" name="txt_100"/>
          <p:cNvSpPr txBox="1"/>
          <p:nvPr/>
        </p:nvSpPr>
        <p:spPr>
          <a:xfrm>
            <a:off x="3611880" y="3703320"/>
            <a:ext cx="2103120" cy="868680"/>
          </a:xfrm>
          <a:prstGeom prst="rect">
            <a:avLst/>
          </a:prstGeom>
          <a:noFill/>
          <a:ln/>
        </p:spPr>
        <p:txBody>
          <a:bodyPr wrap="square" lIns="0" tIns="0" rIns="0" bIns="0" rtlCol="0" anchor="t"/>
          <a:lstStyle/>
          <a:p>
            <a:pPr indent="0" marL="0">
              <a:buNone/>
            </a:pPr>
            <a:r>
              <a:rPr lang="en-US" sz="1500" b="1" dirty="0">
                <a:solidFill>
                  <a:schemeClr val="tx1"/>
                </a:solidFill>
              </a:rPr>
              <a:t>Unity Catalog metadata and Delta ontology tables</a:t>
            </a:r>
            <a:endParaRPr lang="en-US" sz="1500" dirty="0"/>
          </a:p>
        </p:txBody>
      </p:sp>
      <p:sp>
        <p:nvSpPr>
          <p:cNvPr id="18" name="txt_101"/>
          <p:cNvSpPr txBox="1"/>
          <p:nvPr/>
        </p:nvSpPr>
        <p:spPr>
          <a:xfrm>
            <a:off x="3611880" y="4663440"/>
            <a:ext cx="2103120" cy="1325880"/>
          </a:xfrm>
          <a:prstGeom prst="rect">
            <a:avLst/>
          </a:prstGeom>
          <a:noFill/>
          <a:ln/>
        </p:spPr>
        <p:txBody>
          <a:bodyPr wrap="square" lIns="0" tIns="0" rIns="0" bIns="0" rtlCol="0" anchor="t"/>
          <a:lstStyle/>
          <a:p>
            <a:pPr indent="0" marL="0">
              <a:buNone/>
            </a:pPr>
            <a:r>
              <a:rPr lang="en-US" sz="1400" dirty="0">
                <a:solidFill>
                  <a:schemeClr val="tx1"/>
                </a:solidFill>
              </a:rPr>
              <a:t>LLM-generated descriptions, PHI tags and entity bindings to FHIR, OMOP and other bundles, reviewed by people.</a:t>
            </a:r>
            <a:endParaRPr lang="en-US" sz="1400" dirty="0"/>
          </a:p>
        </p:txBody>
      </p:sp>
      <p:sp>
        <p:nvSpPr>
          <p:cNvPr id="19" name="card_102"/>
          <p:cNvSpPr/>
          <p:nvPr/>
        </p:nvSpPr>
        <p:spPr>
          <a:xfrm>
            <a:off x="6217920" y="1417320"/>
            <a:ext cx="2560320" cy="4754880"/>
          </a:xfrm>
          <a:prstGeom prst="roundRect">
            <a:avLst>
              <a:gd name="adj" fmla="val 2857"/>
            </a:avLst>
          </a:prstGeom>
          <a:solidFill>
            <a:schemeClr val="bg2"/>
          </a:solidFill>
          <a:ln w="12700">
            <a:solidFill>
              <a:schemeClr val="bg2"/>
            </a:solidFill>
            <a:prstDash val="solid"/>
          </a:ln>
        </p:spPr>
      </p:sp>
      <p:sp>
        <p:nvSpPr>
          <p:cNvPr id="20" name="node_103"/>
          <p:cNvSpPr/>
          <p:nvPr/>
        </p:nvSpPr>
        <p:spPr>
          <a:xfrm>
            <a:off x="6446520" y="1691640"/>
            <a:ext cx="731520" cy="731520"/>
          </a:xfrm>
          <a:prstGeom prst="ellipse">
            <a:avLst/>
          </a:prstGeom>
          <a:solidFill>
            <a:schemeClr val="accent3"/>
          </a:solidFill>
          <a:ln w="12700">
            <a:solidFill>
              <a:schemeClr val="accent3"/>
            </a:solidFill>
            <a:prstDash val="solid"/>
          </a:ln>
        </p:spPr>
      </p:sp>
      <p:pic>
        <p:nvPicPr>
          <p:cNvPr id="21" name="icon_104" descr="preencoded.png">    </p:cNvPr>
          <p:cNvPicPr>
            <a:picLocks noChangeAspect="1"/>
          </p:cNvPicPr>
          <p:nvPr/>
        </p:nvPicPr>
        <p:blipFill>
          <a:blip r:embed="rId3"/>
          <a:stretch>
            <a:fillRect/>
          </a:stretch>
        </p:blipFill>
        <p:spPr>
          <a:xfrm>
            <a:off x="6622085" y="1867205"/>
            <a:ext cx="380390" cy="380390"/>
          </a:xfrm>
          <a:prstGeom prst="rect">
            <a:avLst/>
          </a:prstGeom>
        </p:spPr>
      </p:pic>
      <p:sp>
        <p:nvSpPr>
          <p:cNvPr id="22" name="txt_105"/>
          <p:cNvSpPr txBox="1"/>
          <p:nvPr/>
        </p:nvSpPr>
        <p:spPr>
          <a:xfrm>
            <a:off x="6446520" y="25603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OntoBricks</a:t>
            </a:r>
            <a:endParaRPr lang="en-US" sz="2000" dirty="0"/>
          </a:p>
        </p:txBody>
      </p:sp>
      <p:sp>
        <p:nvSpPr>
          <p:cNvPr id="23" name="txt_106"/>
          <p:cNvSpPr txBox="1"/>
          <p:nvPr/>
        </p:nvSpPr>
        <p:spPr>
          <a:xfrm>
            <a:off x="6446520" y="2971800"/>
            <a:ext cx="2103120" cy="320040"/>
          </a:xfrm>
          <a:prstGeom prst="rect">
            <a:avLst/>
          </a:prstGeom>
          <a:noFill/>
          <a:ln/>
        </p:spPr>
        <p:txBody>
          <a:bodyPr wrap="square" lIns="0" tIns="0" rIns="0" bIns="0" rtlCol="0" anchor="t"/>
          <a:lstStyle/>
          <a:p>
            <a:pPr indent="0" marL="0">
              <a:buNone/>
            </a:pPr>
            <a:r>
              <a:rPr lang="en-US" sz="1200" dirty="0">
                <a:solidFill>
                  <a:schemeClr val="accent6"/>
                </a:solidFill>
              </a:rPr>
              <a:t>Databricks Labs · v0.8, no SLA</a:t>
            </a:r>
            <a:endParaRPr lang="en-US" sz="1200" dirty="0"/>
          </a:p>
        </p:txBody>
      </p:sp>
      <p:sp>
        <p:nvSpPr>
          <p:cNvPr id="24" name="txt_107"/>
          <p:cNvSpPr txBox="1"/>
          <p:nvPr/>
        </p:nvSpPr>
        <p:spPr>
          <a:xfrm>
            <a:off x="6446520" y="3429000"/>
            <a:ext cx="210312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WHERE MEANING LIVES</a:t>
            </a:r>
            <a:endParaRPr lang="en-US" sz="1100" dirty="0"/>
          </a:p>
        </p:txBody>
      </p:sp>
      <p:sp>
        <p:nvSpPr>
          <p:cNvPr id="25" name="txt_108"/>
          <p:cNvSpPr txBox="1"/>
          <p:nvPr/>
        </p:nvSpPr>
        <p:spPr>
          <a:xfrm>
            <a:off x="6446520" y="3703320"/>
            <a:ext cx="2103120" cy="868680"/>
          </a:xfrm>
          <a:prstGeom prst="rect">
            <a:avLst/>
          </a:prstGeom>
          <a:noFill/>
          <a:ln/>
        </p:spPr>
        <p:txBody>
          <a:bodyPr wrap="square" lIns="0" tIns="0" rIns="0" bIns="0" rtlCol="0" anchor="t"/>
          <a:lstStyle/>
          <a:p>
            <a:pPr indent="0" marL="0">
              <a:buNone/>
            </a:pPr>
            <a:r>
              <a:rPr lang="en-US" sz="1500" b="1" dirty="0">
                <a:solidFill>
                  <a:schemeClr val="tx1"/>
                </a:solidFill>
              </a:rPr>
              <a:t>A formal OWL model and a materialised knowledge graph</a:t>
            </a:r>
            <a:endParaRPr lang="en-US" sz="1500" dirty="0"/>
          </a:p>
        </p:txBody>
      </p:sp>
      <p:sp>
        <p:nvSpPr>
          <p:cNvPr id="26" name="txt_109"/>
          <p:cNvSpPr txBox="1"/>
          <p:nvPr/>
        </p:nvSpPr>
        <p:spPr>
          <a:xfrm>
            <a:off x="6446520" y="4663440"/>
            <a:ext cx="2103120" cy="1325880"/>
          </a:xfrm>
          <a:prstGeom prst="rect">
            <a:avLst/>
          </a:prstGeom>
          <a:noFill/>
          <a:ln/>
        </p:spPr>
        <p:txBody>
          <a:bodyPr wrap="square" lIns="0" tIns="0" rIns="0" bIns="0" rtlCol="0" anchor="t"/>
          <a:lstStyle/>
          <a:p>
            <a:pPr indent="0" marL="0">
              <a:buNone/>
            </a:pPr>
            <a:r>
              <a:rPr lang="en-US" sz="1400" dirty="0">
                <a:solidFill>
                  <a:schemeClr val="tx1"/>
                </a:solidFill>
              </a:rPr>
              <a:t>Visual and AI-assisted design, CDISC import, R2RML mapping, reasoning, GraphQL and MCP.</a:t>
            </a:r>
            <a:endParaRPr lang="en-US" sz="1400" dirty="0"/>
          </a:p>
        </p:txBody>
      </p:sp>
      <p:sp>
        <p:nvSpPr>
          <p:cNvPr id="27" name="card_110"/>
          <p:cNvSpPr/>
          <p:nvPr/>
        </p:nvSpPr>
        <p:spPr>
          <a:xfrm>
            <a:off x="9052560" y="1417320"/>
            <a:ext cx="2560320" cy="4754880"/>
          </a:xfrm>
          <a:prstGeom prst="roundRect">
            <a:avLst>
              <a:gd name="adj" fmla="val 2857"/>
            </a:avLst>
          </a:prstGeom>
          <a:solidFill>
            <a:schemeClr val="bg2"/>
          </a:solidFill>
          <a:ln w="12700">
            <a:solidFill>
              <a:schemeClr val="bg2"/>
            </a:solidFill>
            <a:prstDash val="solid"/>
          </a:ln>
        </p:spPr>
      </p:sp>
      <p:sp>
        <p:nvSpPr>
          <p:cNvPr id="28" name="node_111"/>
          <p:cNvSpPr/>
          <p:nvPr/>
        </p:nvSpPr>
        <p:spPr>
          <a:xfrm>
            <a:off x="9281160" y="1691640"/>
            <a:ext cx="731520" cy="731520"/>
          </a:xfrm>
          <a:prstGeom prst="ellipse">
            <a:avLst/>
          </a:prstGeom>
          <a:solidFill>
            <a:schemeClr val="accent4"/>
          </a:solidFill>
          <a:ln w="12700">
            <a:solidFill>
              <a:schemeClr val="accent4"/>
            </a:solidFill>
            <a:prstDash val="solid"/>
          </a:ln>
        </p:spPr>
      </p:sp>
      <p:pic>
        <p:nvPicPr>
          <p:cNvPr id="29" name="icon_112" descr="preencoded.png">    </p:cNvPr>
          <p:cNvPicPr>
            <a:picLocks noChangeAspect="1"/>
          </p:cNvPicPr>
          <p:nvPr/>
        </p:nvPicPr>
        <p:blipFill>
          <a:blip r:embed="rId4"/>
          <a:stretch>
            <a:fillRect/>
          </a:stretch>
        </p:blipFill>
        <p:spPr>
          <a:xfrm>
            <a:off x="9456725" y="1867205"/>
            <a:ext cx="380390" cy="380390"/>
          </a:xfrm>
          <a:prstGeom prst="rect">
            <a:avLst/>
          </a:prstGeom>
        </p:spPr>
      </p:pic>
      <p:sp>
        <p:nvSpPr>
          <p:cNvPr id="30" name="txt_113"/>
          <p:cNvSpPr txBox="1"/>
          <p:nvPr/>
        </p:nvSpPr>
        <p:spPr>
          <a:xfrm>
            <a:off x="9281160" y="25603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Ontop</a:t>
            </a:r>
            <a:endParaRPr lang="en-US" sz="2000" dirty="0"/>
          </a:p>
        </p:txBody>
      </p:sp>
      <p:sp>
        <p:nvSpPr>
          <p:cNvPr id="31" name="txt_114"/>
          <p:cNvSpPr txBox="1"/>
          <p:nvPr/>
        </p:nvSpPr>
        <p:spPr>
          <a:xfrm>
            <a:off x="9281160" y="2971800"/>
            <a:ext cx="2103120" cy="320040"/>
          </a:xfrm>
          <a:prstGeom prst="rect">
            <a:avLst/>
          </a:prstGeom>
          <a:noFill/>
          <a:ln/>
        </p:spPr>
        <p:txBody>
          <a:bodyPr wrap="square" lIns="0" tIns="0" rIns="0" bIns="0" rtlCol="0" anchor="t"/>
          <a:lstStyle/>
          <a:p>
            <a:pPr indent="0" marL="0">
              <a:buNone/>
            </a:pPr>
            <a:r>
              <a:rPr lang="en-US" sz="1200" dirty="0">
                <a:solidFill>
                  <a:schemeClr val="accent6"/>
                </a:solidFill>
              </a:rPr>
              <a:t>Open source · Apache 2.0</a:t>
            </a:r>
            <a:endParaRPr lang="en-US" sz="1200" dirty="0"/>
          </a:p>
        </p:txBody>
      </p:sp>
      <p:sp>
        <p:nvSpPr>
          <p:cNvPr id="32" name="txt_115"/>
          <p:cNvSpPr txBox="1"/>
          <p:nvPr/>
        </p:nvSpPr>
        <p:spPr>
          <a:xfrm>
            <a:off x="9281160" y="3429000"/>
            <a:ext cx="210312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WHERE MEANING LIVES</a:t>
            </a:r>
            <a:endParaRPr lang="en-US" sz="1100" dirty="0"/>
          </a:p>
        </p:txBody>
      </p:sp>
      <p:sp>
        <p:nvSpPr>
          <p:cNvPr id="33" name="txt_116"/>
          <p:cNvSpPr txBox="1"/>
          <p:nvPr/>
        </p:nvSpPr>
        <p:spPr>
          <a:xfrm>
            <a:off x="9281160" y="3703320"/>
            <a:ext cx="2103120" cy="868680"/>
          </a:xfrm>
          <a:prstGeom prst="rect">
            <a:avLst/>
          </a:prstGeom>
          <a:noFill/>
          <a:ln/>
        </p:spPr>
        <p:txBody>
          <a:bodyPr wrap="square" lIns="0" tIns="0" rIns="0" bIns="0" rtlCol="0" anchor="t"/>
          <a:lstStyle/>
          <a:p>
            <a:pPr indent="0" marL="0">
              <a:buNone/>
            </a:pPr>
            <a:r>
              <a:rPr lang="en-US" sz="1500" b="1" dirty="0">
                <a:solidFill>
                  <a:schemeClr val="tx1"/>
                </a:solidFill>
              </a:rPr>
              <a:t>Ontology and mappings applied at query time</a:t>
            </a:r>
            <a:endParaRPr lang="en-US" sz="1500" dirty="0"/>
          </a:p>
        </p:txBody>
      </p:sp>
      <p:sp>
        <p:nvSpPr>
          <p:cNvPr id="34" name="txt_117"/>
          <p:cNvSpPr txBox="1"/>
          <p:nvPr/>
        </p:nvSpPr>
        <p:spPr>
          <a:xfrm>
            <a:off x="9281160" y="4663440"/>
            <a:ext cx="2103120" cy="1325880"/>
          </a:xfrm>
          <a:prstGeom prst="rect">
            <a:avLst/>
          </a:prstGeom>
          <a:noFill/>
          <a:ln/>
        </p:spPr>
        <p:txBody>
          <a:bodyPr wrap="square" lIns="0" tIns="0" rIns="0" bIns="0" rtlCol="0" anchor="t"/>
          <a:lstStyle/>
          <a:p>
            <a:pPr indent="0" marL="0">
              <a:buNone/>
            </a:pPr>
            <a:r>
              <a:rPr lang="en-US" sz="1400" dirty="0">
                <a:solidFill>
                  <a:schemeClr val="tx1"/>
                </a:solidFill>
              </a:rPr>
              <a:t>Rewrites SPARQL into SQL on a Databricks SQL warehouse. No data is copied.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Genie Ontology: native context for AI</a:t>
            </a:r>
            <a:endParaRPr lang="en-US" sz="3600" dirty="0"/>
          </a:p>
        </p:txBody>
      </p:sp>
      <p:pic>
        <p:nvPicPr>
          <p:cNvPr id="3" name="secicon_118" descr="preencoded.png">    </p:cNvPr>
          <p:cNvPicPr>
            <a:picLocks noChangeAspect="1"/>
          </p:cNvPicPr>
          <p:nvPr/>
        </p:nvPicPr>
        <p:blipFill>
          <a:blip r:embed="rId1"/>
          <a:stretch>
            <a:fillRect/>
          </a:stretch>
        </p:blipFill>
        <p:spPr>
          <a:xfrm>
            <a:off x="548640" y="1435608"/>
            <a:ext cx="237744" cy="237744"/>
          </a:xfrm>
          <a:prstGeom prst="rect">
            <a:avLst/>
          </a:prstGeom>
        </p:spPr>
      </p:pic>
      <p:sp>
        <p:nvSpPr>
          <p:cNvPr id="4" name="txt_119"/>
          <p:cNvSpPr txBox="1"/>
          <p:nvPr/>
        </p:nvSpPr>
        <p:spPr>
          <a:xfrm>
            <a:off x="896112" y="14173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KEY POINTS</a:t>
            </a:r>
            <a:endParaRPr lang="en-US" sz="1300" dirty="0"/>
          </a:p>
        </p:txBody>
      </p:sp>
      <p:sp>
        <p:nvSpPr>
          <p:cNvPr id="5" name="bullets_120"/>
          <p:cNvSpPr txBox="1"/>
          <p:nvPr/>
        </p:nvSpPr>
        <p:spPr>
          <a:xfrm>
            <a:off x="548640" y="1764792"/>
            <a:ext cx="4297680"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Uses UC table and column descriptions, tags and keys as its base</a:t>
            </a:r>
            <a:endParaRPr lang="en-US" sz="1400" dirty="0"/>
          </a:p>
          <a:p>
            <a:pPr marL="177800" indent="-177800">
              <a:spcAft>
                <a:spcPts val="500"/>
              </a:spcAft>
              <a:buSzPct val="100000"/>
              <a:buChar char="•"/>
            </a:pPr>
            <a:r>
              <a:rPr lang="en-US" sz="1400" dirty="0">
                <a:solidFill>
                  <a:schemeClr val="tx1"/>
                </a:solidFill>
              </a:rPr>
              <a:t>Adds metric views, domains and Pages, plus context inferred from usage</a:t>
            </a:r>
            <a:endParaRPr lang="en-US" sz="1400" dirty="0"/>
          </a:p>
          <a:p>
            <a:pPr marL="177800" indent="-177800">
              <a:spcAft>
                <a:spcPts val="500"/>
              </a:spcAft>
              <a:buSzPct val="100000"/>
              <a:buChar char="•"/>
            </a:pPr>
            <a:r>
              <a:rPr lang="en-US" sz="1400" dirty="0">
                <a:solidFill>
                  <a:schemeClr val="tx1"/>
                </a:solidFill>
              </a:rPr>
              <a:t>Ranks by authority, usage and freshness; no separate model to deploy</a:t>
            </a:r>
            <a:endParaRPr lang="en-US" sz="1400" dirty="0"/>
          </a:p>
        </p:txBody>
      </p:sp>
      <p:pic>
        <p:nvPicPr>
          <p:cNvPr id="6" name="secicon_121" descr="preencoded.png">    </p:cNvPr>
          <p:cNvPicPr>
            <a:picLocks noChangeAspect="1"/>
          </p:cNvPicPr>
          <p:nvPr/>
        </p:nvPicPr>
        <p:blipFill>
          <a:blip r:embed="rId2"/>
          <a:stretch>
            <a:fillRect/>
          </a:stretch>
        </p:blipFill>
        <p:spPr>
          <a:xfrm>
            <a:off x="548640" y="3493008"/>
            <a:ext cx="237744" cy="237744"/>
          </a:xfrm>
          <a:prstGeom prst="rect">
            <a:avLst/>
          </a:prstGeom>
        </p:spPr>
      </p:pic>
      <p:sp>
        <p:nvSpPr>
          <p:cNvPr id="7" name="txt_122"/>
          <p:cNvSpPr txBox="1"/>
          <p:nvPr/>
        </p:nvSpPr>
        <p:spPr>
          <a:xfrm>
            <a:off x="896112" y="34747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GOTCHAS</a:t>
            </a:r>
            <a:endParaRPr lang="en-US" sz="1300" dirty="0"/>
          </a:p>
        </p:txBody>
      </p:sp>
      <p:sp>
        <p:nvSpPr>
          <p:cNvPr id="8" name="bullets_123"/>
          <p:cNvSpPr txBox="1"/>
          <p:nvPr/>
        </p:nvSpPr>
        <p:spPr>
          <a:xfrm>
            <a:off x="548640" y="3822192"/>
            <a:ext cx="4297680" cy="10241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 formal model to inspect, export or version; you only see citations</a:t>
            </a:r>
            <a:endParaRPr lang="en-US" sz="1400" dirty="0"/>
          </a:p>
          <a:p>
            <a:pPr marL="177800" indent="-177800">
              <a:spcAft>
                <a:spcPts val="500"/>
              </a:spcAft>
              <a:buSzPct val="100000"/>
              <a:buChar char="•"/>
            </a:pPr>
            <a:r>
              <a:rPr lang="en-US" sz="1400" dirty="0">
                <a:solidFill>
                  <a:schemeClr val="tx1"/>
                </a:solidFill>
              </a:rPr>
              <a:t>Quality depends on curated metadata: descriptions, metric views and Pages</a:t>
            </a:r>
            <a:endParaRPr lang="en-US" sz="1400" dirty="0"/>
          </a:p>
        </p:txBody>
      </p:sp>
      <p:pic>
        <p:nvPicPr>
          <p:cNvPr id="9" name="secicon_124" descr="preencoded.png">    </p:cNvPr>
          <p:cNvPicPr>
            <a:picLocks noChangeAspect="1"/>
          </p:cNvPicPr>
          <p:nvPr/>
        </p:nvPicPr>
        <p:blipFill>
          <a:blip r:embed="rId3"/>
          <a:stretch>
            <a:fillRect/>
          </a:stretch>
        </p:blipFill>
        <p:spPr>
          <a:xfrm>
            <a:off x="548640" y="5001768"/>
            <a:ext cx="237744" cy="237744"/>
          </a:xfrm>
          <a:prstGeom prst="rect">
            <a:avLst/>
          </a:prstGeom>
        </p:spPr>
      </p:pic>
      <p:sp>
        <p:nvSpPr>
          <p:cNvPr id="10" name="txt_125"/>
          <p:cNvSpPr txBox="1"/>
          <p:nvPr/>
        </p:nvSpPr>
        <p:spPr>
          <a:xfrm>
            <a:off x="896112" y="49834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RED FLAGS</a:t>
            </a:r>
            <a:endParaRPr lang="en-US" sz="1300" dirty="0"/>
          </a:p>
        </p:txBody>
      </p:sp>
      <p:sp>
        <p:nvSpPr>
          <p:cNvPr id="11" name="bullets_126"/>
          <p:cNvSpPr txBox="1"/>
          <p:nvPr/>
        </p:nvSpPr>
        <p:spPr>
          <a:xfrm>
            <a:off x="548640" y="5330952"/>
            <a:ext cx="4297680"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Public Preview: behaviour and pricing can still change</a:t>
            </a:r>
            <a:endParaRPr lang="en-US" sz="1400" dirty="0"/>
          </a:p>
          <a:p>
            <a:pPr marL="177800" indent="-177800">
              <a:spcAft>
                <a:spcPts val="500"/>
              </a:spcAft>
              <a:buSzPct val="100000"/>
              <a:buChar char="•"/>
            </a:pPr>
            <a:r>
              <a:rPr lang="en-US" sz="1400" dirty="0">
                <a:solidFill>
                  <a:schemeClr val="tx1"/>
                </a:solidFill>
              </a:rPr>
              <a:t>No SPARQL, explicit mappings or reasoning for CDISC or OMOP semantics</a:t>
            </a:r>
            <a:endParaRPr lang="en-US" sz="1400" dirty="0"/>
          </a:p>
        </p:txBody>
      </p:sp>
      <p:sp>
        <p:nvSpPr>
          <p:cNvPr id="12" name="txt_127"/>
          <p:cNvSpPr txBox="1"/>
          <p:nvPr/>
        </p:nvSpPr>
        <p:spPr>
          <a:xfrm>
            <a:off x="6172200" y="1371600"/>
            <a:ext cx="29718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QUERY PATH  ·  USER ACCESS</a:t>
            </a:r>
            <a:endParaRPr lang="en-US" sz="1100" dirty="0"/>
          </a:p>
        </p:txBody>
      </p:sp>
      <p:sp>
        <p:nvSpPr>
          <p:cNvPr id="13" name="txt_128"/>
          <p:cNvSpPr txBox="1"/>
          <p:nvPr/>
        </p:nvSpPr>
        <p:spPr>
          <a:xfrm>
            <a:off x="9464040" y="1371600"/>
            <a:ext cx="210312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BUILD  ·  DATA FLOW</a:t>
            </a:r>
            <a:endParaRPr lang="en-US" sz="1100" dirty="0"/>
          </a:p>
        </p:txBody>
      </p:sp>
      <p:sp>
        <p:nvSpPr>
          <p:cNvPr id="14" name="lane_129"/>
          <p:cNvSpPr/>
          <p:nvPr/>
        </p:nvSpPr>
        <p:spPr>
          <a:xfrm>
            <a:off x="5120640" y="1719072"/>
            <a:ext cx="6492240" cy="621792"/>
          </a:xfrm>
          <a:prstGeom prst="roundRect">
            <a:avLst>
              <a:gd name="adj" fmla="val 8824"/>
            </a:avLst>
          </a:prstGeom>
          <a:solidFill>
            <a:schemeClr val="bg2"/>
          </a:solidFill>
          <a:ln w="12700">
            <a:solidFill>
              <a:schemeClr val="bg2"/>
            </a:solidFill>
            <a:prstDash val="solid"/>
          </a:ln>
        </p:spPr>
      </p:sp>
      <p:sp>
        <p:nvSpPr>
          <p:cNvPr id="15" name="txt_130"/>
          <p:cNvSpPr txBox="1"/>
          <p:nvPr/>
        </p:nvSpPr>
        <p:spPr>
          <a:xfrm>
            <a:off x="5230368" y="17190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WHO ASKS</a:t>
            </a:r>
            <a:endParaRPr lang="en-US" sz="1000" dirty="0"/>
          </a:p>
        </p:txBody>
      </p:sp>
      <p:sp>
        <p:nvSpPr>
          <p:cNvPr id="16" name="lane_131"/>
          <p:cNvSpPr/>
          <p:nvPr/>
        </p:nvSpPr>
        <p:spPr>
          <a:xfrm>
            <a:off x="5120640" y="2450592"/>
            <a:ext cx="6492240" cy="621792"/>
          </a:xfrm>
          <a:prstGeom prst="roundRect">
            <a:avLst>
              <a:gd name="adj" fmla="val 8824"/>
            </a:avLst>
          </a:prstGeom>
          <a:solidFill>
            <a:schemeClr val="bg2"/>
          </a:solidFill>
          <a:ln w="12700">
            <a:solidFill>
              <a:schemeClr val="bg2"/>
            </a:solidFill>
            <a:prstDash val="solid"/>
          </a:ln>
        </p:spPr>
      </p:sp>
      <p:sp>
        <p:nvSpPr>
          <p:cNvPr id="17" name="txt_132"/>
          <p:cNvSpPr txBox="1"/>
          <p:nvPr/>
        </p:nvSpPr>
        <p:spPr>
          <a:xfrm>
            <a:off x="5230368" y="245059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INTERFACE</a:t>
            </a:r>
            <a:endParaRPr lang="en-US" sz="1000" dirty="0"/>
          </a:p>
        </p:txBody>
      </p:sp>
      <p:sp>
        <p:nvSpPr>
          <p:cNvPr id="18" name="lane_133"/>
          <p:cNvSpPr/>
          <p:nvPr/>
        </p:nvSpPr>
        <p:spPr>
          <a:xfrm>
            <a:off x="5120640" y="3182112"/>
            <a:ext cx="6492240" cy="621792"/>
          </a:xfrm>
          <a:prstGeom prst="roundRect">
            <a:avLst>
              <a:gd name="adj" fmla="val 8824"/>
            </a:avLst>
          </a:prstGeom>
          <a:solidFill>
            <a:schemeClr val="bg2"/>
          </a:solidFill>
          <a:ln w="12700">
            <a:solidFill>
              <a:schemeClr val="bg2"/>
            </a:solidFill>
            <a:prstDash val="solid"/>
          </a:ln>
        </p:spPr>
      </p:sp>
      <p:sp>
        <p:nvSpPr>
          <p:cNvPr id="19" name="txt_134"/>
          <p:cNvSpPr txBox="1"/>
          <p:nvPr/>
        </p:nvSpPr>
        <p:spPr>
          <a:xfrm>
            <a:off x="5230368" y="318211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MEANING</a:t>
            </a:r>
            <a:endParaRPr lang="en-US" sz="1000" dirty="0"/>
          </a:p>
        </p:txBody>
      </p:sp>
      <p:sp>
        <p:nvSpPr>
          <p:cNvPr id="20" name="lane_135"/>
          <p:cNvSpPr/>
          <p:nvPr/>
        </p:nvSpPr>
        <p:spPr>
          <a:xfrm>
            <a:off x="5120640" y="3913632"/>
            <a:ext cx="6492240" cy="621792"/>
          </a:xfrm>
          <a:prstGeom prst="roundRect">
            <a:avLst>
              <a:gd name="adj" fmla="val 8824"/>
            </a:avLst>
          </a:prstGeom>
          <a:solidFill>
            <a:schemeClr val="bg2"/>
          </a:solidFill>
          <a:ln w="12700">
            <a:solidFill>
              <a:schemeClr val="bg2"/>
            </a:solidFill>
            <a:prstDash val="solid"/>
          </a:ln>
        </p:spPr>
      </p:sp>
      <p:sp>
        <p:nvSpPr>
          <p:cNvPr id="21" name="txt_136"/>
          <p:cNvSpPr txBox="1"/>
          <p:nvPr/>
        </p:nvSpPr>
        <p:spPr>
          <a:xfrm>
            <a:off x="5230368" y="391363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EXECUTION</a:t>
            </a:r>
            <a:endParaRPr lang="en-US" sz="1000" dirty="0"/>
          </a:p>
        </p:txBody>
      </p:sp>
      <p:sp>
        <p:nvSpPr>
          <p:cNvPr id="22" name="lane_137"/>
          <p:cNvSpPr/>
          <p:nvPr/>
        </p:nvSpPr>
        <p:spPr>
          <a:xfrm>
            <a:off x="5120640" y="4645152"/>
            <a:ext cx="6492240" cy="621792"/>
          </a:xfrm>
          <a:prstGeom prst="roundRect">
            <a:avLst>
              <a:gd name="adj" fmla="val 8824"/>
            </a:avLst>
          </a:prstGeom>
          <a:solidFill>
            <a:schemeClr val="bg2"/>
          </a:solidFill>
          <a:ln w="12700">
            <a:solidFill>
              <a:schemeClr val="bg2"/>
            </a:solidFill>
            <a:prstDash val="solid"/>
          </a:ln>
        </p:spPr>
      </p:sp>
      <p:sp>
        <p:nvSpPr>
          <p:cNvPr id="23" name="txt_138"/>
          <p:cNvSpPr txBox="1"/>
          <p:nvPr/>
        </p:nvSpPr>
        <p:spPr>
          <a:xfrm>
            <a:off x="5230368" y="464515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ACCESS CHECK</a:t>
            </a:r>
            <a:endParaRPr lang="en-US" sz="1000" dirty="0"/>
          </a:p>
        </p:txBody>
      </p:sp>
      <p:sp>
        <p:nvSpPr>
          <p:cNvPr id="24" name="lane_139"/>
          <p:cNvSpPr/>
          <p:nvPr/>
        </p:nvSpPr>
        <p:spPr>
          <a:xfrm>
            <a:off x="5120640" y="5376672"/>
            <a:ext cx="6492240" cy="621792"/>
          </a:xfrm>
          <a:prstGeom prst="roundRect">
            <a:avLst>
              <a:gd name="adj" fmla="val 8824"/>
            </a:avLst>
          </a:prstGeom>
          <a:solidFill>
            <a:schemeClr val="bg2"/>
          </a:solidFill>
          <a:ln w="12700">
            <a:solidFill>
              <a:schemeClr val="bg2"/>
            </a:solidFill>
            <a:prstDash val="solid"/>
          </a:ln>
        </p:spPr>
      </p:sp>
      <p:sp>
        <p:nvSpPr>
          <p:cNvPr id="25" name="txt_140"/>
          <p:cNvSpPr txBox="1"/>
          <p:nvPr/>
        </p:nvSpPr>
        <p:spPr>
          <a:xfrm>
            <a:off x="5230368" y="53766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DATA</a:t>
            </a:r>
            <a:endParaRPr lang="en-US" sz="1000" dirty="0"/>
          </a:p>
        </p:txBody>
      </p:sp>
      <p:sp>
        <p:nvSpPr>
          <p:cNvPr id="26" name="flowbox_141"/>
          <p:cNvSpPr/>
          <p:nvPr/>
        </p:nvSpPr>
        <p:spPr>
          <a:xfrm>
            <a:off x="6172200" y="1764792"/>
            <a:ext cx="2971800" cy="530352"/>
          </a:xfrm>
          <a:prstGeom prst="roundRect">
            <a:avLst>
              <a:gd name="adj" fmla="val 10345"/>
            </a:avLst>
          </a:prstGeom>
          <a:solidFill>
            <a:schemeClr val="bg1"/>
          </a:solidFill>
          <a:ln w="12700">
            <a:solidFill>
              <a:schemeClr val="accent6"/>
            </a:solidFill>
            <a:prstDash val="solid"/>
          </a:ln>
        </p:spPr>
      </p:sp>
      <p:sp>
        <p:nvSpPr>
          <p:cNvPr id="27" name="txt_142"/>
          <p:cNvSpPr txBox="1"/>
          <p:nvPr/>
        </p:nvSpPr>
        <p:spPr>
          <a:xfrm>
            <a:off x="6281928" y="1764792"/>
            <a:ext cx="2752344" cy="530352"/>
          </a:xfrm>
          <a:prstGeom prst="rect">
            <a:avLst/>
          </a:prstGeom>
          <a:noFill/>
          <a:ln/>
        </p:spPr>
        <p:txBody>
          <a:bodyPr wrap="square" lIns="0" tIns="0" rIns="0" bIns="0" rtlCol="0" anchor="ctr"/>
          <a:lstStyle/>
          <a:p>
            <a:pPr indent="0" marL="0">
              <a:buNone/>
            </a:pPr>
            <a:r>
              <a:rPr lang="en-US" sz="1200" dirty="0">
                <a:solidFill>
                  <a:schemeClr val="tx1"/>
                </a:solidFill>
              </a:rPr>
              <a:t>Business user in Genie One, Slack or Teams</a:t>
            </a:r>
            <a:endParaRPr lang="en-US" sz="1200" dirty="0"/>
          </a:p>
        </p:txBody>
      </p:sp>
      <p:sp>
        <p:nvSpPr>
          <p:cNvPr id="28" name="flowbox_143"/>
          <p:cNvSpPr/>
          <p:nvPr/>
        </p:nvSpPr>
        <p:spPr>
          <a:xfrm>
            <a:off x="6172200" y="2496312"/>
            <a:ext cx="2971800" cy="530352"/>
          </a:xfrm>
          <a:prstGeom prst="roundRect">
            <a:avLst>
              <a:gd name="adj" fmla="val 10345"/>
            </a:avLst>
          </a:prstGeom>
          <a:solidFill>
            <a:schemeClr val="accent1"/>
          </a:solidFill>
          <a:ln w="12700">
            <a:solidFill>
              <a:schemeClr val="accent1"/>
            </a:solidFill>
            <a:prstDash val="solid"/>
          </a:ln>
        </p:spPr>
      </p:sp>
      <p:sp>
        <p:nvSpPr>
          <p:cNvPr id="29" name="txt_144"/>
          <p:cNvSpPr txBox="1"/>
          <p:nvPr/>
        </p:nvSpPr>
        <p:spPr>
          <a:xfrm>
            <a:off x="6281928" y="249631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Natural language: Genie One, Genie Code, MCP app</a:t>
            </a:r>
            <a:endParaRPr lang="en-US" sz="1200" dirty="0"/>
          </a:p>
        </p:txBody>
      </p:sp>
      <p:sp>
        <p:nvSpPr>
          <p:cNvPr id="30" name="flowbox_145"/>
          <p:cNvSpPr/>
          <p:nvPr/>
        </p:nvSpPr>
        <p:spPr>
          <a:xfrm>
            <a:off x="6172200" y="3227832"/>
            <a:ext cx="2971800" cy="530352"/>
          </a:xfrm>
          <a:prstGeom prst="roundRect">
            <a:avLst>
              <a:gd name="adj" fmla="val 10345"/>
            </a:avLst>
          </a:prstGeom>
          <a:solidFill>
            <a:schemeClr val="accent1"/>
          </a:solidFill>
          <a:ln w="12700">
            <a:solidFill>
              <a:schemeClr val="accent1"/>
            </a:solidFill>
            <a:prstDash val="solid"/>
          </a:ln>
        </p:spPr>
      </p:sp>
      <p:sp>
        <p:nvSpPr>
          <p:cNvPr id="31" name="txt_146"/>
          <p:cNvSpPr txBox="1"/>
          <p:nvPr/>
        </p:nvSpPr>
        <p:spPr>
          <a:xfrm>
            <a:off x="6281928" y="322783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Genie Ontology: learned context graph</a:t>
            </a:r>
            <a:endParaRPr lang="en-US" sz="1200" dirty="0"/>
          </a:p>
        </p:txBody>
      </p:sp>
      <p:sp>
        <p:nvSpPr>
          <p:cNvPr id="32" name="flowbox_147"/>
          <p:cNvSpPr/>
          <p:nvPr/>
        </p:nvSpPr>
        <p:spPr>
          <a:xfrm>
            <a:off x="6172200" y="3959352"/>
            <a:ext cx="2971800" cy="530352"/>
          </a:xfrm>
          <a:prstGeom prst="roundRect">
            <a:avLst>
              <a:gd name="adj" fmla="val 10345"/>
            </a:avLst>
          </a:prstGeom>
          <a:solidFill>
            <a:schemeClr val="bg1"/>
          </a:solidFill>
          <a:ln w="12700">
            <a:solidFill>
              <a:schemeClr val="accent6"/>
            </a:solidFill>
            <a:prstDash val="solid"/>
          </a:ln>
        </p:spPr>
      </p:sp>
      <p:sp>
        <p:nvSpPr>
          <p:cNvPr id="33" name="txt_148"/>
          <p:cNvSpPr txBox="1"/>
          <p:nvPr/>
        </p:nvSpPr>
        <p:spPr>
          <a:xfrm>
            <a:off x="6281928" y="3959352"/>
            <a:ext cx="2752344" cy="530352"/>
          </a:xfrm>
          <a:prstGeom prst="rect">
            <a:avLst/>
          </a:prstGeom>
          <a:noFill/>
          <a:ln/>
        </p:spPr>
        <p:txBody>
          <a:bodyPr wrap="square" lIns="0" tIns="0" rIns="0" bIns="0" rtlCol="0" anchor="ctr"/>
          <a:lstStyle/>
          <a:p>
            <a:pPr indent="0" marL="0">
              <a:buNone/>
            </a:pPr>
            <a:r>
              <a:rPr lang="en-US" sz="1200" dirty="0">
                <a:solidFill>
                  <a:schemeClr val="tx1"/>
                </a:solidFill>
              </a:rPr>
              <a:t>Generated SQL on a SQL warehouse</a:t>
            </a:r>
            <a:endParaRPr lang="en-US" sz="1200" dirty="0"/>
          </a:p>
        </p:txBody>
      </p:sp>
      <p:sp>
        <p:nvSpPr>
          <p:cNvPr id="34" name="access_149"/>
          <p:cNvSpPr/>
          <p:nvPr/>
        </p:nvSpPr>
        <p:spPr>
          <a:xfrm>
            <a:off x="6172200" y="4690872"/>
            <a:ext cx="2971800" cy="530352"/>
          </a:xfrm>
          <a:prstGeom prst="roundRect">
            <a:avLst>
              <a:gd name="adj" fmla="val 10345"/>
            </a:avLst>
          </a:prstGeom>
          <a:solidFill>
            <a:schemeClr val="bg1"/>
          </a:solidFill>
          <a:ln w="22225">
            <a:solidFill>
              <a:schemeClr val="accent1"/>
            </a:solidFill>
            <a:prstDash val="solid"/>
          </a:ln>
        </p:spPr>
      </p:sp>
      <p:pic>
        <p:nvPicPr>
          <p:cNvPr id="35" name="accessicon_150" descr="preencoded.png">    </p:cNvPr>
          <p:cNvPicPr>
            <a:picLocks noChangeAspect="1"/>
          </p:cNvPicPr>
          <p:nvPr/>
        </p:nvPicPr>
        <p:blipFill>
          <a:blip r:embed="rId4"/>
          <a:stretch>
            <a:fillRect/>
          </a:stretch>
        </p:blipFill>
        <p:spPr>
          <a:xfrm>
            <a:off x="6300216" y="4818888"/>
            <a:ext cx="274320" cy="274320"/>
          </a:xfrm>
          <a:prstGeom prst="rect">
            <a:avLst/>
          </a:prstGeom>
        </p:spPr>
      </p:pic>
      <p:sp>
        <p:nvSpPr>
          <p:cNvPr id="36" name="txt_151"/>
          <p:cNvSpPr txBox="1"/>
          <p:nvPr/>
        </p:nvSpPr>
        <p:spPr>
          <a:xfrm>
            <a:off x="6675120" y="4690872"/>
            <a:ext cx="2377440" cy="530352"/>
          </a:xfrm>
          <a:prstGeom prst="rect">
            <a:avLst/>
          </a:prstGeom>
          <a:noFill/>
          <a:ln/>
        </p:spPr>
        <p:txBody>
          <a:bodyPr wrap="square" lIns="0" tIns="0" rIns="0" bIns="0" rtlCol="0" anchor="ctr"/>
          <a:lstStyle/>
          <a:p>
            <a:pPr indent="0" marL="0">
              <a:buNone/>
            </a:pPr>
            <a:r>
              <a:rPr lang="en-US" sz="1200" b="1" dirty="0">
                <a:solidFill>
                  <a:schemeClr val="accent1"/>
                </a:solidFill>
              </a:rPr>
              <a:t>UC sees the end user</a:t>
            </a:r>
            <a:endParaRPr lang="en-US" sz="1200" dirty="0"/>
          </a:p>
        </p:txBody>
      </p:sp>
      <p:sp>
        <p:nvSpPr>
          <p:cNvPr id="37" name="flowbox_152"/>
          <p:cNvSpPr/>
          <p:nvPr/>
        </p:nvSpPr>
        <p:spPr>
          <a:xfrm>
            <a:off x="6172200" y="5422392"/>
            <a:ext cx="2971800" cy="530352"/>
          </a:xfrm>
          <a:prstGeom prst="roundRect">
            <a:avLst>
              <a:gd name="adj" fmla="val 10345"/>
            </a:avLst>
          </a:prstGeom>
          <a:solidFill>
            <a:schemeClr val="tx2"/>
          </a:solidFill>
          <a:ln w="12700">
            <a:solidFill>
              <a:schemeClr val="tx2"/>
            </a:solidFill>
            <a:prstDash val="solid"/>
          </a:ln>
        </p:spPr>
      </p:sp>
      <p:sp>
        <p:nvSpPr>
          <p:cNvPr id="38" name="txt_153"/>
          <p:cNvSpPr txBox="1"/>
          <p:nvPr/>
        </p:nvSpPr>
        <p:spPr>
          <a:xfrm>
            <a:off x="6281928" y="542239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Unity Catalog tables · ABAC row filters and masks</a:t>
            </a:r>
            <a:endParaRPr lang="en-US" sz="1200" dirty="0"/>
          </a:p>
        </p:txBody>
      </p:sp>
      <p:sp>
        <p:nvSpPr>
          <p:cNvPr id="39" name="line_154"/>
          <p:cNvSpPr/>
          <p:nvPr/>
        </p:nvSpPr>
        <p:spPr>
          <a:xfrm>
            <a:off x="7658100" y="2295144"/>
            <a:ext cx="0" cy="201168"/>
          </a:xfrm>
          <a:prstGeom prst="line">
            <a:avLst/>
          </a:prstGeom>
          <a:noFill/>
          <a:ln w="15875">
            <a:solidFill>
              <a:schemeClr val="accent6"/>
            </a:solidFill>
            <a:prstDash val="solid"/>
            <a:tailEnd type="triangle"/>
          </a:ln>
        </p:spPr>
      </p:sp>
      <p:sp>
        <p:nvSpPr>
          <p:cNvPr id="40" name="line_155"/>
          <p:cNvSpPr/>
          <p:nvPr/>
        </p:nvSpPr>
        <p:spPr>
          <a:xfrm>
            <a:off x="7658100" y="3026664"/>
            <a:ext cx="0" cy="201168"/>
          </a:xfrm>
          <a:prstGeom prst="line">
            <a:avLst/>
          </a:prstGeom>
          <a:noFill/>
          <a:ln w="15875">
            <a:solidFill>
              <a:schemeClr val="accent6"/>
            </a:solidFill>
            <a:prstDash val="solid"/>
            <a:tailEnd type="triangle"/>
          </a:ln>
        </p:spPr>
      </p:sp>
      <p:sp>
        <p:nvSpPr>
          <p:cNvPr id="41" name="line_156"/>
          <p:cNvSpPr/>
          <p:nvPr/>
        </p:nvSpPr>
        <p:spPr>
          <a:xfrm>
            <a:off x="7658100" y="3758184"/>
            <a:ext cx="0" cy="201168"/>
          </a:xfrm>
          <a:prstGeom prst="line">
            <a:avLst/>
          </a:prstGeom>
          <a:noFill/>
          <a:ln w="15875">
            <a:solidFill>
              <a:schemeClr val="accent6"/>
            </a:solidFill>
            <a:prstDash val="solid"/>
            <a:tailEnd type="triangle"/>
          </a:ln>
        </p:spPr>
      </p:sp>
      <p:sp>
        <p:nvSpPr>
          <p:cNvPr id="42" name="line_157"/>
          <p:cNvSpPr/>
          <p:nvPr/>
        </p:nvSpPr>
        <p:spPr>
          <a:xfrm>
            <a:off x="7658100" y="4489704"/>
            <a:ext cx="0" cy="201168"/>
          </a:xfrm>
          <a:prstGeom prst="line">
            <a:avLst/>
          </a:prstGeom>
          <a:noFill/>
          <a:ln w="15875">
            <a:solidFill>
              <a:schemeClr val="accent6"/>
            </a:solidFill>
            <a:prstDash val="solid"/>
            <a:tailEnd type="triangle"/>
          </a:ln>
        </p:spPr>
      </p:sp>
      <p:sp>
        <p:nvSpPr>
          <p:cNvPr id="43" name="line_158"/>
          <p:cNvSpPr/>
          <p:nvPr/>
        </p:nvSpPr>
        <p:spPr>
          <a:xfrm>
            <a:off x="7658100" y="5221224"/>
            <a:ext cx="0" cy="201168"/>
          </a:xfrm>
          <a:prstGeom prst="line">
            <a:avLst/>
          </a:prstGeom>
          <a:noFill/>
          <a:ln w="15875">
            <a:solidFill>
              <a:schemeClr val="accent6"/>
            </a:solidFill>
            <a:prstDash val="solid"/>
            <a:tailEnd type="triangle"/>
          </a:ln>
        </p:spPr>
      </p:sp>
      <p:sp>
        <p:nvSpPr>
          <p:cNvPr id="44" name="flowbox_159"/>
          <p:cNvSpPr/>
          <p:nvPr/>
        </p:nvSpPr>
        <p:spPr>
          <a:xfrm>
            <a:off x="9464040" y="2496312"/>
            <a:ext cx="2011680" cy="530352"/>
          </a:xfrm>
          <a:prstGeom prst="roundRect">
            <a:avLst>
              <a:gd name="adj" fmla="val 10345"/>
            </a:avLst>
          </a:prstGeom>
          <a:solidFill>
            <a:schemeClr val="bg1"/>
          </a:solidFill>
          <a:ln w="12700">
            <a:solidFill>
              <a:schemeClr val="accent6"/>
            </a:solidFill>
            <a:prstDash val="solid"/>
          </a:ln>
        </p:spPr>
      </p:sp>
      <p:sp>
        <p:nvSpPr>
          <p:cNvPr id="45" name="txt_160"/>
          <p:cNvSpPr txBox="1"/>
          <p:nvPr/>
        </p:nvSpPr>
        <p:spPr>
          <a:xfrm>
            <a:off x="9573768" y="2496312"/>
            <a:ext cx="1792224" cy="530352"/>
          </a:xfrm>
          <a:prstGeom prst="rect">
            <a:avLst/>
          </a:prstGeom>
          <a:noFill/>
          <a:ln/>
        </p:spPr>
        <p:txBody>
          <a:bodyPr wrap="square" lIns="0" tIns="0" rIns="0" bIns="0" rtlCol="0" anchor="ctr"/>
          <a:lstStyle/>
          <a:p>
            <a:pPr indent="0" marL="0">
              <a:buNone/>
            </a:pPr>
            <a:r>
              <a:rPr lang="en-US" sz="1200" dirty="0">
                <a:solidFill>
                  <a:schemeClr val="tx1"/>
                </a:solidFill>
              </a:rPr>
              <a:t>Curated UC metadata and semantics</a:t>
            </a:r>
            <a:endParaRPr lang="en-US" sz="1200" dirty="0"/>
          </a:p>
        </p:txBody>
      </p:sp>
      <p:sp>
        <p:nvSpPr>
          <p:cNvPr id="46" name="flowbox_161"/>
          <p:cNvSpPr/>
          <p:nvPr/>
        </p:nvSpPr>
        <p:spPr>
          <a:xfrm>
            <a:off x="9464040" y="3227832"/>
            <a:ext cx="2011680" cy="530352"/>
          </a:xfrm>
          <a:prstGeom prst="roundRect">
            <a:avLst>
              <a:gd name="adj" fmla="val 10345"/>
            </a:avLst>
          </a:prstGeom>
          <a:solidFill>
            <a:schemeClr val="accent1"/>
          </a:solidFill>
          <a:ln w="12700">
            <a:solidFill>
              <a:schemeClr val="accent1"/>
            </a:solidFill>
            <a:prstDash val="solid"/>
          </a:ln>
        </p:spPr>
      </p:sp>
      <p:sp>
        <p:nvSpPr>
          <p:cNvPr id="47" name="txt_162"/>
          <p:cNvSpPr txBox="1"/>
          <p:nvPr/>
        </p:nvSpPr>
        <p:spPr>
          <a:xfrm>
            <a:off x="9573768" y="322783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UC metadata, semantics + inferred snippets</a:t>
            </a:r>
            <a:endParaRPr lang="en-US" sz="1200" dirty="0"/>
          </a:p>
        </p:txBody>
      </p:sp>
      <p:sp>
        <p:nvSpPr>
          <p:cNvPr id="48" name="flowbox_163"/>
          <p:cNvSpPr/>
          <p:nvPr/>
        </p:nvSpPr>
        <p:spPr>
          <a:xfrm>
            <a:off x="9464040" y="5422392"/>
            <a:ext cx="2011680" cy="530352"/>
          </a:xfrm>
          <a:prstGeom prst="roundRect">
            <a:avLst>
              <a:gd name="adj" fmla="val 10345"/>
            </a:avLst>
          </a:prstGeom>
          <a:solidFill>
            <a:schemeClr val="bg1"/>
          </a:solidFill>
          <a:ln w="12700">
            <a:solidFill>
              <a:schemeClr val="accent6"/>
            </a:solidFill>
            <a:prstDash val="dash"/>
          </a:ln>
        </p:spPr>
      </p:sp>
      <p:sp>
        <p:nvSpPr>
          <p:cNvPr id="49" name="txt_164"/>
          <p:cNvSpPr txBox="1"/>
          <p:nvPr/>
        </p:nvSpPr>
        <p:spPr>
          <a:xfrm>
            <a:off x="9573768" y="5422392"/>
            <a:ext cx="1792224" cy="530352"/>
          </a:xfrm>
          <a:prstGeom prst="rect">
            <a:avLst/>
          </a:prstGeom>
          <a:noFill/>
          <a:ln/>
        </p:spPr>
        <p:txBody>
          <a:bodyPr wrap="square" lIns="0" tIns="0" rIns="0" bIns="0" rtlCol="0" anchor="ctr"/>
          <a:lstStyle/>
          <a:p>
            <a:pPr indent="0" marL="0">
              <a:buNone/>
            </a:pPr>
            <a:r>
              <a:rPr lang="en-US" sz="1200" i="1" dirty="0">
                <a:solidFill>
                  <a:schemeClr val="accent6"/>
                </a:solidFill>
              </a:rPr>
              <a:t>None: queries live tables</a:t>
            </a:r>
            <a:endParaRPr lang="en-US" sz="1200" dirty="0"/>
          </a:p>
        </p:txBody>
      </p:sp>
      <p:sp>
        <p:nvSpPr>
          <p:cNvPr id="50" name="line_165"/>
          <p:cNvSpPr/>
          <p:nvPr/>
        </p:nvSpPr>
        <p:spPr>
          <a:xfrm>
            <a:off x="10469880" y="3026664"/>
            <a:ext cx="0" cy="201168"/>
          </a:xfrm>
          <a:prstGeom prst="line">
            <a:avLst/>
          </a:prstGeom>
          <a:noFill/>
          <a:ln w="15875">
            <a:solidFill>
              <a:schemeClr val="accent6"/>
            </a:solidFill>
            <a:prstDash val="solid"/>
            <a:tailEnd type="triangle"/>
          </a:ln>
        </p:spPr>
      </p:sp>
      <p:sp>
        <p:nvSpPr>
          <p:cNvPr id="51" name="line_166"/>
          <p:cNvSpPr/>
          <p:nvPr/>
        </p:nvSpPr>
        <p:spPr>
          <a:xfrm>
            <a:off x="9144000" y="3493008"/>
            <a:ext cx="320040" cy="0"/>
          </a:xfrm>
          <a:prstGeom prst="line">
            <a:avLst/>
          </a:prstGeom>
          <a:noFill/>
          <a:ln w="15875">
            <a:solidFill>
              <a:schemeClr val="accent6"/>
            </a:solidFill>
            <a:prstDash val="solid"/>
            <a:headEnd type="triangle"/>
          </a:ln>
        </p:spPr>
      </p:sp>
      <p:sp>
        <p:nvSpPr>
          <p:cNvPr id="52" name="legend_167"/>
          <p:cNvSpPr/>
          <p:nvPr/>
        </p:nvSpPr>
        <p:spPr>
          <a:xfrm>
            <a:off x="5120640" y="6089904"/>
            <a:ext cx="274320" cy="164592"/>
          </a:xfrm>
          <a:prstGeom prst="roundRect">
            <a:avLst>
              <a:gd name="adj" fmla="val 16667"/>
            </a:avLst>
          </a:prstGeom>
          <a:solidFill>
            <a:schemeClr val="accent1"/>
          </a:solidFill>
          <a:ln w="12700">
            <a:solidFill>
              <a:schemeClr val="accent1"/>
            </a:solidFill>
            <a:prstDash val="solid"/>
          </a:ln>
        </p:spPr>
      </p:sp>
      <p:sp>
        <p:nvSpPr>
          <p:cNvPr id="53" name="txt_168"/>
          <p:cNvSpPr txBox="1"/>
          <p:nvPr/>
        </p:nvSpPr>
        <p:spPr>
          <a:xfrm>
            <a:off x="5468112" y="6053328"/>
            <a:ext cx="1097280" cy="237744"/>
          </a:xfrm>
          <a:prstGeom prst="rect">
            <a:avLst/>
          </a:prstGeom>
          <a:noFill/>
          <a:ln/>
        </p:spPr>
        <p:txBody>
          <a:bodyPr wrap="square" lIns="0" tIns="0" rIns="0" bIns="0" rtlCol="0" anchor="ctr"/>
          <a:lstStyle/>
          <a:p>
            <a:pPr indent="0" marL="0">
              <a:buNone/>
            </a:pPr>
            <a:r>
              <a:rPr lang="en-US" sz="1000" dirty="0">
                <a:solidFill>
                  <a:schemeClr val="accent6"/>
                </a:solidFill>
              </a:rPr>
              <a:t>This option</a:t>
            </a:r>
            <a:endParaRPr lang="en-US" sz="1000" dirty="0"/>
          </a:p>
        </p:txBody>
      </p:sp>
      <p:sp>
        <p:nvSpPr>
          <p:cNvPr id="54" name="legend_169"/>
          <p:cNvSpPr/>
          <p:nvPr/>
        </p:nvSpPr>
        <p:spPr>
          <a:xfrm>
            <a:off x="6537960" y="6089904"/>
            <a:ext cx="274320" cy="164592"/>
          </a:xfrm>
          <a:prstGeom prst="roundRect">
            <a:avLst>
              <a:gd name="adj" fmla="val 16667"/>
            </a:avLst>
          </a:prstGeom>
          <a:solidFill>
            <a:schemeClr val="bg1"/>
          </a:solidFill>
          <a:ln w="12700">
            <a:solidFill>
              <a:schemeClr val="accent6"/>
            </a:solidFill>
            <a:prstDash val="solid"/>
          </a:ln>
        </p:spPr>
      </p:sp>
      <p:sp>
        <p:nvSpPr>
          <p:cNvPr id="55" name="txt_170"/>
          <p:cNvSpPr txBox="1"/>
          <p:nvPr/>
        </p:nvSpPr>
        <p:spPr>
          <a:xfrm>
            <a:off x="6885432" y="6053328"/>
            <a:ext cx="1554480" cy="237744"/>
          </a:xfrm>
          <a:prstGeom prst="rect">
            <a:avLst/>
          </a:prstGeom>
          <a:noFill/>
          <a:ln/>
        </p:spPr>
        <p:txBody>
          <a:bodyPr wrap="square" lIns="0" tIns="0" rIns="0" bIns="0" rtlCol="0" anchor="ctr"/>
          <a:lstStyle/>
          <a:p>
            <a:pPr indent="0" marL="0">
              <a:buNone/>
            </a:pPr>
            <a:r>
              <a:rPr lang="en-US" sz="1000" dirty="0">
                <a:solidFill>
                  <a:schemeClr val="accent6"/>
                </a:solidFill>
              </a:rPr>
              <a:t>Platform or other tool</a:t>
            </a:r>
            <a:endParaRPr lang="en-US" sz="1000" dirty="0"/>
          </a:p>
        </p:txBody>
      </p:sp>
      <p:sp>
        <p:nvSpPr>
          <p:cNvPr id="56" name="legend_171"/>
          <p:cNvSpPr/>
          <p:nvPr/>
        </p:nvSpPr>
        <p:spPr>
          <a:xfrm>
            <a:off x="8412480" y="6089904"/>
            <a:ext cx="274320" cy="164592"/>
          </a:xfrm>
          <a:prstGeom prst="roundRect">
            <a:avLst>
              <a:gd name="adj" fmla="val 16667"/>
            </a:avLst>
          </a:prstGeom>
          <a:solidFill>
            <a:schemeClr val="bg1"/>
          </a:solidFill>
          <a:ln w="12700">
            <a:solidFill>
              <a:schemeClr val="accent6"/>
            </a:solidFill>
            <a:prstDash val="dash"/>
          </a:ln>
        </p:spPr>
      </p:sp>
      <p:sp>
        <p:nvSpPr>
          <p:cNvPr id="57" name="txt_172"/>
          <p:cNvSpPr txBox="1"/>
          <p:nvPr/>
        </p:nvSpPr>
        <p:spPr>
          <a:xfrm>
            <a:off x="8759952" y="6053328"/>
            <a:ext cx="1005840" cy="237744"/>
          </a:xfrm>
          <a:prstGeom prst="rect">
            <a:avLst/>
          </a:prstGeom>
          <a:noFill/>
          <a:ln/>
        </p:spPr>
        <p:txBody>
          <a:bodyPr wrap="square" lIns="0" tIns="0" rIns="0" bIns="0" rtlCol="0" anchor="ctr"/>
          <a:lstStyle/>
          <a:p>
            <a:pPr indent="0" marL="0">
              <a:buNone/>
            </a:pPr>
            <a:r>
              <a:rPr lang="en-US" sz="1000" dirty="0">
                <a:solidFill>
                  <a:schemeClr val="accent6"/>
                </a:solidFill>
              </a:rPr>
              <a:t>Not involved</a:t>
            </a:r>
            <a:endParaRPr lang="en-US" sz="1000" dirty="0"/>
          </a:p>
        </p:txBody>
      </p:sp>
      <p:sp>
        <p:nvSpPr>
          <p:cNvPr id="58" name="line_173"/>
          <p:cNvSpPr/>
          <p:nvPr/>
        </p:nvSpPr>
        <p:spPr>
          <a:xfrm>
            <a:off x="9784080" y="6172200"/>
            <a:ext cx="320040" cy="0"/>
          </a:xfrm>
          <a:prstGeom prst="line">
            <a:avLst/>
          </a:prstGeom>
          <a:noFill/>
          <a:ln w="15875">
            <a:solidFill>
              <a:schemeClr val="accent6"/>
            </a:solidFill>
            <a:prstDash val="dash"/>
          </a:ln>
        </p:spPr>
      </p:sp>
      <p:sp>
        <p:nvSpPr>
          <p:cNvPr id="59" name="txt_174"/>
          <p:cNvSpPr txBox="1"/>
          <p:nvPr/>
        </p:nvSpPr>
        <p:spPr>
          <a:xfrm>
            <a:off x="10177272" y="6053328"/>
            <a:ext cx="1371600" cy="237744"/>
          </a:xfrm>
          <a:prstGeom prst="rect">
            <a:avLst/>
          </a:prstGeom>
          <a:noFill/>
          <a:ln/>
        </p:spPr>
        <p:txBody>
          <a:bodyPr wrap="square" lIns="0" tIns="0" rIns="0" bIns="0" rtlCol="0" anchor="ctr"/>
          <a:lstStyle/>
          <a:p>
            <a:pPr indent="0" marL="0">
              <a:buNone/>
            </a:pPr>
            <a:r>
              <a:rPr lang="en-US" sz="1000" dirty="0">
                <a:solidFill>
                  <a:schemeClr val="accent6"/>
                </a:solidFill>
              </a:rPr>
              <a:t>No runtime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dbxmetagen: enriching the catalog</a:t>
            </a:r>
            <a:endParaRPr lang="en-US" sz="3600" dirty="0"/>
          </a:p>
        </p:txBody>
      </p:sp>
      <p:pic>
        <p:nvPicPr>
          <p:cNvPr id="3" name="secicon_175" descr="preencoded.png">    </p:cNvPr>
          <p:cNvPicPr>
            <a:picLocks noChangeAspect="1"/>
          </p:cNvPicPr>
          <p:nvPr/>
        </p:nvPicPr>
        <p:blipFill>
          <a:blip r:embed="rId1"/>
          <a:stretch>
            <a:fillRect/>
          </a:stretch>
        </p:blipFill>
        <p:spPr>
          <a:xfrm>
            <a:off x="548640" y="1435608"/>
            <a:ext cx="237744" cy="237744"/>
          </a:xfrm>
          <a:prstGeom prst="rect">
            <a:avLst/>
          </a:prstGeom>
        </p:spPr>
      </p:pic>
      <p:sp>
        <p:nvSpPr>
          <p:cNvPr id="4" name="txt_176"/>
          <p:cNvSpPr txBox="1"/>
          <p:nvPr/>
        </p:nvSpPr>
        <p:spPr>
          <a:xfrm>
            <a:off x="896112" y="14173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KEY POINTS</a:t>
            </a:r>
            <a:endParaRPr lang="en-US" sz="1300" dirty="0"/>
          </a:p>
        </p:txBody>
      </p:sp>
      <p:sp>
        <p:nvSpPr>
          <p:cNvPr id="5" name="bullets_177"/>
          <p:cNvSpPr txBox="1"/>
          <p:nvPr/>
        </p:nvSpPr>
        <p:spPr>
          <a:xfrm>
            <a:off x="548640" y="1764792"/>
            <a:ext cx="4297680"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LLM drafts descriptions, PHI tags, domains and likely foreign keys</a:t>
            </a:r>
            <a:endParaRPr lang="en-US" sz="1400" dirty="0"/>
          </a:p>
          <a:p>
            <a:pPr marL="177800" indent="-177800">
              <a:spcAft>
                <a:spcPts val="500"/>
              </a:spcAft>
              <a:buSzPct val="100000"/>
              <a:buChar char="•"/>
            </a:pPr>
            <a:r>
              <a:rPr lang="en-US" sz="1400" dirty="0">
                <a:solidFill>
                  <a:schemeClr val="tx1"/>
                </a:solidFill>
              </a:rPr>
              <a:t>Binds tables to FHIR R4, OMOP and other bundles; generates metric views</a:t>
            </a:r>
            <a:endParaRPr lang="en-US" sz="1400" dirty="0"/>
          </a:p>
          <a:p>
            <a:pPr marL="177800" indent="-177800">
              <a:spcAft>
                <a:spcPts val="500"/>
              </a:spcAft>
              <a:buSzPct val="100000"/>
              <a:buChar char="•"/>
            </a:pPr>
            <a:r>
              <a:rPr lang="en-US" sz="1400" dirty="0">
                <a:solidFill>
                  <a:schemeClr val="tx1"/>
                </a:solidFill>
              </a:rPr>
              <a:t>Off the query path: value shows up in Genie, SQL and search</a:t>
            </a:r>
            <a:endParaRPr lang="en-US" sz="1400" dirty="0"/>
          </a:p>
        </p:txBody>
      </p:sp>
      <p:pic>
        <p:nvPicPr>
          <p:cNvPr id="6" name="secicon_178" descr="preencoded.png">    </p:cNvPr>
          <p:cNvPicPr>
            <a:picLocks noChangeAspect="1"/>
          </p:cNvPicPr>
          <p:nvPr/>
        </p:nvPicPr>
        <p:blipFill>
          <a:blip r:embed="rId2"/>
          <a:stretch>
            <a:fillRect/>
          </a:stretch>
        </p:blipFill>
        <p:spPr>
          <a:xfrm>
            <a:off x="548640" y="3493008"/>
            <a:ext cx="237744" cy="237744"/>
          </a:xfrm>
          <a:prstGeom prst="rect">
            <a:avLst/>
          </a:prstGeom>
        </p:spPr>
      </p:pic>
      <p:sp>
        <p:nvSpPr>
          <p:cNvPr id="7" name="txt_179"/>
          <p:cNvSpPr txBox="1"/>
          <p:nvPr/>
        </p:nvSpPr>
        <p:spPr>
          <a:xfrm>
            <a:off x="896112" y="34747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GOTCHAS</a:t>
            </a:r>
            <a:endParaRPr lang="en-US" sz="1300" dirty="0"/>
          </a:p>
        </p:txBody>
      </p:sp>
      <p:sp>
        <p:nvSpPr>
          <p:cNvPr id="8" name="bullets_180"/>
          <p:cNvSpPr txBox="1"/>
          <p:nvPr/>
        </p:nvSpPr>
        <p:spPr>
          <a:xfrm>
            <a:off x="548640" y="3822192"/>
            <a:ext cx="4297680" cy="10241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Its ontology stays in Delta tables; nothing else reads it unless we project it</a:t>
            </a:r>
            <a:endParaRPr lang="en-US" sz="1400" dirty="0"/>
          </a:p>
          <a:p>
            <a:pPr marL="177800" indent="-177800">
              <a:spcAft>
                <a:spcPts val="500"/>
              </a:spcAft>
              <a:buSzPct val="100000"/>
              <a:buChar char="•"/>
            </a:pPr>
            <a:r>
              <a:rPr lang="en-US" sz="1400" dirty="0">
                <a:solidFill>
                  <a:schemeClr val="tx1"/>
                </a:solidFill>
              </a:rPr>
              <a:t>One bundle per output schema; every output needs human review</a:t>
            </a:r>
            <a:endParaRPr lang="en-US" sz="1400" dirty="0"/>
          </a:p>
        </p:txBody>
      </p:sp>
      <p:pic>
        <p:nvPicPr>
          <p:cNvPr id="9" name="secicon_181" descr="preencoded.png">    </p:cNvPr>
          <p:cNvPicPr>
            <a:picLocks noChangeAspect="1"/>
          </p:cNvPicPr>
          <p:nvPr/>
        </p:nvPicPr>
        <p:blipFill>
          <a:blip r:embed="rId3"/>
          <a:stretch>
            <a:fillRect/>
          </a:stretch>
        </p:blipFill>
        <p:spPr>
          <a:xfrm>
            <a:off x="548640" y="5001768"/>
            <a:ext cx="237744" cy="237744"/>
          </a:xfrm>
          <a:prstGeom prst="rect">
            <a:avLst/>
          </a:prstGeom>
        </p:spPr>
      </p:pic>
      <p:sp>
        <p:nvSpPr>
          <p:cNvPr id="10" name="txt_182"/>
          <p:cNvSpPr txBox="1"/>
          <p:nvPr/>
        </p:nvSpPr>
        <p:spPr>
          <a:xfrm>
            <a:off x="896112" y="49834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RED FLAGS</a:t>
            </a:r>
            <a:endParaRPr lang="en-US" sz="1300" dirty="0"/>
          </a:p>
        </p:txBody>
      </p:sp>
      <p:sp>
        <p:nvSpPr>
          <p:cNvPr id="11" name="bullets_183"/>
          <p:cNvSpPr txBox="1"/>
          <p:nvPr/>
        </p:nvSpPr>
        <p:spPr>
          <a:xfrm>
            <a:off x="548640" y="5330952"/>
            <a:ext cx="4297680"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Sends sample rows to the LLM by default; set allow_data=false for PHI</a:t>
            </a:r>
            <a:endParaRPr lang="en-US" sz="1400" dirty="0"/>
          </a:p>
          <a:p>
            <a:pPr marL="177800" indent="-177800">
              <a:spcAft>
                <a:spcPts val="500"/>
              </a:spcAft>
              <a:buSzPct val="100000"/>
              <a:buChar char="•"/>
            </a:pPr>
            <a:r>
              <a:rPr lang="en-US" sz="1400" dirty="0">
                <a:solidFill>
                  <a:schemeClr val="tx1"/>
                </a:solidFill>
              </a:rPr>
              <a:t>Solutions accelerator with no SLA; its MCP servers aren't production-ready</a:t>
            </a:r>
            <a:endParaRPr lang="en-US" sz="1400" dirty="0"/>
          </a:p>
        </p:txBody>
      </p:sp>
      <p:sp>
        <p:nvSpPr>
          <p:cNvPr id="12" name="txt_184"/>
          <p:cNvSpPr txBox="1"/>
          <p:nvPr/>
        </p:nvSpPr>
        <p:spPr>
          <a:xfrm>
            <a:off x="6172200" y="1371600"/>
            <a:ext cx="29718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QUERY PATH  ·  USER ACCESS</a:t>
            </a:r>
            <a:endParaRPr lang="en-US" sz="1100" dirty="0"/>
          </a:p>
        </p:txBody>
      </p:sp>
      <p:sp>
        <p:nvSpPr>
          <p:cNvPr id="13" name="txt_185"/>
          <p:cNvSpPr txBox="1"/>
          <p:nvPr/>
        </p:nvSpPr>
        <p:spPr>
          <a:xfrm>
            <a:off x="9464040" y="1371600"/>
            <a:ext cx="210312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BUILD  ·  DATA FLOW</a:t>
            </a:r>
            <a:endParaRPr lang="en-US" sz="1100" dirty="0"/>
          </a:p>
        </p:txBody>
      </p:sp>
      <p:sp>
        <p:nvSpPr>
          <p:cNvPr id="14" name="lane_186"/>
          <p:cNvSpPr/>
          <p:nvPr/>
        </p:nvSpPr>
        <p:spPr>
          <a:xfrm>
            <a:off x="5120640" y="1719072"/>
            <a:ext cx="6492240" cy="621792"/>
          </a:xfrm>
          <a:prstGeom prst="roundRect">
            <a:avLst>
              <a:gd name="adj" fmla="val 8824"/>
            </a:avLst>
          </a:prstGeom>
          <a:solidFill>
            <a:schemeClr val="bg2"/>
          </a:solidFill>
          <a:ln w="12700">
            <a:solidFill>
              <a:schemeClr val="bg2"/>
            </a:solidFill>
            <a:prstDash val="solid"/>
          </a:ln>
        </p:spPr>
      </p:sp>
      <p:sp>
        <p:nvSpPr>
          <p:cNvPr id="15" name="txt_187"/>
          <p:cNvSpPr txBox="1"/>
          <p:nvPr/>
        </p:nvSpPr>
        <p:spPr>
          <a:xfrm>
            <a:off x="5230368" y="17190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WHO ASKS</a:t>
            </a:r>
            <a:endParaRPr lang="en-US" sz="1000" dirty="0"/>
          </a:p>
        </p:txBody>
      </p:sp>
      <p:sp>
        <p:nvSpPr>
          <p:cNvPr id="16" name="lane_188"/>
          <p:cNvSpPr/>
          <p:nvPr/>
        </p:nvSpPr>
        <p:spPr>
          <a:xfrm>
            <a:off x="5120640" y="2450592"/>
            <a:ext cx="6492240" cy="621792"/>
          </a:xfrm>
          <a:prstGeom prst="roundRect">
            <a:avLst>
              <a:gd name="adj" fmla="val 8824"/>
            </a:avLst>
          </a:prstGeom>
          <a:solidFill>
            <a:schemeClr val="bg2"/>
          </a:solidFill>
          <a:ln w="12700">
            <a:solidFill>
              <a:schemeClr val="bg2"/>
            </a:solidFill>
            <a:prstDash val="solid"/>
          </a:ln>
        </p:spPr>
      </p:sp>
      <p:sp>
        <p:nvSpPr>
          <p:cNvPr id="17" name="txt_189"/>
          <p:cNvSpPr txBox="1"/>
          <p:nvPr/>
        </p:nvSpPr>
        <p:spPr>
          <a:xfrm>
            <a:off x="5230368" y="245059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INTERFACE</a:t>
            </a:r>
            <a:endParaRPr lang="en-US" sz="1000" dirty="0"/>
          </a:p>
        </p:txBody>
      </p:sp>
      <p:sp>
        <p:nvSpPr>
          <p:cNvPr id="18" name="lane_190"/>
          <p:cNvSpPr/>
          <p:nvPr/>
        </p:nvSpPr>
        <p:spPr>
          <a:xfrm>
            <a:off x="5120640" y="3182112"/>
            <a:ext cx="6492240" cy="621792"/>
          </a:xfrm>
          <a:prstGeom prst="roundRect">
            <a:avLst>
              <a:gd name="adj" fmla="val 8824"/>
            </a:avLst>
          </a:prstGeom>
          <a:solidFill>
            <a:schemeClr val="bg2"/>
          </a:solidFill>
          <a:ln w="12700">
            <a:solidFill>
              <a:schemeClr val="bg2"/>
            </a:solidFill>
            <a:prstDash val="solid"/>
          </a:ln>
        </p:spPr>
      </p:sp>
      <p:sp>
        <p:nvSpPr>
          <p:cNvPr id="19" name="txt_191"/>
          <p:cNvSpPr txBox="1"/>
          <p:nvPr/>
        </p:nvSpPr>
        <p:spPr>
          <a:xfrm>
            <a:off x="5230368" y="318211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MEANING</a:t>
            </a:r>
            <a:endParaRPr lang="en-US" sz="1000" dirty="0"/>
          </a:p>
        </p:txBody>
      </p:sp>
      <p:sp>
        <p:nvSpPr>
          <p:cNvPr id="20" name="lane_192"/>
          <p:cNvSpPr/>
          <p:nvPr/>
        </p:nvSpPr>
        <p:spPr>
          <a:xfrm>
            <a:off x="5120640" y="3913632"/>
            <a:ext cx="6492240" cy="621792"/>
          </a:xfrm>
          <a:prstGeom prst="roundRect">
            <a:avLst>
              <a:gd name="adj" fmla="val 8824"/>
            </a:avLst>
          </a:prstGeom>
          <a:solidFill>
            <a:schemeClr val="bg2"/>
          </a:solidFill>
          <a:ln w="12700">
            <a:solidFill>
              <a:schemeClr val="bg2"/>
            </a:solidFill>
            <a:prstDash val="solid"/>
          </a:ln>
        </p:spPr>
      </p:sp>
      <p:sp>
        <p:nvSpPr>
          <p:cNvPr id="21" name="txt_193"/>
          <p:cNvSpPr txBox="1"/>
          <p:nvPr/>
        </p:nvSpPr>
        <p:spPr>
          <a:xfrm>
            <a:off x="5230368" y="391363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EXECUTION</a:t>
            </a:r>
            <a:endParaRPr lang="en-US" sz="1000" dirty="0"/>
          </a:p>
        </p:txBody>
      </p:sp>
      <p:sp>
        <p:nvSpPr>
          <p:cNvPr id="22" name="lane_194"/>
          <p:cNvSpPr/>
          <p:nvPr/>
        </p:nvSpPr>
        <p:spPr>
          <a:xfrm>
            <a:off x="5120640" y="4645152"/>
            <a:ext cx="6492240" cy="621792"/>
          </a:xfrm>
          <a:prstGeom prst="roundRect">
            <a:avLst>
              <a:gd name="adj" fmla="val 8824"/>
            </a:avLst>
          </a:prstGeom>
          <a:solidFill>
            <a:schemeClr val="bg2"/>
          </a:solidFill>
          <a:ln w="12700">
            <a:solidFill>
              <a:schemeClr val="bg2"/>
            </a:solidFill>
            <a:prstDash val="solid"/>
          </a:ln>
        </p:spPr>
      </p:sp>
      <p:sp>
        <p:nvSpPr>
          <p:cNvPr id="23" name="txt_195"/>
          <p:cNvSpPr txBox="1"/>
          <p:nvPr/>
        </p:nvSpPr>
        <p:spPr>
          <a:xfrm>
            <a:off x="5230368" y="464515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ACCESS CHECK</a:t>
            </a:r>
            <a:endParaRPr lang="en-US" sz="1000" dirty="0"/>
          </a:p>
        </p:txBody>
      </p:sp>
      <p:sp>
        <p:nvSpPr>
          <p:cNvPr id="24" name="lane_196"/>
          <p:cNvSpPr/>
          <p:nvPr/>
        </p:nvSpPr>
        <p:spPr>
          <a:xfrm>
            <a:off x="5120640" y="5376672"/>
            <a:ext cx="6492240" cy="621792"/>
          </a:xfrm>
          <a:prstGeom prst="roundRect">
            <a:avLst>
              <a:gd name="adj" fmla="val 8824"/>
            </a:avLst>
          </a:prstGeom>
          <a:solidFill>
            <a:schemeClr val="bg2"/>
          </a:solidFill>
          <a:ln w="12700">
            <a:solidFill>
              <a:schemeClr val="bg2"/>
            </a:solidFill>
            <a:prstDash val="solid"/>
          </a:ln>
        </p:spPr>
      </p:sp>
      <p:sp>
        <p:nvSpPr>
          <p:cNvPr id="25" name="txt_197"/>
          <p:cNvSpPr txBox="1"/>
          <p:nvPr/>
        </p:nvSpPr>
        <p:spPr>
          <a:xfrm>
            <a:off x="5230368" y="53766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DATA</a:t>
            </a:r>
            <a:endParaRPr lang="en-US" sz="1000" dirty="0"/>
          </a:p>
        </p:txBody>
      </p:sp>
      <p:sp>
        <p:nvSpPr>
          <p:cNvPr id="26" name="flowbox_198"/>
          <p:cNvSpPr/>
          <p:nvPr/>
        </p:nvSpPr>
        <p:spPr>
          <a:xfrm>
            <a:off x="6172200" y="1764792"/>
            <a:ext cx="2971800" cy="530352"/>
          </a:xfrm>
          <a:prstGeom prst="roundRect">
            <a:avLst>
              <a:gd name="adj" fmla="val 10345"/>
            </a:avLst>
          </a:prstGeom>
          <a:solidFill>
            <a:schemeClr val="bg1"/>
          </a:solidFill>
          <a:ln w="12700">
            <a:solidFill>
              <a:schemeClr val="accent6"/>
            </a:solidFill>
            <a:prstDash val="solid"/>
          </a:ln>
        </p:spPr>
      </p:sp>
      <p:sp>
        <p:nvSpPr>
          <p:cNvPr id="27" name="txt_199"/>
          <p:cNvSpPr txBox="1"/>
          <p:nvPr/>
        </p:nvSpPr>
        <p:spPr>
          <a:xfrm>
            <a:off x="6281928" y="1764792"/>
            <a:ext cx="2752344" cy="530352"/>
          </a:xfrm>
          <a:prstGeom prst="rect">
            <a:avLst/>
          </a:prstGeom>
          <a:noFill/>
          <a:ln/>
        </p:spPr>
        <p:txBody>
          <a:bodyPr wrap="square" lIns="0" tIns="0" rIns="0" bIns="0" rtlCol="0" anchor="ctr"/>
          <a:lstStyle/>
          <a:p>
            <a:pPr indent="0" marL="0">
              <a:buNone/>
            </a:pPr>
            <a:r>
              <a:rPr lang="en-US" sz="1200" dirty="0">
                <a:solidFill>
                  <a:schemeClr val="tx1"/>
                </a:solidFill>
              </a:rPr>
              <a:t>User or agent</a:t>
            </a:r>
            <a:endParaRPr lang="en-US" sz="1200" dirty="0"/>
          </a:p>
        </p:txBody>
      </p:sp>
      <p:sp>
        <p:nvSpPr>
          <p:cNvPr id="28" name="flowbox_200"/>
          <p:cNvSpPr/>
          <p:nvPr/>
        </p:nvSpPr>
        <p:spPr>
          <a:xfrm>
            <a:off x="6172200" y="2496312"/>
            <a:ext cx="2971800" cy="530352"/>
          </a:xfrm>
          <a:prstGeom prst="roundRect">
            <a:avLst>
              <a:gd name="adj" fmla="val 10345"/>
            </a:avLst>
          </a:prstGeom>
          <a:solidFill>
            <a:schemeClr val="bg1"/>
          </a:solidFill>
          <a:ln w="12700">
            <a:solidFill>
              <a:schemeClr val="accent6"/>
            </a:solidFill>
            <a:prstDash val="solid"/>
          </a:ln>
        </p:spPr>
      </p:sp>
      <p:sp>
        <p:nvSpPr>
          <p:cNvPr id="29" name="txt_201"/>
          <p:cNvSpPr txBox="1"/>
          <p:nvPr/>
        </p:nvSpPr>
        <p:spPr>
          <a:xfrm>
            <a:off x="6281928" y="2496312"/>
            <a:ext cx="2752344" cy="530352"/>
          </a:xfrm>
          <a:prstGeom prst="rect">
            <a:avLst/>
          </a:prstGeom>
          <a:noFill/>
          <a:ln/>
        </p:spPr>
        <p:txBody>
          <a:bodyPr wrap="square" lIns="0" tIns="0" rIns="0" bIns="0" rtlCol="0" anchor="ctr"/>
          <a:lstStyle/>
          <a:p>
            <a:pPr indent="0" marL="0">
              <a:buNone/>
            </a:pPr>
            <a:r>
              <a:rPr lang="en-US" sz="1200" dirty="0">
                <a:solidFill>
                  <a:schemeClr val="tx1"/>
                </a:solidFill>
              </a:rPr>
              <a:t>Genie, SQL or BI (not dbxmetagen itself)</a:t>
            </a:r>
            <a:endParaRPr lang="en-US" sz="1200" dirty="0"/>
          </a:p>
        </p:txBody>
      </p:sp>
      <p:sp>
        <p:nvSpPr>
          <p:cNvPr id="30" name="flowbox_202"/>
          <p:cNvSpPr/>
          <p:nvPr/>
        </p:nvSpPr>
        <p:spPr>
          <a:xfrm>
            <a:off x="6172200" y="3227832"/>
            <a:ext cx="2971800" cy="530352"/>
          </a:xfrm>
          <a:prstGeom prst="roundRect">
            <a:avLst>
              <a:gd name="adj" fmla="val 10345"/>
            </a:avLst>
          </a:prstGeom>
          <a:solidFill>
            <a:schemeClr val="accent2"/>
          </a:solidFill>
          <a:ln w="12700">
            <a:solidFill>
              <a:schemeClr val="accent2"/>
            </a:solidFill>
            <a:prstDash val="solid"/>
          </a:ln>
        </p:spPr>
      </p:sp>
      <p:sp>
        <p:nvSpPr>
          <p:cNvPr id="31" name="txt_203"/>
          <p:cNvSpPr txBox="1"/>
          <p:nvPr/>
        </p:nvSpPr>
        <p:spPr>
          <a:xfrm>
            <a:off x="6281928" y="322783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Comments, tags and metric views written by dbxmetagen</a:t>
            </a:r>
            <a:endParaRPr lang="en-US" sz="1200" dirty="0"/>
          </a:p>
        </p:txBody>
      </p:sp>
      <p:sp>
        <p:nvSpPr>
          <p:cNvPr id="32" name="flowbox_204"/>
          <p:cNvSpPr/>
          <p:nvPr/>
        </p:nvSpPr>
        <p:spPr>
          <a:xfrm>
            <a:off x="6172200" y="3959352"/>
            <a:ext cx="2971800" cy="530352"/>
          </a:xfrm>
          <a:prstGeom prst="roundRect">
            <a:avLst>
              <a:gd name="adj" fmla="val 10345"/>
            </a:avLst>
          </a:prstGeom>
          <a:solidFill>
            <a:schemeClr val="bg1"/>
          </a:solidFill>
          <a:ln w="12700">
            <a:solidFill>
              <a:schemeClr val="accent6"/>
            </a:solidFill>
            <a:prstDash val="solid"/>
          </a:ln>
        </p:spPr>
      </p:sp>
      <p:sp>
        <p:nvSpPr>
          <p:cNvPr id="33" name="txt_205"/>
          <p:cNvSpPr txBox="1"/>
          <p:nvPr/>
        </p:nvSpPr>
        <p:spPr>
          <a:xfrm>
            <a:off x="6281928" y="3959352"/>
            <a:ext cx="2752344" cy="530352"/>
          </a:xfrm>
          <a:prstGeom prst="rect">
            <a:avLst/>
          </a:prstGeom>
          <a:noFill/>
          <a:ln/>
        </p:spPr>
        <p:txBody>
          <a:bodyPr wrap="square" lIns="0" tIns="0" rIns="0" bIns="0" rtlCol="0" anchor="ctr"/>
          <a:lstStyle/>
          <a:p>
            <a:pPr indent="0" marL="0">
              <a:buNone/>
            </a:pPr>
            <a:r>
              <a:rPr lang="en-US" sz="1200" dirty="0">
                <a:solidFill>
                  <a:schemeClr val="tx1"/>
                </a:solidFill>
              </a:rPr>
              <a:t>SQL on a SQL warehouse</a:t>
            </a:r>
            <a:endParaRPr lang="en-US" sz="1200" dirty="0"/>
          </a:p>
        </p:txBody>
      </p:sp>
      <p:sp>
        <p:nvSpPr>
          <p:cNvPr id="34" name="access_206"/>
          <p:cNvSpPr/>
          <p:nvPr/>
        </p:nvSpPr>
        <p:spPr>
          <a:xfrm>
            <a:off x="6172200" y="4690872"/>
            <a:ext cx="2971800" cy="530352"/>
          </a:xfrm>
          <a:prstGeom prst="roundRect">
            <a:avLst>
              <a:gd name="adj" fmla="val 10345"/>
            </a:avLst>
          </a:prstGeom>
          <a:solidFill>
            <a:schemeClr val="bg1"/>
          </a:solidFill>
          <a:ln w="22225">
            <a:solidFill>
              <a:schemeClr val="accent1"/>
            </a:solidFill>
            <a:prstDash val="solid"/>
          </a:ln>
        </p:spPr>
      </p:sp>
      <p:pic>
        <p:nvPicPr>
          <p:cNvPr id="35" name="accessicon_207" descr="preencoded.png">    </p:cNvPr>
          <p:cNvPicPr>
            <a:picLocks noChangeAspect="1"/>
          </p:cNvPicPr>
          <p:nvPr/>
        </p:nvPicPr>
        <p:blipFill>
          <a:blip r:embed="rId4"/>
          <a:stretch>
            <a:fillRect/>
          </a:stretch>
        </p:blipFill>
        <p:spPr>
          <a:xfrm>
            <a:off x="6300216" y="4818888"/>
            <a:ext cx="274320" cy="274320"/>
          </a:xfrm>
          <a:prstGeom prst="rect">
            <a:avLst/>
          </a:prstGeom>
        </p:spPr>
      </p:pic>
      <p:sp>
        <p:nvSpPr>
          <p:cNvPr id="36" name="txt_208"/>
          <p:cNvSpPr txBox="1"/>
          <p:nvPr/>
        </p:nvSpPr>
        <p:spPr>
          <a:xfrm>
            <a:off x="6675120" y="4690872"/>
            <a:ext cx="2377440" cy="530352"/>
          </a:xfrm>
          <a:prstGeom prst="rect">
            <a:avLst/>
          </a:prstGeom>
          <a:noFill/>
          <a:ln/>
        </p:spPr>
        <p:txBody>
          <a:bodyPr wrap="square" lIns="0" tIns="0" rIns="0" bIns="0" rtlCol="0" anchor="ctr"/>
          <a:lstStyle/>
          <a:p>
            <a:pPr indent="0" marL="0">
              <a:buNone/>
            </a:pPr>
            <a:r>
              <a:rPr lang="en-US" sz="1200" b="1" dirty="0">
                <a:solidFill>
                  <a:schemeClr val="accent1"/>
                </a:solidFill>
              </a:rPr>
              <a:t>UC sees the end user</a:t>
            </a:r>
            <a:endParaRPr lang="en-US" sz="1200" dirty="0"/>
          </a:p>
        </p:txBody>
      </p:sp>
      <p:sp>
        <p:nvSpPr>
          <p:cNvPr id="37" name="flowbox_209"/>
          <p:cNvSpPr/>
          <p:nvPr/>
        </p:nvSpPr>
        <p:spPr>
          <a:xfrm>
            <a:off x="6172200" y="5422392"/>
            <a:ext cx="2971800" cy="530352"/>
          </a:xfrm>
          <a:prstGeom prst="roundRect">
            <a:avLst>
              <a:gd name="adj" fmla="val 10345"/>
            </a:avLst>
          </a:prstGeom>
          <a:solidFill>
            <a:schemeClr val="tx2"/>
          </a:solidFill>
          <a:ln w="12700">
            <a:solidFill>
              <a:schemeClr val="tx2"/>
            </a:solidFill>
            <a:prstDash val="solid"/>
          </a:ln>
        </p:spPr>
      </p:sp>
      <p:sp>
        <p:nvSpPr>
          <p:cNvPr id="38" name="txt_210"/>
          <p:cNvSpPr txBox="1"/>
          <p:nvPr/>
        </p:nvSpPr>
        <p:spPr>
          <a:xfrm>
            <a:off x="6281928" y="542239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Unity Catalog tables · ABAC row filters and masks</a:t>
            </a:r>
            <a:endParaRPr lang="en-US" sz="1200" dirty="0"/>
          </a:p>
        </p:txBody>
      </p:sp>
      <p:sp>
        <p:nvSpPr>
          <p:cNvPr id="39" name="line_211"/>
          <p:cNvSpPr/>
          <p:nvPr/>
        </p:nvSpPr>
        <p:spPr>
          <a:xfrm>
            <a:off x="7658100" y="2295144"/>
            <a:ext cx="0" cy="201168"/>
          </a:xfrm>
          <a:prstGeom prst="line">
            <a:avLst/>
          </a:prstGeom>
          <a:noFill/>
          <a:ln w="15875">
            <a:solidFill>
              <a:schemeClr val="accent6"/>
            </a:solidFill>
            <a:prstDash val="solid"/>
            <a:tailEnd type="triangle"/>
          </a:ln>
        </p:spPr>
      </p:sp>
      <p:sp>
        <p:nvSpPr>
          <p:cNvPr id="40" name="line_212"/>
          <p:cNvSpPr/>
          <p:nvPr/>
        </p:nvSpPr>
        <p:spPr>
          <a:xfrm>
            <a:off x="7658100" y="3026664"/>
            <a:ext cx="0" cy="201168"/>
          </a:xfrm>
          <a:prstGeom prst="line">
            <a:avLst/>
          </a:prstGeom>
          <a:noFill/>
          <a:ln w="15875">
            <a:solidFill>
              <a:schemeClr val="accent6"/>
            </a:solidFill>
            <a:prstDash val="solid"/>
            <a:tailEnd type="triangle"/>
          </a:ln>
        </p:spPr>
      </p:sp>
      <p:sp>
        <p:nvSpPr>
          <p:cNvPr id="41" name="line_213"/>
          <p:cNvSpPr/>
          <p:nvPr/>
        </p:nvSpPr>
        <p:spPr>
          <a:xfrm>
            <a:off x="7658100" y="3758184"/>
            <a:ext cx="0" cy="201168"/>
          </a:xfrm>
          <a:prstGeom prst="line">
            <a:avLst/>
          </a:prstGeom>
          <a:noFill/>
          <a:ln w="15875">
            <a:solidFill>
              <a:schemeClr val="accent6"/>
            </a:solidFill>
            <a:prstDash val="solid"/>
            <a:tailEnd type="triangle"/>
          </a:ln>
        </p:spPr>
      </p:sp>
      <p:sp>
        <p:nvSpPr>
          <p:cNvPr id="42" name="line_214"/>
          <p:cNvSpPr/>
          <p:nvPr/>
        </p:nvSpPr>
        <p:spPr>
          <a:xfrm>
            <a:off x="7658100" y="4489704"/>
            <a:ext cx="0" cy="201168"/>
          </a:xfrm>
          <a:prstGeom prst="line">
            <a:avLst/>
          </a:prstGeom>
          <a:noFill/>
          <a:ln w="15875">
            <a:solidFill>
              <a:schemeClr val="accent6"/>
            </a:solidFill>
            <a:prstDash val="solid"/>
            <a:tailEnd type="triangle"/>
          </a:ln>
        </p:spPr>
      </p:sp>
      <p:sp>
        <p:nvSpPr>
          <p:cNvPr id="43" name="line_215"/>
          <p:cNvSpPr/>
          <p:nvPr/>
        </p:nvSpPr>
        <p:spPr>
          <a:xfrm>
            <a:off x="7658100" y="5221224"/>
            <a:ext cx="0" cy="201168"/>
          </a:xfrm>
          <a:prstGeom prst="line">
            <a:avLst/>
          </a:prstGeom>
          <a:noFill/>
          <a:ln w="15875">
            <a:solidFill>
              <a:schemeClr val="accent6"/>
            </a:solidFill>
            <a:prstDash val="solid"/>
            <a:tailEnd type="triangle"/>
          </a:ln>
        </p:spPr>
      </p:sp>
      <p:sp>
        <p:nvSpPr>
          <p:cNvPr id="44" name="flowbox_216"/>
          <p:cNvSpPr/>
          <p:nvPr/>
        </p:nvSpPr>
        <p:spPr>
          <a:xfrm>
            <a:off x="9464040" y="2496312"/>
            <a:ext cx="2011680" cy="530352"/>
          </a:xfrm>
          <a:prstGeom prst="roundRect">
            <a:avLst>
              <a:gd name="adj" fmla="val 10345"/>
            </a:avLst>
          </a:prstGeom>
          <a:solidFill>
            <a:schemeClr val="accent2"/>
          </a:solidFill>
          <a:ln w="12700">
            <a:solidFill>
              <a:schemeClr val="accent2"/>
            </a:solidFill>
            <a:prstDash val="solid"/>
          </a:ln>
        </p:spPr>
      </p:sp>
      <p:sp>
        <p:nvSpPr>
          <p:cNvPr id="45" name="txt_217"/>
          <p:cNvSpPr txBox="1"/>
          <p:nvPr/>
        </p:nvSpPr>
        <p:spPr>
          <a:xfrm>
            <a:off x="9573768" y="249631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LLM proposes; stewards review, then apply</a:t>
            </a:r>
            <a:endParaRPr lang="en-US" sz="1200" dirty="0"/>
          </a:p>
        </p:txBody>
      </p:sp>
      <p:sp>
        <p:nvSpPr>
          <p:cNvPr id="46" name="flowbox_218"/>
          <p:cNvSpPr/>
          <p:nvPr/>
        </p:nvSpPr>
        <p:spPr>
          <a:xfrm>
            <a:off x="9464040" y="3227832"/>
            <a:ext cx="2011680" cy="530352"/>
          </a:xfrm>
          <a:prstGeom prst="roundRect">
            <a:avLst>
              <a:gd name="adj" fmla="val 10345"/>
            </a:avLst>
          </a:prstGeom>
          <a:solidFill>
            <a:schemeClr val="accent2"/>
          </a:solidFill>
          <a:ln w="12700">
            <a:solidFill>
              <a:schemeClr val="accent2"/>
            </a:solidFill>
            <a:prstDash val="solid"/>
          </a:ln>
        </p:spPr>
      </p:sp>
      <p:sp>
        <p:nvSpPr>
          <p:cNvPr id="47" name="txt_219"/>
          <p:cNvSpPr txBox="1"/>
          <p:nvPr/>
        </p:nvSpPr>
        <p:spPr>
          <a:xfrm>
            <a:off x="9573768" y="322783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UC metadata and Delta ontology tables</a:t>
            </a:r>
            <a:endParaRPr lang="en-US" sz="1200" dirty="0"/>
          </a:p>
        </p:txBody>
      </p:sp>
      <p:sp>
        <p:nvSpPr>
          <p:cNvPr id="48" name="flowbox_220"/>
          <p:cNvSpPr/>
          <p:nvPr/>
        </p:nvSpPr>
        <p:spPr>
          <a:xfrm>
            <a:off x="9464040" y="5422392"/>
            <a:ext cx="2011680" cy="530352"/>
          </a:xfrm>
          <a:prstGeom prst="roundRect">
            <a:avLst>
              <a:gd name="adj" fmla="val 10345"/>
            </a:avLst>
          </a:prstGeom>
          <a:solidFill>
            <a:schemeClr val="accent2"/>
          </a:solidFill>
          <a:ln w="12700">
            <a:solidFill>
              <a:schemeClr val="accent2"/>
            </a:solidFill>
            <a:prstDash val="solid"/>
          </a:ln>
        </p:spPr>
      </p:sp>
      <p:sp>
        <p:nvSpPr>
          <p:cNvPr id="49" name="txt_221"/>
          <p:cNvSpPr txBox="1"/>
          <p:nvPr/>
        </p:nvSpPr>
        <p:spPr>
          <a:xfrm>
            <a:off x="9573768" y="542239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Sample rows sent to the LLM by default</a:t>
            </a:r>
            <a:endParaRPr lang="en-US" sz="1200" dirty="0"/>
          </a:p>
        </p:txBody>
      </p:sp>
      <p:sp>
        <p:nvSpPr>
          <p:cNvPr id="50" name="line_222"/>
          <p:cNvSpPr/>
          <p:nvPr/>
        </p:nvSpPr>
        <p:spPr>
          <a:xfrm>
            <a:off x="10469880" y="3026664"/>
            <a:ext cx="0" cy="201168"/>
          </a:xfrm>
          <a:prstGeom prst="line">
            <a:avLst/>
          </a:prstGeom>
          <a:noFill/>
          <a:ln w="15875">
            <a:solidFill>
              <a:schemeClr val="accent6"/>
            </a:solidFill>
            <a:prstDash val="solid"/>
            <a:tailEnd type="triangle"/>
          </a:ln>
        </p:spPr>
      </p:sp>
      <p:sp>
        <p:nvSpPr>
          <p:cNvPr id="51" name="line_223"/>
          <p:cNvSpPr/>
          <p:nvPr/>
        </p:nvSpPr>
        <p:spPr>
          <a:xfrm>
            <a:off x="9144000" y="3493008"/>
            <a:ext cx="320040" cy="0"/>
          </a:xfrm>
          <a:prstGeom prst="line">
            <a:avLst/>
          </a:prstGeom>
          <a:noFill/>
          <a:ln w="15875">
            <a:solidFill>
              <a:schemeClr val="accent6"/>
            </a:solidFill>
            <a:prstDash val="solid"/>
            <a:headEnd type="triangle"/>
          </a:ln>
        </p:spPr>
      </p:sp>
      <p:sp>
        <p:nvSpPr>
          <p:cNvPr id="52" name="line_224"/>
          <p:cNvSpPr/>
          <p:nvPr/>
        </p:nvSpPr>
        <p:spPr>
          <a:xfrm>
            <a:off x="9144000" y="5687568"/>
            <a:ext cx="320040" cy="0"/>
          </a:xfrm>
          <a:prstGeom prst="line">
            <a:avLst/>
          </a:prstGeom>
          <a:noFill/>
          <a:ln w="22225">
            <a:solidFill>
              <a:schemeClr val="accent2"/>
            </a:solidFill>
            <a:prstDash val="solid"/>
            <a:tailEnd type="triangle"/>
          </a:ln>
        </p:spPr>
      </p:sp>
      <p:sp>
        <p:nvSpPr>
          <p:cNvPr id="53" name="legend_225"/>
          <p:cNvSpPr/>
          <p:nvPr/>
        </p:nvSpPr>
        <p:spPr>
          <a:xfrm>
            <a:off x="5120640" y="6089904"/>
            <a:ext cx="274320" cy="164592"/>
          </a:xfrm>
          <a:prstGeom prst="roundRect">
            <a:avLst>
              <a:gd name="adj" fmla="val 16667"/>
            </a:avLst>
          </a:prstGeom>
          <a:solidFill>
            <a:schemeClr val="accent2"/>
          </a:solidFill>
          <a:ln w="12700">
            <a:solidFill>
              <a:schemeClr val="accent2"/>
            </a:solidFill>
            <a:prstDash val="solid"/>
          </a:ln>
        </p:spPr>
      </p:sp>
      <p:sp>
        <p:nvSpPr>
          <p:cNvPr id="54" name="txt_226"/>
          <p:cNvSpPr txBox="1"/>
          <p:nvPr/>
        </p:nvSpPr>
        <p:spPr>
          <a:xfrm>
            <a:off x="5468112" y="6053328"/>
            <a:ext cx="1097280" cy="237744"/>
          </a:xfrm>
          <a:prstGeom prst="rect">
            <a:avLst/>
          </a:prstGeom>
          <a:noFill/>
          <a:ln/>
        </p:spPr>
        <p:txBody>
          <a:bodyPr wrap="square" lIns="0" tIns="0" rIns="0" bIns="0" rtlCol="0" anchor="ctr"/>
          <a:lstStyle/>
          <a:p>
            <a:pPr indent="0" marL="0">
              <a:buNone/>
            </a:pPr>
            <a:r>
              <a:rPr lang="en-US" sz="1000" dirty="0">
                <a:solidFill>
                  <a:schemeClr val="accent6"/>
                </a:solidFill>
              </a:rPr>
              <a:t>This option</a:t>
            </a:r>
            <a:endParaRPr lang="en-US" sz="1000" dirty="0"/>
          </a:p>
        </p:txBody>
      </p:sp>
      <p:sp>
        <p:nvSpPr>
          <p:cNvPr id="55" name="legend_227"/>
          <p:cNvSpPr/>
          <p:nvPr/>
        </p:nvSpPr>
        <p:spPr>
          <a:xfrm>
            <a:off x="6537960" y="6089904"/>
            <a:ext cx="274320" cy="164592"/>
          </a:xfrm>
          <a:prstGeom prst="roundRect">
            <a:avLst>
              <a:gd name="adj" fmla="val 16667"/>
            </a:avLst>
          </a:prstGeom>
          <a:solidFill>
            <a:schemeClr val="bg1"/>
          </a:solidFill>
          <a:ln w="12700">
            <a:solidFill>
              <a:schemeClr val="accent6"/>
            </a:solidFill>
            <a:prstDash val="solid"/>
          </a:ln>
        </p:spPr>
      </p:sp>
      <p:sp>
        <p:nvSpPr>
          <p:cNvPr id="56" name="txt_228"/>
          <p:cNvSpPr txBox="1"/>
          <p:nvPr/>
        </p:nvSpPr>
        <p:spPr>
          <a:xfrm>
            <a:off x="6885432" y="6053328"/>
            <a:ext cx="1554480" cy="237744"/>
          </a:xfrm>
          <a:prstGeom prst="rect">
            <a:avLst/>
          </a:prstGeom>
          <a:noFill/>
          <a:ln/>
        </p:spPr>
        <p:txBody>
          <a:bodyPr wrap="square" lIns="0" tIns="0" rIns="0" bIns="0" rtlCol="0" anchor="ctr"/>
          <a:lstStyle/>
          <a:p>
            <a:pPr indent="0" marL="0">
              <a:buNone/>
            </a:pPr>
            <a:r>
              <a:rPr lang="en-US" sz="1000" dirty="0">
                <a:solidFill>
                  <a:schemeClr val="accent6"/>
                </a:solidFill>
              </a:rPr>
              <a:t>Platform or other tool</a:t>
            </a:r>
            <a:endParaRPr lang="en-US" sz="1000" dirty="0"/>
          </a:p>
        </p:txBody>
      </p:sp>
      <p:sp>
        <p:nvSpPr>
          <p:cNvPr id="57" name="legend_229"/>
          <p:cNvSpPr/>
          <p:nvPr/>
        </p:nvSpPr>
        <p:spPr>
          <a:xfrm>
            <a:off x="8412480" y="6089904"/>
            <a:ext cx="274320" cy="164592"/>
          </a:xfrm>
          <a:prstGeom prst="roundRect">
            <a:avLst>
              <a:gd name="adj" fmla="val 16667"/>
            </a:avLst>
          </a:prstGeom>
          <a:solidFill>
            <a:schemeClr val="bg1"/>
          </a:solidFill>
          <a:ln w="12700">
            <a:solidFill>
              <a:schemeClr val="accent6"/>
            </a:solidFill>
            <a:prstDash val="dash"/>
          </a:ln>
        </p:spPr>
      </p:sp>
      <p:sp>
        <p:nvSpPr>
          <p:cNvPr id="58" name="txt_230"/>
          <p:cNvSpPr txBox="1"/>
          <p:nvPr/>
        </p:nvSpPr>
        <p:spPr>
          <a:xfrm>
            <a:off x="8759952" y="6053328"/>
            <a:ext cx="1005840" cy="237744"/>
          </a:xfrm>
          <a:prstGeom prst="rect">
            <a:avLst/>
          </a:prstGeom>
          <a:noFill/>
          <a:ln/>
        </p:spPr>
        <p:txBody>
          <a:bodyPr wrap="square" lIns="0" tIns="0" rIns="0" bIns="0" rtlCol="0" anchor="ctr"/>
          <a:lstStyle/>
          <a:p>
            <a:pPr indent="0" marL="0">
              <a:buNone/>
            </a:pPr>
            <a:r>
              <a:rPr lang="en-US" sz="1000" dirty="0">
                <a:solidFill>
                  <a:schemeClr val="accent6"/>
                </a:solidFill>
              </a:rPr>
              <a:t>Not involved</a:t>
            </a:r>
            <a:endParaRPr lang="en-US" sz="1000" dirty="0"/>
          </a:p>
        </p:txBody>
      </p:sp>
      <p:sp>
        <p:nvSpPr>
          <p:cNvPr id="59" name="line_231"/>
          <p:cNvSpPr/>
          <p:nvPr/>
        </p:nvSpPr>
        <p:spPr>
          <a:xfrm>
            <a:off x="9784080" y="6172200"/>
            <a:ext cx="320040" cy="0"/>
          </a:xfrm>
          <a:prstGeom prst="line">
            <a:avLst/>
          </a:prstGeom>
          <a:noFill/>
          <a:ln w="15875">
            <a:solidFill>
              <a:schemeClr val="accent6"/>
            </a:solidFill>
            <a:prstDash val="dash"/>
          </a:ln>
        </p:spPr>
      </p:sp>
      <p:sp>
        <p:nvSpPr>
          <p:cNvPr id="60" name="txt_232"/>
          <p:cNvSpPr txBox="1"/>
          <p:nvPr/>
        </p:nvSpPr>
        <p:spPr>
          <a:xfrm>
            <a:off x="10177272" y="6053328"/>
            <a:ext cx="1371600" cy="237744"/>
          </a:xfrm>
          <a:prstGeom prst="rect">
            <a:avLst/>
          </a:prstGeom>
          <a:noFill/>
          <a:ln/>
        </p:spPr>
        <p:txBody>
          <a:bodyPr wrap="square" lIns="0" tIns="0" rIns="0" bIns="0" rtlCol="0" anchor="ctr"/>
          <a:lstStyle/>
          <a:p>
            <a:pPr indent="0" marL="0">
              <a:buNone/>
            </a:pPr>
            <a:r>
              <a:rPr lang="en-US" sz="1000" dirty="0">
                <a:solidFill>
                  <a:schemeClr val="accent6"/>
                </a:solidFill>
              </a:rPr>
              <a:t>No runtime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OntoBricks: a formal graph, materialised</a:t>
            </a:r>
            <a:endParaRPr lang="en-US" sz="3600" dirty="0"/>
          </a:p>
        </p:txBody>
      </p:sp>
      <p:pic>
        <p:nvPicPr>
          <p:cNvPr id="3" name="secicon_233" descr="preencoded.png">    </p:cNvPr>
          <p:cNvPicPr>
            <a:picLocks noChangeAspect="1"/>
          </p:cNvPicPr>
          <p:nvPr/>
        </p:nvPicPr>
        <p:blipFill>
          <a:blip r:embed="rId1"/>
          <a:stretch>
            <a:fillRect/>
          </a:stretch>
        </p:blipFill>
        <p:spPr>
          <a:xfrm>
            <a:off x="548640" y="1435608"/>
            <a:ext cx="237744" cy="237744"/>
          </a:xfrm>
          <a:prstGeom prst="rect">
            <a:avLst/>
          </a:prstGeom>
        </p:spPr>
      </p:pic>
      <p:sp>
        <p:nvSpPr>
          <p:cNvPr id="4" name="txt_234"/>
          <p:cNvSpPr txBox="1"/>
          <p:nvPr/>
        </p:nvSpPr>
        <p:spPr>
          <a:xfrm>
            <a:off x="896112" y="14173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KEY POINTS</a:t>
            </a:r>
            <a:endParaRPr lang="en-US" sz="1300" dirty="0"/>
          </a:p>
        </p:txBody>
      </p:sp>
      <p:sp>
        <p:nvSpPr>
          <p:cNvPr id="5" name="bullets_235"/>
          <p:cNvSpPr txBox="1"/>
          <p:nvPr/>
        </p:nvSpPr>
        <p:spPr>
          <a:xfrm>
            <a:off x="548640" y="1764792"/>
            <a:ext cx="4297680"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Visual and AI-assisted OWL design; imports CDISC SDTM, CDASH, SEND and ADaM</a:t>
            </a:r>
            <a:endParaRPr lang="en-US" sz="1400" dirty="0"/>
          </a:p>
          <a:p>
            <a:pPr marL="177800" indent="-177800">
              <a:spcAft>
                <a:spcPts val="500"/>
              </a:spcAft>
              <a:buSzPct val="100000"/>
              <a:buChar char="•"/>
            </a:pPr>
            <a:r>
              <a:rPr lang="en-US" sz="1400" dirty="0">
                <a:solidFill>
                  <a:schemeClr val="tx1"/>
                </a:solidFill>
              </a:rPr>
              <a:t>LLM-generated SQL mappings compile to R2RML; sync builds the triple store</a:t>
            </a:r>
            <a:endParaRPr lang="en-US" sz="1400" dirty="0"/>
          </a:p>
          <a:p>
            <a:pPr marL="177800" indent="-177800">
              <a:spcAft>
                <a:spcPts val="500"/>
              </a:spcAft>
              <a:buSzPct val="100000"/>
              <a:buChar char="•"/>
            </a:pPr>
            <a:r>
              <a:rPr lang="en-US" sz="1400" dirty="0">
                <a:solidFill>
                  <a:schemeClr val="tx1"/>
                </a:solidFill>
              </a:rPr>
              <a:t>OWL 2 RL, SWRL and SHACL run as SQL; GraphQL, REST and MCP on top</a:t>
            </a:r>
            <a:endParaRPr lang="en-US" sz="1400" dirty="0"/>
          </a:p>
        </p:txBody>
      </p:sp>
      <p:pic>
        <p:nvPicPr>
          <p:cNvPr id="6" name="secicon_236" descr="preencoded.png">    </p:cNvPr>
          <p:cNvPicPr>
            <a:picLocks noChangeAspect="1"/>
          </p:cNvPicPr>
          <p:nvPr/>
        </p:nvPicPr>
        <p:blipFill>
          <a:blip r:embed="rId2"/>
          <a:stretch>
            <a:fillRect/>
          </a:stretch>
        </p:blipFill>
        <p:spPr>
          <a:xfrm>
            <a:off x="548640" y="3493008"/>
            <a:ext cx="237744" cy="237744"/>
          </a:xfrm>
          <a:prstGeom prst="rect">
            <a:avLst/>
          </a:prstGeom>
        </p:spPr>
      </p:pic>
      <p:sp>
        <p:nvSpPr>
          <p:cNvPr id="7" name="txt_237"/>
          <p:cNvSpPr txBox="1"/>
          <p:nvPr/>
        </p:nvSpPr>
        <p:spPr>
          <a:xfrm>
            <a:off x="896112" y="34747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GOTCHAS</a:t>
            </a:r>
            <a:endParaRPr lang="en-US" sz="1300" dirty="0"/>
          </a:p>
        </p:txBody>
      </p:sp>
      <p:sp>
        <p:nvSpPr>
          <p:cNvPr id="8" name="bullets_238"/>
          <p:cNvSpPr txBox="1"/>
          <p:nvPr/>
        </p:nvSpPr>
        <p:spPr>
          <a:xfrm>
            <a:off x="548640" y="3822192"/>
            <a:ext cx="4297680" cy="10241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Queries hit a copy, so freshness depends on re-sync</a:t>
            </a:r>
            <a:endParaRPr lang="en-US" sz="1400" dirty="0"/>
          </a:p>
          <a:p>
            <a:pPr marL="177800" indent="-177800">
              <a:spcAft>
                <a:spcPts val="500"/>
              </a:spcAft>
              <a:buSzPct val="100000"/>
              <a:buChar char="•"/>
            </a:pPr>
            <a:r>
              <a:rPr lang="en-US" sz="1400" dirty="0">
                <a:solidFill>
                  <a:schemeClr val="tx1"/>
                </a:solidFill>
              </a:rPr>
              <a:t>SPARQL is internal; the external surface is GraphQL, REST and MCP</a:t>
            </a:r>
            <a:endParaRPr lang="en-US" sz="1400" dirty="0"/>
          </a:p>
        </p:txBody>
      </p:sp>
      <p:pic>
        <p:nvPicPr>
          <p:cNvPr id="9" name="secicon_239" descr="preencoded.png">    </p:cNvPr>
          <p:cNvPicPr>
            <a:picLocks noChangeAspect="1"/>
          </p:cNvPicPr>
          <p:nvPr/>
        </p:nvPicPr>
        <p:blipFill>
          <a:blip r:embed="rId3"/>
          <a:stretch>
            <a:fillRect/>
          </a:stretch>
        </p:blipFill>
        <p:spPr>
          <a:xfrm>
            <a:off x="548640" y="5001768"/>
            <a:ext cx="237744" cy="237744"/>
          </a:xfrm>
          <a:prstGeom prst="rect">
            <a:avLst/>
          </a:prstGeom>
        </p:spPr>
      </p:pic>
      <p:sp>
        <p:nvSpPr>
          <p:cNvPr id="10" name="txt_240"/>
          <p:cNvSpPr txBox="1"/>
          <p:nvPr/>
        </p:nvSpPr>
        <p:spPr>
          <a:xfrm>
            <a:off x="896112" y="49834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RED FLAGS</a:t>
            </a:r>
            <a:endParaRPr lang="en-US" sz="1300" dirty="0"/>
          </a:p>
        </p:txBody>
      </p:sp>
      <p:sp>
        <p:nvSpPr>
          <p:cNvPr id="11" name="bullets_241"/>
          <p:cNvSpPr txBox="1"/>
          <p:nvPr/>
        </p:nvSpPr>
        <p:spPr>
          <a:xfrm>
            <a:off x="548640" y="5330952"/>
            <a:ext cx="4297680"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Row filters and masks are frozen as seen by the service principal that runs the sync</a:t>
            </a:r>
            <a:endParaRPr lang="en-US" sz="1400" dirty="0"/>
          </a:p>
          <a:p>
            <a:pPr marL="177800" indent="-177800">
              <a:spcAft>
                <a:spcPts val="500"/>
              </a:spcAft>
              <a:buSzPct val="100000"/>
              <a:buChar char="•"/>
            </a:pPr>
            <a:r>
              <a:rPr lang="en-US" sz="1400" dirty="0">
                <a:solidFill>
                  <a:schemeClr val="tx1"/>
                </a:solidFill>
              </a:rPr>
              <a:t>Databricks Labs v0.8 with no SLA; analytics capped at 500k triples by default</a:t>
            </a:r>
            <a:endParaRPr lang="en-US" sz="1400" dirty="0"/>
          </a:p>
        </p:txBody>
      </p:sp>
      <p:sp>
        <p:nvSpPr>
          <p:cNvPr id="12" name="txt_242"/>
          <p:cNvSpPr txBox="1"/>
          <p:nvPr/>
        </p:nvSpPr>
        <p:spPr>
          <a:xfrm>
            <a:off x="6172200" y="1371600"/>
            <a:ext cx="29718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QUERY PATH  ·  USER ACCESS</a:t>
            </a:r>
            <a:endParaRPr lang="en-US" sz="1100" dirty="0"/>
          </a:p>
        </p:txBody>
      </p:sp>
      <p:sp>
        <p:nvSpPr>
          <p:cNvPr id="13" name="txt_243"/>
          <p:cNvSpPr txBox="1"/>
          <p:nvPr/>
        </p:nvSpPr>
        <p:spPr>
          <a:xfrm>
            <a:off x="9464040" y="1371600"/>
            <a:ext cx="210312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BUILD  ·  DATA FLOW</a:t>
            </a:r>
            <a:endParaRPr lang="en-US" sz="1100" dirty="0"/>
          </a:p>
        </p:txBody>
      </p:sp>
      <p:sp>
        <p:nvSpPr>
          <p:cNvPr id="14" name="lane_244"/>
          <p:cNvSpPr/>
          <p:nvPr/>
        </p:nvSpPr>
        <p:spPr>
          <a:xfrm>
            <a:off x="5120640" y="1719072"/>
            <a:ext cx="6492240" cy="621792"/>
          </a:xfrm>
          <a:prstGeom prst="roundRect">
            <a:avLst>
              <a:gd name="adj" fmla="val 8824"/>
            </a:avLst>
          </a:prstGeom>
          <a:solidFill>
            <a:schemeClr val="bg2"/>
          </a:solidFill>
          <a:ln w="12700">
            <a:solidFill>
              <a:schemeClr val="bg2"/>
            </a:solidFill>
            <a:prstDash val="solid"/>
          </a:ln>
        </p:spPr>
      </p:sp>
      <p:sp>
        <p:nvSpPr>
          <p:cNvPr id="15" name="txt_245"/>
          <p:cNvSpPr txBox="1"/>
          <p:nvPr/>
        </p:nvSpPr>
        <p:spPr>
          <a:xfrm>
            <a:off x="5230368" y="17190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WHO ASKS</a:t>
            </a:r>
            <a:endParaRPr lang="en-US" sz="1000" dirty="0"/>
          </a:p>
        </p:txBody>
      </p:sp>
      <p:sp>
        <p:nvSpPr>
          <p:cNvPr id="16" name="lane_246"/>
          <p:cNvSpPr/>
          <p:nvPr/>
        </p:nvSpPr>
        <p:spPr>
          <a:xfrm>
            <a:off x="5120640" y="2450592"/>
            <a:ext cx="6492240" cy="621792"/>
          </a:xfrm>
          <a:prstGeom prst="roundRect">
            <a:avLst>
              <a:gd name="adj" fmla="val 8824"/>
            </a:avLst>
          </a:prstGeom>
          <a:solidFill>
            <a:schemeClr val="bg2"/>
          </a:solidFill>
          <a:ln w="12700">
            <a:solidFill>
              <a:schemeClr val="bg2"/>
            </a:solidFill>
            <a:prstDash val="solid"/>
          </a:ln>
        </p:spPr>
      </p:sp>
      <p:sp>
        <p:nvSpPr>
          <p:cNvPr id="17" name="txt_247"/>
          <p:cNvSpPr txBox="1"/>
          <p:nvPr/>
        </p:nvSpPr>
        <p:spPr>
          <a:xfrm>
            <a:off x="5230368" y="245059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INTERFACE</a:t>
            </a:r>
            <a:endParaRPr lang="en-US" sz="1000" dirty="0"/>
          </a:p>
        </p:txBody>
      </p:sp>
      <p:sp>
        <p:nvSpPr>
          <p:cNvPr id="18" name="lane_248"/>
          <p:cNvSpPr/>
          <p:nvPr/>
        </p:nvSpPr>
        <p:spPr>
          <a:xfrm>
            <a:off x="5120640" y="3182112"/>
            <a:ext cx="6492240" cy="621792"/>
          </a:xfrm>
          <a:prstGeom prst="roundRect">
            <a:avLst>
              <a:gd name="adj" fmla="val 8824"/>
            </a:avLst>
          </a:prstGeom>
          <a:solidFill>
            <a:schemeClr val="bg2"/>
          </a:solidFill>
          <a:ln w="12700">
            <a:solidFill>
              <a:schemeClr val="bg2"/>
            </a:solidFill>
            <a:prstDash val="solid"/>
          </a:ln>
        </p:spPr>
      </p:sp>
      <p:sp>
        <p:nvSpPr>
          <p:cNvPr id="19" name="txt_249"/>
          <p:cNvSpPr txBox="1"/>
          <p:nvPr/>
        </p:nvSpPr>
        <p:spPr>
          <a:xfrm>
            <a:off x="5230368" y="318211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MEANING</a:t>
            </a:r>
            <a:endParaRPr lang="en-US" sz="1000" dirty="0"/>
          </a:p>
        </p:txBody>
      </p:sp>
      <p:sp>
        <p:nvSpPr>
          <p:cNvPr id="20" name="lane_250"/>
          <p:cNvSpPr/>
          <p:nvPr/>
        </p:nvSpPr>
        <p:spPr>
          <a:xfrm>
            <a:off x="5120640" y="3913632"/>
            <a:ext cx="6492240" cy="621792"/>
          </a:xfrm>
          <a:prstGeom prst="roundRect">
            <a:avLst>
              <a:gd name="adj" fmla="val 8824"/>
            </a:avLst>
          </a:prstGeom>
          <a:solidFill>
            <a:schemeClr val="bg2"/>
          </a:solidFill>
          <a:ln w="12700">
            <a:solidFill>
              <a:schemeClr val="bg2"/>
            </a:solidFill>
            <a:prstDash val="solid"/>
          </a:ln>
        </p:spPr>
      </p:sp>
      <p:sp>
        <p:nvSpPr>
          <p:cNvPr id="21" name="txt_251"/>
          <p:cNvSpPr txBox="1"/>
          <p:nvPr/>
        </p:nvSpPr>
        <p:spPr>
          <a:xfrm>
            <a:off x="5230368" y="391363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EXECUTION</a:t>
            </a:r>
            <a:endParaRPr lang="en-US" sz="1000" dirty="0"/>
          </a:p>
        </p:txBody>
      </p:sp>
      <p:sp>
        <p:nvSpPr>
          <p:cNvPr id="22" name="lane_252"/>
          <p:cNvSpPr/>
          <p:nvPr/>
        </p:nvSpPr>
        <p:spPr>
          <a:xfrm>
            <a:off x="5120640" y="4645152"/>
            <a:ext cx="6492240" cy="621792"/>
          </a:xfrm>
          <a:prstGeom prst="roundRect">
            <a:avLst>
              <a:gd name="adj" fmla="val 8824"/>
            </a:avLst>
          </a:prstGeom>
          <a:solidFill>
            <a:schemeClr val="bg2"/>
          </a:solidFill>
          <a:ln w="12700">
            <a:solidFill>
              <a:schemeClr val="bg2"/>
            </a:solidFill>
            <a:prstDash val="solid"/>
          </a:ln>
        </p:spPr>
      </p:sp>
      <p:sp>
        <p:nvSpPr>
          <p:cNvPr id="23" name="txt_253"/>
          <p:cNvSpPr txBox="1"/>
          <p:nvPr/>
        </p:nvSpPr>
        <p:spPr>
          <a:xfrm>
            <a:off x="5230368" y="464515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ACCESS CHECK</a:t>
            </a:r>
            <a:endParaRPr lang="en-US" sz="1000" dirty="0"/>
          </a:p>
        </p:txBody>
      </p:sp>
      <p:sp>
        <p:nvSpPr>
          <p:cNvPr id="24" name="lane_254"/>
          <p:cNvSpPr/>
          <p:nvPr/>
        </p:nvSpPr>
        <p:spPr>
          <a:xfrm>
            <a:off x="5120640" y="5376672"/>
            <a:ext cx="6492240" cy="621792"/>
          </a:xfrm>
          <a:prstGeom prst="roundRect">
            <a:avLst>
              <a:gd name="adj" fmla="val 8824"/>
            </a:avLst>
          </a:prstGeom>
          <a:solidFill>
            <a:schemeClr val="bg2"/>
          </a:solidFill>
          <a:ln w="12700">
            <a:solidFill>
              <a:schemeClr val="bg2"/>
            </a:solidFill>
            <a:prstDash val="solid"/>
          </a:ln>
        </p:spPr>
      </p:sp>
      <p:sp>
        <p:nvSpPr>
          <p:cNvPr id="25" name="txt_255"/>
          <p:cNvSpPr txBox="1"/>
          <p:nvPr/>
        </p:nvSpPr>
        <p:spPr>
          <a:xfrm>
            <a:off x="5230368" y="53766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DATA</a:t>
            </a:r>
            <a:endParaRPr lang="en-US" sz="1000" dirty="0"/>
          </a:p>
        </p:txBody>
      </p:sp>
      <p:sp>
        <p:nvSpPr>
          <p:cNvPr id="26" name="flowbox_256"/>
          <p:cNvSpPr/>
          <p:nvPr/>
        </p:nvSpPr>
        <p:spPr>
          <a:xfrm>
            <a:off x="6172200" y="1764792"/>
            <a:ext cx="2971800" cy="530352"/>
          </a:xfrm>
          <a:prstGeom prst="roundRect">
            <a:avLst>
              <a:gd name="adj" fmla="val 10345"/>
            </a:avLst>
          </a:prstGeom>
          <a:solidFill>
            <a:schemeClr val="bg1"/>
          </a:solidFill>
          <a:ln w="12700">
            <a:solidFill>
              <a:schemeClr val="accent6"/>
            </a:solidFill>
            <a:prstDash val="solid"/>
          </a:ln>
        </p:spPr>
      </p:sp>
      <p:sp>
        <p:nvSpPr>
          <p:cNvPr id="27" name="txt_257"/>
          <p:cNvSpPr txBox="1"/>
          <p:nvPr/>
        </p:nvSpPr>
        <p:spPr>
          <a:xfrm>
            <a:off x="6281928" y="1764792"/>
            <a:ext cx="2752344" cy="530352"/>
          </a:xfrm>
          <a:prstGeom prst="rect">
            <a:avLst/>
          </a:prstGeom>
          <a:noFill/>
          <a:ln/>
        </p:spPr>
        <p:txBody>
          <a:bodyPr wrap="square" lIns="0" tIns="0" rIns="0" bIns="0" rtlCol="0" anchor="ctr"/>
          <a:lstStyle/>
          <a:p>
            <a:pPr indent="0" marL="0">
              <a:buNone/>
            </a:pPr>
            <a:r>
              <a:rPr lang="en-US" sz="1200" dirty="0">
                <a:solidFill>
                  <a:schemeClr val="tx1"/>
                </a:solidFill>
              </a:rPr>
              <a:t>App or agent</a:t>
            </a:r>
            <a:endParaRPr lang="en-US" sz="1200" dirty="0"/>
          </a:p>
        </p:txBody>
      </p:sp>
      <p:sp>
        <p:nvSpPr>
          <p:cNvPr id="28" name="flowbox_258"/>
          <p:cNvSpPr/>
          <p:nvPr/>
        </p:nvSpPr>
        <p:spPr>
          <a:xfrm>
            <a:off x="6172200" y="2496312"/>
            <a:ext cx="2971800" cy="530352"/>
          </a:xfrm>
          <a:prstGeom prst="roundRect">
            <a:avLst>
              <a:gd name="adj" fmla="val 10345"/>
            </a:avLst>
          </a:prstGeom>
          <a:solidFill>
            <a:schemeClr val="accent3"/>
          </a:solidFill>
          <a:ln w="12700">
            <a:solidFill>
              <a:schemeClr val="accent3"/>
            </a:solidFill>
            <a:prstDash val="solid"/>
          </a:ln>
        </p:spPr>
      </p:sp>
      <p:sp>
        <p:nvSpPr>
          <p:cNvPr id="29" name="txt_259"/>
          <p:cNvSpPr txBox="1"/>
          <p:nvPr/>
        </p:nvSpPr>
        <p:spPr>
          <a:xfrm>
            <a:off x="6281928" y="249631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GraphQL, REST or MCP</a:t>
            </a:r>
            <a:endParaRPr lang="en-US" sz="1200" dirty="0"/>
          </a:p>
        </p:txBody>
      </p:sp>
      <p:sp>
        <p:nvSpPr>
          <p:cNvPr id="30" name="flowbox_260"/>
          <p:cNvSpPr/>
          <p:nvPr/>
        </p:nvSpPr>
        <p:spPr>
          <a:xfrm>
            <a:off x="6172200" y="3227832"/>
            <a:ext cx="2971800" cy="530352"/>
          </a:xfrm>
          <a:prstGeom prst="roundRect">
            <a:avLst>
              <a:gd name="adj" fmla="val 10345"/>
            </a:avLst>
          </a:prstGeom>
          <a:solidFill>
            <a:schemeClr val="accent3"/>
          </a:solidFill>
          <a:ln w="12700">
            <a:solidFill>
              <a:schemeClr val="accent3"/>
            </a:solidFill>
            <a:prstDash val="solid"/>
          </a:ln>
        </p:spPr>
      </p:sp>
      <p:sp>
        <p:nvSpPr>
          <p:cNvPr id="31" name="txt_261"/>
          <p:cNvSpPr txBox="1"/>
          <p:nvPr/>
        </p:nvSpPr>
        <p:spPr>
          <a:xfrm>
            <a:off x="6281928" y="322783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OWL model, rules and R2RML mappings</a:t>
            </a:r>
            <a:endParaRPr lang="en-US" sz="1200" dirty="0"/>
          </a:p>
        </p:txBody>
      </p:sp>
      <p:sp>
        <p:nvSpPr>
          <p:cNvPr id="32" name="flowbox_262"/>
          <p:cNvSpPr/>
          <p:nvPr/>
        </p:nvSpPr>
        <p:spPr>
          <a:xfrm>
            <a:off x="6172200" y="3959352"/>
            <a:ext cx="2971800" cy="530352"/>
          </a:xfrm>
          <a:prstGeom prst="roundRect">
            <a:avLst>
              <a:gd name="adj" fmla="val 10345"/>
            </a:avLst>
          </a:prstGeom>
          <a:solidFill>
            <a:schemeClr val="accent3"/>
          </a:solidFill>
          <a:ln w="12700">
            <a:solidFill>
              <a:schemeClr val="accent3"/>
            </a:solidFill>
            <a:prstDash val="solid"/>
          </a:ln>
        </p:spPr>
      </p:sp>
      <p:sp>
        <p:nvSpPr>
          <p:cNvPr id="33" name="txt_263"/>
          <p:cNvSpPr txBox="1"/>
          <p:nvPr/>
        </p:nvSpPr>
        <p:spPr>
          <a:xfrm>
            <a:off x="6281928" y="395935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Graph store: Lakebase or Delta triple view</a:t>
            </a:r>
            <a:endParaRPr lang="en-US" sz="1200" dirty="0"/>
          </a:p>
        </p:txBody>
      </p:sp>
      <p:sp>
        <p:nvSpPr>
          <p:cNvPr id="34" name="access_264"/>
          <p:cNvSpPr/>
          <p:nvPr/>
        </p:nvSpPr>
        <p:spPr>
          <a:xfrm>
            <a:off x="6172200" y="4690872"/>
            <a:ext cx="2971800" cy="530352"/>
          </a:xfrm>
          <a:prstGeom prst="roundRect">
            <a:avLst>
              <a:gd name="adj" fmla="val 10345"/>
            </a:avLst>
          </a:prstGeom>
          <a:solidFill>
            <a:schemeClr val="bg1"/>
          </a:solidFill>
          <a:ln w="22225">
            <a:solidFill>
              <a:schemeClr val="accent3"/>
            </a:solidFill>
            <a:prstDash val="solid"/>
          </a:ln>
        </p:spPr>
      </p:sp>
      <p:pic>
        <p:nvPicPr>
          <p:cNvPr id="35" name="accessicon_265" descr="preencoded.png">    </p:cNvPr>
          <p:cNvPicPr>
            <a:picLocks noChangeAspect="1"/>
          </p:cNvPicPr>
          <p:nvPr/>
        </p:nvPicPr>
        <p:blipFill>
          <a:blip r:embed="rId4"/>
          <a:stretch>
            <a:fillRect/>
          </a:stretch>
        </p:blipFill>
        <p:spPr>
          <a:xfrm>
            <a:off x="6300216" y="4818888"/>
            <a:ext cx="274320" cy="274320"/>
          </a:xfrm>
          <a:prstGeom prst="rect">
            <a:avLst/>
          </a:prstGeom>
        </p:spPr>
      </p:pic>
      <p:sp>
        <p:nvSpPr>
          <p:cNvPr id="36" name="txt_266"/>
          <p:cNvSpPr txBox="1"/>
          <p:nvPr/>
        </p:nvSpPr>
        <p:spPr>
          <a:xfrm>
            <a:off x="6675120" y="4690872"/>
            <a:ext cx="2377440" cy="530352"/>
          </a:xfrm>
          <a:prstGeom prst="rect">
            <a:avLst/>
          </a:prstGeom>
          <a:noFill/>
          <a:ln/>
        </p:spPr>
        <p:txBody>
          <a:bodyPr wrap="square" lIns="0" tIns="0" rIns="0" bIns="0" rtlCol="0" anchor="ctr"/>
          <a:lstStyle/>
          <a:p>
            <a:pPr indent="0" marL="0">
              <a:buNone/>
            </a:pPr>
            <a:r>
              <a:rPr lang="en-US" sz="1200" b="1" dirty="0">
                <a:solidFill>
                  <a:schemeClr val="accent3"/>
                </a:solidFill>
              </a:rPr>
              <a:t>Checked once, at sync, as its service principal</a:t>
            </a:r>
            <a:endParaRPr lang="en-US" sz="1200" dirty="0"/>
          </a:p>
        </p:txBody>
      </p:sp>
      <p:sp>
        <p:nvSpPr>
          <p:cNvPr id="37" name="flowbox_267"/>
          <p:cNvSpPr/>
          <p:nvPr/>
        </p:nvSpPr>
        <p:spPr>
          <a:xfrm>
            <a:off x="6172200" y="5422392"/>
            <a:ext cx="2971800" cy="530352"/>
          </a:xfrm>
          <a:prstGeom prst="roundRect">
            <a:avLst>
              <a:gd name="adj" fmla="val 10345"/>
            </a:avLst>
          </a:prstGeom>
          <a:solidFill>
            <a:schemeClr val="tx2"/>
          </a:solidFill>
          <a:ln w="12700">
            <a:solidFill>
              <a:schemeClr val="tx2"/>
            </a:solidFill>
            <a:prstDash val="solid"/>
          </a:ln>
        </p:spPr>
      </p:sp>
      <p:sp>
        <p:nvSpPr>
          <p:cNvPr id="38" name="txt_268"/>
          <p:cNvSpPr txBox="1"/>
          <p:nvPr/>
        </p:nvSpPr>
        <p:spPr>
          <a:xfrm>
            <a:off x="6281928" y="542239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Unity Catalog tables · ABAC row filters and masks</a:t>
            </a:r>
            <a:endParaRPr lang="en-US" sz="1200" dirty="0"/>
          </a:p>
        </p:txBody>
      </p:sp>
      <p:sp>
        <p:nvSpPr>
          <p:cNvPr id="39" name="line_269"/>
          <p:cNvSpPr/>
          <p:nvPr/>
        </p:nvSpPr>
        <p:spPr>
          <a:xfrm>
            <a:off x="7658100" y="2295144"/>
            <a:ext cx="0" cy="201168"/>
          </a:xfrm>
          <a:prstGeom prst="line">
            <a:avLst/>
          </a:prstGeom>
          <a:noFill/>
          <a:ln w="15875">
            <a:solidFill>
              <a:schemeClr val="accent6"/>
            </a:solidFill>
            <a:prstDash val="solid"/>
            <a:tailEnd type="triangle"/>
          </a:ln>
        </p:spPr>
      </p:sp>
      <p:sp>
        <p:nvSpPr>
          <p:cNvPr id="40" name="line_270"/>
          <p:cNvSpPr/>
          <p:nvPr/>
        </p:nvSpPr>
        <p:spPr>
          <a:xfrm>
            <a:off x="7658100" y="3026664"/>
            <a:ext cx="0" cy="201168"/>
          </a:xfrm>
          <a:prstGeom prst="line">
            <a:avLst/>
          </a:prstGeom>
          <a:noFill/>
          <a:ln w="15875">
            <a:solidFill>
              <a:schemeClr val="accent6"/>
            </a:solidFill>
            <a:prstDash val="solid"/>
            <a:tailEnd type="triangle"/>
          </a:ln>
        </p:spPr>
      </p:sp>
      <p:sp>
        <p:nvSpPr>
          <p:cNvPr id="41" name="line_271"/>
          <p:cNvSpPr/>
          <p:nvPr/>
        </p:nvSpPr>
        <p:spPr>
          <a:xfrm>
            <a:off x="7658100" y="3758184"/>
            <a:ext cx="0" cy="201168"/>
          </a:xfrm>
          <a:prstGeom prst="line">
            <a:avLst/>
          </a:prstGeom>
          <a:noFill/>
          <a:ln w="15875">
            <a:solidFill>
              <a:schemeClr val="accent6"/>
            </a:solidFill>
            <a:prstDash val="solid"/>
            <a:tailEnd type="triangle"/>
          </a:ln>
        </p:spPr>
      </p:sp>
      <p:sp>
        <p:nvSpPr>
          <p:cNvPr id="42" name="line_272"/>
          <p:cNvSpPr/>
          <p:nvPr/>
        </p:nvSpPr>
        <p:spPr>
          <a:xfrm>
            <a:off x="7658100" y="4489704"/>
            <a:ext cx="0" cy="201168"/>
          </a:xfrm>
          <a:prstGeom prst="line">
            <a:avLst/>
          </a:prstGeom>
          <a:noFill/>
          <a:ln w="15875">
            <a:solidFill>
              <a:schemeClr val="accent6"/>
            </a:solidFill>
            <a:prstDash val="solid"/>
            <a:tailEnd type="triangle"/>
          </a:ln>
        </p:spPr>
      </p:sp>
      <p:sp>
        <p:nvSpPr>
          <p:cNvPr id="43" name="line_273"/>
          <p:cNvSpPr/>
          <p:nvPr/>
        </p:nvSpPr>
        <p:spPr>
          <a:xfrm>
            <a:off x="7658100" y="5221224"/>
            <a:ext cx="0" cy="201168"/>
          </a:xfrm>
          <a:prstGeom prst="line">
            <a:avLst/>
          </a:prstGeom>
          <a:noFill/>
          <a:ln w="15875">
            <a:solidFill>
              <a:schemeClr val="accent6"/>
            </a:solidFill>
            <a:prstDash val="dash"/>
            <a:tailEnd type="triangle"/>
          </a:ln>
        </p:spPr>
      </p:sp>
      <p:sp>
        <p:nvSpPr>
          <p:cNvPr id="44" name="flowbox_274"/>
          <p:cNvSpPr/>
          <p:nvPr/>
        </p:nvSpPr>
        <p:spPr>
          <a:xfrm>
            <a:off x="9464040" y="2496312"/>
            <a:ext cx="2011680" cy="530352"/>
          </a:xfrm>
          <a:prstGeom prst="roundRect">
            <a:avLst>
              <a:gd name="adj" fmla="val 10345"/>
            </a:avLst>
          </a:prstGeom>
          <a:solidFill>
            <a:schemeClr val="accent3"/>
          </a:solidFill>
          <a:ln w="12700">
            <a:solidFill>
              <a:schemeClr val="accent3"/>
            </a:solidFill>
            <a:prstDash val="solid"/>
          </a:ln>
        </p:spPr>
      </p:sp>
      <p:sp>
        <p:nvSpPr>
          <p:cNvPr id="45" name="txt_275"/>
          <p:cNvSpPr txBox="1"/>
          <p:nvPr/>
        </p:nvSpPr>
        <p:spPr>
          <a:xfrm>
            <a:off x="9573768" y="249631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Visual canvas, LLM wizard, CDISC import</a:t>
            </a:r>
            <a:endParaRPr lang="en-US" sz="1200" dirty="0"/>
          </a:p>
        </p:txBody>
      </p:sp>
      <p:sp>
        <p:nvSpPr>
          <p:cNvPr id="46" name="flowbox_276"/>
          <p:cNvSpPr/>
          <p:nvPr/>
        </p:nvSpPr>
        <p:spPr>
          <a:xfrm>
            <a:off x="9464040" y="3227832"/>
            <a:ext cx="2011680" cy="530352"/>
          </a:xfrm>
          <a:prstGeom prst="roundRect">
            <a:avLst>
              <a:gd name="adj" fmla="val 10345"/>
            </a:avLst>
          </a:prstGeom>
          <a:solidFill>
            <a:schemeClr val="accent3"/>
          </a:solidFill>
          <a:ln w="12700">
            <a:solidFill>
              <a:schemeClr val="accent3"/>
            </a:solidFill>
            <a:prstDash val="solid"/>
          </a:ln>
        </p:spPr>
      </p:sp>
      <p:sp>
        <p:nvSpPr>
          <p:cNvPr id="47" name="txt_277"/>
          <p:cNvSpPr txBox="1"/>
          <p:nvPr/>
        </p:nvSpPr>
        <p:spPr>
          <a:xfrm>
            <a:off x="9573768" y="322783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Model in UC Volume; triples in Delta, Lakebase</a:t>
            </a:r>
            <a:endParaRPr lang="en-US" sz="1200" dirty="0"/>
          </a:p>
        </p:txBody>
      </p:sp>
      <p:sp>
        <p:nvSpPr>
          <p:cNvPr id="48" name="flowbox_278"/>
          <p:cNvSpPr/>
          <p:nvPr/>
        </p:nvSpPr>
        <p:spPr>
          <a:xfrm>
            <a:off x="9464040" y="5422392"/>
            <a:ext cx="2011680" cy="530352"/>
          </a:xfrm>
          <a:prstGeom prst="roundRect">
            <a:avLst>
              <a:gd name="adj" fmla="val 10345"/>
            </a:avLst>
          </a:prstGeom>
          <a:solidFill>
            <a:schemeClr val="accent3"/>
          </a:solidFill>
          <a:ln w="12700">
            <a:solidFill>
              <a:schemeClr val="accent3"/>
            </a:solidFill>
            <a:prstDash val="solid"/>
          </a:ln>
        </p:spPr>
      </p:sp>
      <p:sp>
        <p:nvSpPr>
          <p:cNvPr id="49" name="txt_279"/>
          <p:cNvSpPr txBox="1"/>
          <p:nvPr/>
        </p:nvSpPr>
        <p:spPr>
          <a:xfrm>
            <a:off x="9573768" y="542239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Sync copies triples, as a service principal</a:t>
            </a:r>
            <a:endParaRPr lang="en-US" sz="1200" dirty="0"/>
          </a:p>
        </p:txBody>
      </p:sp>
      <p:sp>
        <p:nvSpPr>
          <p:cNvPr id="50" name="line_280"/>
          <p:cNvSpPr/>
          <p:nvPr/>
        </p:nvSpPr>
        <p:spPr>
          <a:xfrm>
            <a:off x="10469880" y="3026664"/>
            <a:ext cx="0" cy="201168"/>
          </a:xfrm>
          <a:prstGeom prst="line">
            <a:avLst/>
          </a:prstGeom>
          <a:noFill/>
          <a:ln w="15875">
            <a:solidFill>
              <a:schemeClr val="accent6"/>
            </a:solidFill>
            <a:prstDash val="solid"/>
            <a:tailEnd type="triangle"/>
          </a:ln>
        </p:spPr>
      </p:sp>
      <p:sp>
        <p:nvSpPr>
          <p:cNvPr id="51" name="line_281"/>
          <p:cNvSpPr/>
          <p:nvPr/>
        </p:nvSpPr>
        <p:spPr>
          <a:xfrm>
            <a:off x="9144000" y="3493008"/>
            <a:ext cx="320040" cy="0"/>
          </a:xfrm>
          <a:prstGeom prst="line">
            <a:avLst/>
          </a:prstGeom>
          <a:noFill/>
          <a:ln w="15875">
            <a:solidFill>
              <a:schemeClr val="accent6"/>
            </a:solidFill>
            <a:prstDash val="solid"/>
            <a:headEnd type="triangle"/>
          </a:ln>
        </p:spPr>
      </p:sp>
      <p:sp>
        <p:nvSpPr>
          <p:cNvPr id="52" name="line_282"/>
          <p:cNvSpPr/>
          <p:nvPr/>
        </p:nvSpPr>
        <p:spPr>
          <a:xfrm>
            <a:off x="9144000" y="5687568"/>
            <a:ext cx="320040" cy="0"/>
          </a:xfrm>
          <a:prstGeom prst="line">
            <a:avLst/>
          </a:prstGeom>
          <a:noFill/>
          <a:ln w="22225">
            <a:solidFill>
              <a:schemeClr val="accent3"/>
            </a:solidFill>
            <a:prstDash val="solid"/>
            <a:tailEnd type="triangle"/>
          </a:ln>
        </p:spPr>
      </p:sp>
      <p:sp>
        <p:nvSpPr>
          <p:cNvPr id="53" name="line_283"/>
          <p:cNvSpPr/>
          <p:nvPr/>
        </p:nvSpPr>
        <p:spPr>
          <a:xfrm>
            <a:off x="10469880" y="4224528"/>
            <a:ext cx="0" cy="1197864"/>
          </a:xfrm>
          <a:prstGeom prst="line">
            <a:avLst/>
          </a:prstGeom>
          <a:noFill/>
          <a:ln w="22225">
            <a:solidFill>
              <a:schemeClr val="accent3"/>
            </a:solidFill>
            <a:prstDash val="solid"/>
          </a:ln>
        </p:spPr>
      </p:sp>
      <p:sp>
        <p:nvSpPr>
          <p:cNvPr id="54" name="line_284"/>
          <p:cNvSpPr/>
          <p:nvPr/>
        </p:nvSpPr>
        <p:spPr>
          <a:xfrm>
            <a:off x="9144000" y="4224528"/>
            <a:ext cx="1325880" cy="0"/>
          </a:xfrm>
          <a:prstGeom prst="line">
            <a:avLst/>
          </a:prstGeom>
          <a:noFill/>
          <a:ln w="22225">
            <a:solidFill>
              <a:schemeClr val="accent3"/>
            </a:solidFill>
            <a:prstDash val="solid"/>
            <a:headEnd type="triangle"/>
          </a:ln>
        </p:spPr>
      </p:sp>
      <p:sp>
        <p:nvSpPr>
          <p:cNvPr id="55" name="txt_285"/>
          <p:cNvSpPr txBox="1"/>
          <p:nvPr/>
        </p:nvSpPr>
        <p:spPr>
          <a:xfrm>
            <a:off x="10543032" y="4828032"/>
            <a:ext cx="914400" cy="256032"/>
          </a:xfrm>
          <a:prstGeom prst="rect">
            <a:avLst/>
          </a:prstGeom>
          <a:noFill/>
          <a:ln/>
        </p:spPr>
        <p:txBody>
          <a:bodyPr wrap="square" lIns="0" tIns="0" rIns="0" bIns="0" rtlCol="0" anchor="t"/>
          <a:lstStyle/>
          <a:p>
            <a:pPr indent="0" marL="0">
              <a:buNone/>
            </a:pPr>
            <a:r>
              <a:rPr lang="en-US" sz="1000" i="1" dirty="0">
                <a:solidFill>
                  <a:schemeClr val="accent3"/>
                </a:solidFill>
              </a:rPr>
              <a:t>sync copy</a:t>
            </a:r>
            <a:endParaRPr lang="en-US" sz="1000" dirty="0"/>
          </a:p>
        </p:txBody>
      </p:sp>
      <p:sp>
        <p:nvSpPr>
          <p:cNvPr id="56" name="legend_286"/>
          <p:cNvSpPr/>
          <p:nvPr/>
        </p:nvSpPr>
        <p:spPr>
          <a:xfrm>
            <a:off x="5120640" y="6089904"/>
            <a:ext cx="274320" cy="164592"/>
          </a:xfrm>
          <a:prstGeom prst="roundRect">
            <a:avLst>
              <a:gd name="adj" fmla="val 16667"/>
            </a:avLst>
          </a:prstGeom>
          <a:solidFill>
            <a:schemeClr val="accent3"/>
          </a:solidFill>
          <a:ln w="12700">
            <a:solidFill>
              <a:schemeClr val="accent3"/>
            </a:solidFill>
            <a:prstDash val="solid"/>
          </a:ln>
        </p:spPr>
      </p:sp>
      <p:sp>
        <p:nvSpPr>
          <p:cNvPr id="57" name="txt_287"/>
          <p:cNvSpPr txBox="1"/>
          <p:nvPr/>
        </p:nvSpPr>
        <p:spPr>
          <a:xfrm>
            <a:off x="5468112" y="6053328"/>
            <a:ext cx="1097280" cy="237744"/>
          </a:xfrm>
          <a:prstGeom prst="rect">
            <a:avLst/>
          </a:prstGeom>
          <a:noFill/>
          <a:ln/>
        </p:spPr>
        <p:txBody>
          <a:bodyPr wrap="square" lIns="0" tIns="0" rIns="0" bIns="0" rtlCol="0" anchor="ctr"/>
          <a:lstStyle/>
          <a:p>
            <a:pPr indent="0" marL="0">
              <a:buNone/>
            </a:pPr>
            <a:r>
              <a:rPr lang="en-US" sz="1000" dirty="0">
                <a:solidFill>
                  <a:schemeClr val="accent6"/>
                </a:solidFill>
              </a:rPr>
              <a:t>This option</a:t>
            </a:r>
            <a:endParaRPr lang="en-US" sz="1000" dirty="0"/>
          </a:p>
        </p:txBody>
      </p:sp>
      <p:sp>
        <p:nvSpPr>
          <p:cNvPr id="58" name="legend_288"/>
          <p:cNvSpPr/>
          <p:nvPr/>
        </p:nvSpPr>
        <p:spPr>
          <a:xfrm>
            <a:off x="6537960" y="6089904"/>
            <a:ext cx="274320" cy="164592"/>
          </a:xfrm>
          <a:prstGeom prst="roundRect">
            <a:avLst>
              <a:gd name="adj" fmla="val 16667"/>
            </a:avLst>
          </a:prstGeom>
          <a:solidFill>
            <a:schemeClr val="bg1"/>
          </a:solidFill>
          <a:ln w="12700">
            <a:solidFill>
              <a:schemeClr val="accent6"/>
            </a:solidFill>
            <a:prstDash val="solid"/>
          </a:ln>
        </p:spPr>
      </p:sp>
      <p:sp>
        <p:nvSpPr>
          <p:cNvPr id="59" name="txt_289"/>
          <p:cNvSpPr txBox="1"/>
          <p:nvPr/>
        </p:nvSpPr>
        <p:spPr>
          <a:xfrm>
            <a:off x="6885432" y="6053328"/>
            <a:ext cx="1554480" cy="237744"/>
          </a:xfrm>
          <a:prstGeom prst="rect">
            <a:avLst/>
          </a:prstGeom>
          <a:noFill/>
          <a:ln/>
        </p:spPr>
        <p:txBody>
          <a:bodyPr wrap="square" lIns="0" tIns="0" rIns="0" bIns="0" rtlCol="0" anchor="ctr"/>
          <a:lstStyle/>
          <a:p>
            <a:pPr indent="0" marL="0">
              <a:buNone/>
            </a:pPr>
            <a:r>
              <a:rPr lang="en-US" sz="1000" dirty="0">
                <a:solidFill>
                  <a:schemeClr val="accent6"/>
                </a:solidFill>
              </a:rPr>
              <a:t>Platform or other tool</a:t>
            </a:r>
            <a:endParaRPr lang="en-US" sz="1000" dirty="0"/>
          </a:p>
        </p:txBody>
      </p:sp>
      <p:sp>
        <p:nvSpPr>
          <p:cNvPr id="60" name="legend_290"/>
          <p:cNvSpPr/>
          <p:nvPr/>
        </p:nvSpPr>
        <p:spPr>
          <a:xfrm>
            <a:off x="8412480" y="6089904"/>
            <a:ext cx="274320" cy="164592"/>
          </a:xfrm>
          <a:prstGeom prst="roundRect">
            <a:avLst>
              <a:gd name="adj" fmla="val 16667"/>
            </a:avLst>
          </a:prstGeom>
          <a:solidFill>
            <a:schemeClr val="bg1"/>
          </a:solidFill>
          <a:ln w="12700">
            <a:solidFill>
              <a:schemeClr val="accent6"/>
            </a:solidFill>
            <a:prstDash val="dash"/>
          </a:ln>
        </p:spPr>
      </p:sp>
      <p:sp>
        <p:nvSpPr>
          <p:cNvPr id="61" name="txt_291"/>
          <p:cNvSpPr txBox="1"/>
          <p:nvPr/>
        </p:nvSpPr>
        <p:spPr>
          <a:xfrm>
            <a:off x="8759952" y="6053328"/>
            <a:ext cx="1005840" cy="237744"/>
          </a:xfrm>
          <a:prstGeom prst="rect">
            <a:avLst/>
          </a:prstGeom>
          <a:noFill/>
          <a:ln/>
        </p:spPr>
        <p:txBody>
          <a:bodyPr wrap="square" lIns="0" tIns="0" rIns="0" bIns="0" rtlCol="0" anchor="ctr"/>
          <a:lstStyle/>
          <a:p>
            <a:pPr indent="0" marL="0">
              <a:buNone/>
            </a:pPr>
            <a:r>
              <a:rPr lang="en-US" sz="1000" dirty="0">
                <a:solidFill>
                  <a:schemeClr val="accent6"/>
                </a:solidFill>
              </a:rPr>
              <a:t>Not involved</a:t>
            </a:r>
            <a:endParaRPr lang="en-US" sz="1000" dirty="0"/>
          </a:p>
        </p:txBody>
      </p:sp>
      <p:sp>
        <p:nvSpPr>
          <p:cNvPr id="62" name="line_292"/>
          <p:cNvSpPr/>
          <p:nvPr/>
        </p:nvSpPr>
        <p:spPr>
          <a:xfrm>
            <a:off x="9784080" y="6172200"/>
            <a:ext cx="320040" cy="0"/>
          </a:xfrm>
          <a:prstGeom prst="line">
            <a:avLst/>
          </a:prstGeom>
          <a:noFill/>
          <a:ln w="15875">
            <a:solidFill>
              <a:schemeClr val="accent6"/>
            </a:solidFill>
            <a:prstDash val="dash"/>
          </a:ln>
        </p:spPr>
      </p:sp>
      <p:sp>
        <p:nvSpPr>
          <p:cNvPr id="63" name="txt_293"/>
          <p:cNvSpPr txBox="1"/>
          <p:nvPr/>
        </p:nvSpPr>
        <p:spPr>
          <a:xfrm>
            <a:off x="10177272" y="6053328"/>
            <a:ext cx="1371600" cy="237744"/>
          </a:xfrm>
          <a:prstGeom prst="rect">
            <a:avLst/>
          </a:prstGeom>
          <a:noFill/>
          <a:ln/>
        </p:spPr>
        <p:txBody>
          <a:bodyPr wrap="square" lIns="0" tIns="0" rIns="0" bIns="0" rtlCol="0" anchor="ctr"/>
          <a:lstStyle/>
          <a:p>
            <a:pPr indent="0" marL="0">
              <a:buNone/>
            </a:pPr>
            <a:r>
              <a:rPr lang="en-US" sz="1000" dirty="0">
                <a:solidFill>
                  <a:schemeClr val="accent6"/>
                </a:solidFill>
              </a:rPr>
              <a:t>No runtime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Ontop: formal semantics at query time</a:t>
            </a:r>
            <a:endParaRPr lang="en-US" sz="3600" dirty="0"/>
          </a:p>
        </p:txBody>
      </p:sp>
      <p:pic>
        <p:nvPicPr>
          <p:cNvPr id="3" name="secicon_294" descr="preencoded.png">    </p:cNvPr>
          <p:cNvPicPr>
            <a:picLocks noChangeAspect="1"/>
          </p:cNvPicPr>
          <p:nvPr/>
        </p:nvPicPr>
        <p:blipFill>
          <a:blip r:embed="rId1"/>
          <a:stretch>
            <a:fillRect/>
          </a:stretch>
        </p:blipFill>
        <p:spPr>
          <a:xfrm>
            <a:off x="548640" y="1435608"/>
            <a:ext cx="237744" cy="237744"/>
          </a:xfrm>
          <a:prstGeom prst="rect">
            <a:avLst/>
          </a:prstGeom>
        </p:spPr>
      </p:pic>
      <p:sp>
        <p:nvSpPr>
          <p:cNvPr id="4" name="txt_295"/>
          <p:cNvSpPr txBox="1"/>
          <p:nvPr/>
        </p:nvSpPr>
        <p:spPr>
          <a:xfrm>
            <a:off x="896112" y="14173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KEY POINTS</a:t>
            </a:r>
            <a:endParaRPr lang="en-US" sz="1300" dirty="0"/>
          </a:p>
        </p:txBody>
      </p:sp>
      <p:sp>
        <p:nvSpPr>
          <p:cNvPr id="5" name="bullets_296"/>
          <p:cNvSpPr txBox="1"/>
          <p:nvPr/>
        </p:nvSpPr>
        <p:spPr>
          <a:xfrm>
            <a:off x="548640" y="1764792"/>
            <a:ext cx="4297680"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Textbook OBDA: OWL 2 QL ontology plus R2RML or OBDA mappings</a:t>
            </a:r>
            <a:endParaRPr lang="en-US" sz="1400" dirty="0"/>
          </a:p>
          <a:p>
            <a:pPr marL="177800" indent="-177800">
              <a:spcAft>
                <a:spcPts val="500"/>
              </a:spcAft>
              <a:buSzPct val="100000"/>
              <a:buChar char="•"/>
            </a:pPr>
            <a:r>
              <a:rPr lang="en-US" sz="1400" dirty="0">
                <a:solidFill>
                  <a:schemeClr val="tx1"/>
                </a:solidFill>
              </a:rPr>
              <a:t>Rewrites SPARQL to SQL on a Databricks SQL warehouse; no data is copied</a:t>
            </a:r>
            <a:endParaRPr lang="en-US" sz="1400" dirty="0"/>
          </a:p>
          <a:p>
            <a:pPr marL="177800" indent="-177800">
              <a:spcAft>
                <a:spcPts val="500"/>
              </a:spcAft>
              <a:buSzPct val="100000"/>
              <a:buChar char="•"/>
            </a:pPr>
            <a:r>
              <a:rPr lang="en-US" sz="1400" dirty="0">
                <a:solidFill>
                  <a:schemeClr val="tx1"/>
                </a:solidFill>
              </a:rPr>
              <a:t>Reasoning by query rewriting; open source under Apache 2.0</a:t>
            </a:r>
            <a:endParaRPr lang="en-US" sz="1400" dirty="0"/>
          </a:p>
        </p:txBody>
      </p:sp>
      <p:pic>
        <p:nvPicPr>
          <p:cNvPr id="6" name="secicon_297" descr="preencoded.png">    </p:cNvPr>
          <p:cNvPicPr>
            <a:picLocks noChangeAspect="1"/>
          </p:cNvPicPr>
          <p:nvPr/>
        </p:nvPicPr>
        <p:blipFill>
          <a:blip r:embed="rId2"/>
          <a:stretch>
            <a:fillRect/>
          </a:stretch>
        </p:blipFill>
        <p:spPr>
          <a:xfrm>
            <a:off x="548640" y="3493008"/>
            <a:ext cx="237744" cy="237744"/>
          </a:xfrm>
          <a:prstGeom prst="rect">
            <a:avLst/>
          </a:prstGeom>
        </p:spPr>
      </p:pic>
      <p:sp>
        <p:nvSpPr>
          <p:cNvPr id="7" name="txt_298"/>
          <p:cNvSpPr txBox="1"/>
          <p:nvPr/>
        </p:nvSpPr>
        <p:spPr>
          <a:xfrm>
            <a:off x="896112" y="34747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GOTCHAS</a:t>
            </a:r>
            <a:endParaRPr lang="en-US" sz="1300" dirty="0"/>
          </a:p>
        </p:txBody>
      </p:sp>
      <p:sp>
        <p:nvSpPr>
          <p:cNvPr id="8" name="bullets_299"/>
          <p:cNvSpPr txBox="1"/>
          <p:nvPr/>
        </p:nvSpPr>
        <p:spPr>
          <a:xfrm>
            <a:off x="548640" y="3822192"/>
            <a:ext cx="4297680" cy="10241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Declare keys via lenses; Databricks doesn't expose constraints to Ontop</a:t>
            </a:r>
            <a:endParaRPr lang="en-US" sz="1400" dirty="0"/>
          </a:p>
          <a:p>
            <a:pPr marL="177800" indent="-177800">
              <a:spcAft>
                <a:spcPts val="500"/>
              </a:spcAft>
              <a:buSzPct val="100000"/>
              <a:buChar char="•"/>
            </a:pPr>
            <a:r>
              <a:rPr lang="en-US" sz="1400" dirty="0">
                <a:solidFill>
                  <a:schemeClr val="tx1"/>
                </a:solidFill>
              </a:rPr>
              <a:t>Ontology and mappings live outside UC and need OWL and R2RML skills</a:t>
            </a:r>
            <a:endParaRPr lang="en-US" sz="1400" dirty="0"/>
          </a:p>
        </p:txBody>
      </p:sp>
      <p:pic>
        <p:nvPicPr>
          <p:cNvPr id="9" name="secicon_300" descr="preencoded.png">    </p:cNvPr>
          <p:cNvPicPr>
            <a:picLocks noChangeAspect="1"/>
          </p:cNvPicPr>
          <p:nvPr/>
        </p:nvPicPr>
        <p:blipFill>
          <a:blip r:embed="rId3"/>
          <a:stretch>
            <a:fillRect/>
          </a:stretch>
        </p:blipFill>
        <p:spPr>
          <a:xfrm>
            <a:off x="548640" y="5001768"/>
            <a:ext cx="237744" cy="237744"/>
          </a:xfrm>
          <a:prstGeom prst="rect">
            <a:avLst/>
          </a:prstGeom>
        </p:spPr>
      </p:pic>
      <p:sp>
        <p:nvSpPr>
          <p:cNvPr id="10" name="txt_301"/>
          <p:cNvSpPr txBox="1"/>
          <p:nvPr/>
        </p:nvSpPr>
        <p:spPr>
          <a:xfrm>
            <a:off x="896112" y="49834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RED FLAGS</a:t>
            </a:r>
            <a:endParaRPr lang="en-US" sz="1300" dirty="0"/>
          </a:p>
        </p:txBody>
      </p:sp>
      <p:sp>
        <p:nvSpPr>
          <p:cNvPr id="11" name="bullets_302"/>
          <p:cNvSpPr txBox="1"/>
          <p:nvPr/>
        </p:nvSpPr>
        <p:spPr>
          <a:xfrm>
            <a:off x="548640" y="5330952"/>
            <a:ext cx="4297680"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One JDBC identity per endpoint: UC never sees the actual user</a:t>
            </a:r>
            <a:endParaRPr lang="en-US" sz="1400" dirty="0"/>
          </a:p>
          <a:p>
            <a:pPr marL="177800" indent="-177800">
              <a:spcAft>
                <a:spcPts val="500"/>
              </a:spcAft>
              <a:buSzPct val="100000"/>
              <a:buChar char="•"/>
            </a:pPr>
            <a:r>
              <a:rPr lang="en-US" sz="1400" dirty="0">
                <a:solidFill>
                  <a:schemeClr val="tx1"/>
                </a:solidFill>
              </a:rPr>
              <a:t>Self-run Java service: we own hosting, upgrades and security</a:t>
            </a:r>
            <a:endParaRPr lang="en-US" sz="1400" dirty="0"/>
          </a:p>
        </p:txBody>
      </p:sp>
      <p:sp>
        <p:nvSpPr>
          <p:cNvPr id="12" name="txt_303"/>
          <p:cNvSpPr txBox="1"/>
          <p:nvPr/>
        </p:nvSpPr>
        <p:spPr>
          <a:xfrm>
            <a:off x="6172200" y="1371600"/>
            <a:ext cx="29718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QUERY PATH  ·  USER ACCESS</a:t>
            </a:r>
            <a:endParaRPr lang="en-US" sz="1100" dirty="0"/>
          </a:p>
        </p:txBody>
      </p:sp>
      <p:sp>
        <p:nvSpPr>
          <p:cNvPr id="13" name="txt_304"/>
          <p:cNvSpPr txBox="1"/>
          <p:nvPr/>
        </p:nvSpPr>
        <p:spPr>
          <a:xfrm>
            <a:off x="9464040" y="1371600"/>
            <a:ext cx="210312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BUILD  ·  DATA FLOW</a:t>
            </a:r>
            <a:endParaRPr lang="en-US" sz="1100" dirty="0"/>
          </a:p>
        </p:txBody>
      </p:sp>
      <p:sp>
        <p:nvSpPr>
          <p:cNvPr id="14" name="lane_305"/>
          <p:cNvSpPr/>
          <p:nvPr/>
        </p:nvSpPr>
        <p:spPr>
          <a:xfrm>
            <a:off x="5120640" y="1719072"/>
            <a:ext cx="6492240" cy="621792"/>
          </a:xfrm>
          <a:prstGeom prst="roundRect">
            <a:avLst>
              <a:gd name="adj" fmla="val 8824"/>
            </a:avLst>
          </a:prstGeom>
          <a:solidFill>
            <a:schemeClr val="bg2"/>
          </a:solidFill>
          <a:ln w="12700">
            <a:solidFill>
              <a:schemeClr val="bg2"/>
            </a:solidFill>
            <a:prstDash val="solid"/>
          </a:ln>
        </p:spPr>
      </p:sp>
      <p:sp>
        <p:nvSpPr>
          <p:cNvPr id="15" name="txt_306"/>
          <p:cNvSpPr txBox="1"/>
          <p:nvPr/>
        </p:nvSpPr>
        <p:spPr>
          <a:xfrm>
            <a:off x="5230368" y="17190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WHO ASKS</a:t>
            </a:r>
            <a:endParaRPr lang="en-US" sz="1000" dirty="0"/>
          </a:p>
        </p:txBody>
      </p:sp>
      <p:sp>
        <p:nvSpPr>
          <p:cNvPr id="16" name="lane_307"/>
          <p:cNvSpPr/>
          <p:nvPr/>
        </p:nvSpPr>
        <p:spPr>
          <a:xfrm>
            <a:off x="5120640" y="2450592"/>
            <a:ext cx="6492240" cy="621792"/>
          </a:xfrm>
          <a:prstGeom prst="roundRect">
            <a:avLst>
              <a:gd name="adj" fmla="val 8824"/>
            </a:avLst>
          </a:prstGeom>
          <a:solidFill>
            <a:schemeClr val="bg2"/>
          </a:solidFill>
          <a:ln w="12700">
            <a:solidFill>
              <a:schemeClr val="bg2"/>
            </a:solidFill>
            <a:prstDash val="solid"/>
          </a:ln>
        </p:spPr>
      </p:sp>
      <p:sp>
        <p:nvSpPr>
          <p:cNvPr id="17" name="txt_308"/>
          <p:cNvSpPr txBox="1"/>
          <p:nvPr/>
        </p:nvSpPr>
        <p:spPr>
          <a:xfrm>
            <a:off x="5230368" y="245059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INTERFACE</a:t>
            </a:r>
            <a:endParaRPr lang="en-US" sz="1000" dirty="0"/>
          </a:p>
        </p:txBody>
      </p:sp>
      <p:sp>
        <p:nvSpPr>
          <p:cNvPr id="18" name="lane_309"/>
          <p:cNvSpPr/>
          <p:nvPr/>
        </p:nvSpPr>
        <p:spPr>
          <a:xfrm>
            <a:off x="5120640" y="3182112"/>
            <a:ext cx="6492240" cy="621792"/>
          </a:xfrm>
          <a:prstGeom prst="roundRect">
            <a:avLst>
              <a:gd name="adj" fmla="val 8824"/>
            </a:avLst>
          </a:prstGeom>
          <a:solidFill>
            <a:schemeClr val="bg2"/>
          </a:solidFill>
          <a:ln w="12700">
            <a:solidFill>
              <a:schemeClr val="bg2"/>
            </a:solidFill>
            <a:prstDash val="solid"/>
          </a:ln>
        </p:spPr>
      </p:sp>
      <p:sp>
        <p:nvSpPr>
          <p:cNvPr id="19" name="txt_310"/>
          <p:cNvSpPr txBox="1"/>
          <p:nvPr/>
        </p:nvSpPr>
        <p:spPr>
          <a:xfrm>
            <a:off x="5230368" y="318211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MEANING</a:t>
            </a:r>
            <a:endParaRPr lang="en-US" sz="1000" dirty="0"/>
          </a:p>
        </p:txBody>
      </p:sp>
      <p:sp>
        <p:nvSpPr>
          <p:cNvPr id="20" name="lane_311"/>
          <p:cNvSpPr/>
          <p:nvPr/>
        </p:nvSpPr>
        <p:spPr>
          <a:xfrm>
            <a:off x="5120640" y="3913632"/>
            <a:ext cx="6492240" cy="621792"/>
          </a:xfrm>
          <a:prstGeom prst="roundRect">
            <a:avLst>
              <a:gd name="adj" fmla="val 8824"/>
            </a:avLst>
          </a:prstGeom>
          <a:solidFill>
            <a:schemeClr val="bg2"/>
          </a:solidFill>
          <a:ln w="12700">
            <a:solidFill>
              <a:schemeClr val="bg2"/>
            </a:solidFill>
            <a:prstDash val="solid"/>
          </a:ln>
        </p:spPr>
      </p:sp>
      <p:sp>
        <p:nvSpPr>
          <p:cNvPr id="21" name="txt_312"/>
          <p:cNvSpPr txBox="1"/>
          <p:nvPr/>
        </p:nvSpPr>
        <p:spPr>
          <a:xfrm>
            <a:off x="5230368" y="391363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EXECUTION</a:t>
            </a:r>
            <a:endParaRPr lang="en-US" sz="1000" dirty="0"/>
          </a:p>
        </p:txBody>
      </p:sp>
      <p:sp>
        <p:nvSpPr>
          <p:cNvPr id="22" name="lane_313"/>
          <p:cNvSpPr/>
          <p:nvPr/>
        </p:nvSpPr>
        <p:spPr>
          <a:xfrm>
            <a:off x="5120640" y="4645152"/>
            <a:ext cx="6492240" cy="621792"/>
          </a:xfrm>
          <a:prstGeom prst="roundRect">
            <a:avLst>
              <a:gd name="adj" fmla="val 8824"/>
            </a:avLst>
          </a:prstGeom>
          <a:solidFill>
            <a:schemeClr val="bg2"/>
          </a:solidFill>
          <a:ln w="12700">
            <a:solidFill>
              <a:schemeClr val="bg2"/>
            </a:solidFill>
            <a:prstDash val="solid"/>
          </a:ln>
        </p:spPr>
      </p:sp>
      <p:sp>
        <p:nvSpPr>
          <p:cNvPr id="23" name="txt_314"/>
          <p:cNvSpPr txBox="1"/>
          <p:nvPr/>
        </p:nvSpPr>
        <p:spPr>
          <a:xfrm>
            <a:off x="5230368" y="464515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ACCESS CHECK</a:t>
            </a:r>
            <a:endParaRPr lang="en-US" sz="1000" dirty="0"/>
          </a:p>
        </p:txBody>
      </p:sp>
      <p:sp>
        <p:nvSpPr>
          <p:cNvPr id="24" name="lane_315"/>
          <p:cNvSpPr/>
          <p:nvPr/>
        </p:nvSpPr>
        <p:spPr>
          <a:xfrm>
            <a:off x="5120640" y="5376672"/>
            <a:ext cx="6492240" cy="621792"/>
          </a:xfrm>
          <a:prstGeom prst="roundRect">
            <a:avLst>
              <a:gd name="adj" fmla="val 8824"/>
            </a:avLst>
          </a:prstGeom>
          <a:solidFill>
            <a:schemeClr val="bg2"/>
          </a:solidFill>
          <a:ln w="12700">
            <a:solidFill>
              <a:schemeClr val="bg2"/>
            </a:solidFill>
            <a:prstDash val="solid"/>
          </a:ln>
        </p:spPr>
      </p:sp>
      <p:sp>
        <p:nvSpPr>
          <p:cNvPr id="25" name="txt_316"/>
          <p:cNvSpPr txBox="1"/>
          <p:nvPr/>
        </p:nvSpPr>
        <p:spPr>
          <a:xfrm>
            <a:off x="5230368" y="5376672"/>
            <a:ext cx="868680" cy="621792"/>
          </a:xfrm>
          <a:prstGeom prst="rect">
            <a:avLst/>
          </a:prstGeom>
          <a:noFill/>
          <a:ln/>
        </p:spPr>
        <p:txBody>
          <a:bodyPr wrap="square" lIns="0" tIns="0" rIns="0" bIns="0" rtlCol="0" anchor="ctr"/>
          <a:lstStyle/>
          <a:p>
            <a:pPr indent="0" marL="0">
              <a:buNone/>
            </a:pPr>
            <a:r>
              <a:rPr lang="en-US" sz="1000" b="1" spc="50" kern="0" dirty="0">
                <a:solidFill>
                  <a:schemeClr val="accent6"/>
                </a:solidFill>
              </a:rPr>
              <a:t>DATA</a:t>
            </a:r>
            <a:endParaRPr lang="en-US" sz="1000" dirty="0"/>
          </a:p>
        </p:txBody>
      </p:sp>
      <p:sp>
        <p:nvSpPr>
          <p:cNvPr id="26" name="flowbox_317"/>
          <p:cNvSpPr/>
          <p:nvPr/>
        </p:nvSpPr>
        <p:spPr>
          <a:xfrm>
            <a:off x="6172200" y="1764792"/>
            <a:ext cx="2971800" cy="530352"/>
          </a:xfrm>
          <a:prstGeom prst="roundRect">
            <a:avLst>
              <a:gd name="adj" fmla="val 10345"/>
            </a:avLst>
          </a:prstGeom>
          <a:solidFill>
            <a:schemeClr val="bg1"/>
          </a:solidFill>
          <a:ln w="12700">
            <a:solidFill>
              <a:schemeClr val="accent6"/>
            </a:solidFill>
            <a:prstDash val="solid"/>
          </a:ln>
        </p:spPr>
      </p:sp>
      <p:sp>
        <p:nvSpPr>
          <p:cNvPr id="27" name="txt_318"/>
          <p:cNvSpPr txBox="1"/>
          <p:nvPr/>
        </p:nvSpPr>
        <p:spPr>
          <a:xfrm>
            <a:off x="6281928" y="1764792"/>
            <a:ext cx="2752344" cy="530352"/>
          </a:xfrm>
          <a:prstGeom prst="rect">
            <a:avLst/>
          </a:prstGeom>
          <a:noFill/>
          <a:ln/>
        </p:spPr>
        <p:txBody>
          <a:bodyPr wrap="square" lIns="0" tIns="0" rIns="0" bIns="0" rtlCol="0" anchor="ctr"/>
          <a:lstStyle/>
          <a:p>
            <a:pPr indent="0" marL="0">
              <a:buNone/>
            </a:pPr>
            <a:r>
              <a:rPr lang="en-US" sz="1200" dirty="0">
                <a:solidFill>
                  <a:schemeClr val="tx1"/>
                </a:solidFill>
              </a:rPr>
              <a:t>App, agent or analyst</a:t>
            </a:r>
            <a:endParaRPr lang="en-US" sz="1200" dirty="0"/>
          </a:p>
        </p:txBody>
      </p:sp>
      <p:sp>
        <p:nvSpPr>
          <p:cNvPr id="28" name="flowbox_319"/>
          <p:cNvSpPr/>
          <p:nvPr/>
        </p:nvSpPr>
        <p:spPr>
          <a:xfrm>
            <a:off x="6172200" y="2496312"/>
            <a:ext cx="2971800" cy="530352"/>
          </a:xfrm>
          <a:prstGeom prst="roundRect">
            <a:avLst>
              <a:gd name="adj" fmla="val 10345"/>
            </a:avLst>
          </a:prstGeom>
          <a:solidFill>
            <a:schemeClr val="accent4"/>
          </a:solidFill>
          <a:ln w="12700">
            <a:solidFill>
              <a:schemeClr val="accent4"/>
            </a:solidFill>
            <a:prstDash val="solid"/>
          </a:ln>
        </p:spPr>
      </p:sp>
      <p:sp>
        <p:nvSpPr>
          <p:cNvPr id="29" name="txt_320"/>
          <p:cNvSpPr txBox="1"/>
          <p:nvPr/>
        </p:nvSpPr>
        <p:spPr>
          <a:xfrm>
            <a:off x="6281928" y="249631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SPARQL endpoint</a:t>
            </a:r>
            <a:endParaRPr lang="en-US" sz="1200" dirty="0"/>
          </a:p>
        </p:txBody>
      </p:sp>
      <p:sp>
        <p:nvSpPr>
          <p:cNvPr id="30" name="flowbox_321"/>
          <p:cNvSpPr/>
          <p:nvPr/>
        </p:nvSpPr>
        <p:spPr>
          <a:xfrm>
            <a:off x="6172200" y="3227832"/>
            <a:ext cx="2971800" cy="530352"/>
          </a:xfrm>
          <a:prstGeom prst="roundRect">
            <a:avLst>
              <a:gd name="adj" fmla="val 10345"/>
            </a:avLst>
          </a:prstGeom>
          <a:solidFill>
            <a:schemeClr val="accent4"/>
          </a:solidFill>
          <a:ln w="12700">
            <a:solidFill>
              <a:schemeClr val="accent4"/>
            </a:solidFill>
            <a:prstDash val="solid"/>
          </a:ln>
        </p:spPr>
      </p:sp>
      <p:sp>
        <p:nvSpPr>
          <p:cNvPr id="31" name="txt_322"/>
          <p:cNvSpPr txBox="1"/>
          <p:nvPr/>
        </p:nvSpPr>
        <p:spPr>
          <a:xfrm>
            <a:off x="6281928" y="322783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OWL 2 QL ontology and mappings, outside UC</a:t>
            </a:r>
            <a:endParaRPr lang="en-US" sz="1200" dirty="0"/>
          </a:p>
        </p:txBody>
      </p:sp>
      <p:sp>
        <p:nvSpPr>
          <p:cNvPr id="32" name="flowbox_323"/>
          <p:cNvSpPr/>
          <p:nvPr/>
        </p:nvSpPr>
        <p:spPr>
          <a:xfrm>
            <a:off x="6172200" y="3959352"/>
            <a:ext cx="2971800" cy="530352"/>
          </a:xfrm>
          <a:prstGeom prst="roundRect">
            <a:avLst>
              <a:gd name="adj" fmla="val 10345"/>
            </a:avLst>
          </a:prstGeom>
          <a:solidFill>
            <a:schemeClr val="accent4"/>
          </a:solidFill>
          <a:ln w="12700">
            <a:solidFill>
              <a:schemeClr val="accent4"/>
            </a:solidFill>
            <a:prstDash val="solid"/>
          </a:ln>
        </p:spPr>
      </p:sp>
      <p:sp>
        <p:nvSpPr>
          <p:cNvPr id="33" name="txt_324"/>
          <p:cNvSpPr txBox="1"/>
          <p:nvPr/>
        </p:nvSpPr>
        <p:spPr>
          <a:xfrm>
            <a:off x="6281928" y="395935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Ontop rewrites SPARQL to SQL on a warehouse</a:t>
            </a:r>
            <a:endParaRPr lang="en-US" sz="1200" dirty="0"/>
          </a:p>
        </p:txBody>
      </p:sp>
      <p:sp>
        <p:nvSpPr>
          <p:cNvPr id="34" name="access_325"/>
          <p:cNvSpPr/>
          <p:nvPr/>
        </p:nvSpPr>
        <p:spPr>
          <a:xfrm>
            <a:off x="6172200" y="4690872"/>
            <a:ext cx="2971800" cy="530352"/>
          </a:xfrm>
          <a:prstGeom prst="roundRect">
            <a:avLst>
              <a:gd name="adj" fmla="val 10345"/>
            </a:avLst>
          </a:prstGeom>
          <a:solidFill>
            <a:schemeClr val="bg1"/>
          </a:solidFill>
          <a:ln w="22225">
            <a:solidFill>
              <a:schemeClr val="accent3"/>
            </a:solidFill>
            <a:prstDash val="solid"/>
          </a:ln>
        </p:spPr>
      </p:sp>
      <p:pic>
        <p:nvPicPr>
          <p:cNvPr id="35" name="accessicon_326" descr="preencoded.png">    </p:cNvPr>
          <p:cNvPicPr>
            <a:picLocks noChangeAspect="1"/>
          </p:cNvPicPr>
          <p:nvPr/>
        </p:nvPicPr>
        <p:blipFill>
          <a:blip r:embed="rId4"/>
          <a:stretch>
            <a:fillRect/>
          </a:stretch>
        </p:blipFill>
        <p:spPr>
          <a:xfrm>
            <a:off x="6300216" y="4818888"/>
            <a:ext cx="274320" cy="274320"/>
          </a:xfrm>
          <a:prstGeom prst="rect">
            <a:avLst/>
          </a:prstGeom>
        </p:spPr>
      </p:pic>
      <p:sp>
        <p:nvSpPr>
          <p:cNvPr id="36" name="txt_327"/>
          <p:cNvSpPr txBox="1"/>
          <p:nvPr/>
        </p:nvSpPr>
        <p:spPr>
          <a:xfrm>
            <a:off x="6675120" y="4690872"/>
            <a:ext cx="2377440" cy="530352"/>
          </a:xfrm>
          <a:prstGeom prst="rect">
            <a:avLst/>
          </a:prstGeom>
          <a:noFill/>
          <a:ln/>
        </p:spPr>
        <p:txBody>
          <a:bodyPr wrap="square" lIns="0" tIns="0" rIns="0" bIns="0" rtlCol="0" anchor="ctr"/>
          <a:lstStyle/>
          <a:p>
            <a:pPr indent="0" marL="0">
              <a:buNone/>
            </a:pPr>
            <a:r>
              <a:rPr lang="en-US" sz="1200" b="1" dirty="0">
                <a:solidFill>
                  <a:schemeClr val="accent3"/>
                </a:solidFill>
              </a:rPr>
              <a:t>UC sees one shared service credential</a:t>
            </a:r>
            <a:endParaRPr lang="en-US" sz="1200" dirty="0"/>
          </a:p>
        </p:txBody>
      </p:sp>
      <p:sp>
        <p:nvSpPr>
          <p:cNvPr id="37" name="flowbox_328"/>
          <p:cNvSpPr/>
          <p:nvPr/>
        </p:nvSpPr>
        <p:spPr>
          <a:xfrm>
            <a:off x="6172200" y="5422392"/>
            <a:ext cx="2971800" cy="530352"/>
          </a:xfrm>
          <a:prstGeom prst="roundRect">
            <a:avLst>
              <a:gd name="adj" fmla="val 10345"/>
            </a:avLst>
          </a:prstGeom>
          <a:solidFill>
            <a:schemeClr val="tx2"/>
          </a:solidFill>
          <a:ln w="12700">
            <a:solidFill>
              <a:schemeClr val="tx2"/>
            </a:solidFill>
            <a:prstDash val="solid"/>
          </a:ln>
        </p:spPr>
      </p:sp>
      <p:sp>
        <p:nvSpPr>
          <p:cNvPr id="38" name="txt_329"/>
          <p:cNvSpPr txBox="1"/>
          <p:nvPr/>
        </p:nvSpPr>
        <p:spPr>
          <a:xfrm>
            <a:off x="6281928" y="5422392"/>
            <a:ext cx="2752344" cy="530352"/>
          </a:xfrm>
          <a:prstGeom prst="rect">
            <a:avLst/>
          </a:prstGeom>
          <a:noFill/>
          <a:ln/>
        </p:spPr>
        <p:txBody>
          <a:bodyPr wrap="square" lIns="0" tIns="0" rIns="0" bIns="0" rtlCol="0" anchor="ctr"/>
          <a:lstStyle/>
          <a:p>
            <a:pPr indent="0" marL="0">
              <a:buNone/>
            </a:pPr>
            <a:r>
              <a:rPr lang="en-US" sz="1200" b="1" dirty="0">
                <a:solidFill>
                  <a:schemeClr val="bg1"/>
                </a:solidFill>
              </a:rPr>
              <a:t>Unity Catalog tables · ABAC row filters and masks</a:t>
            </a:r>
            <a:endParaRPr lang="en-US" sz="1200" dirty="0"/>
          </a:p>
        </p:txBody>
      </p:sp>
      <p:sp>
        <p:nvSpPr>
          <p:cNvPr id="39" name="line_330"/>
          <p:cNvSpPr/>
          <p:nvPr/>
        </p:nvSpPr>
        <p:spPr>
          <a:xfrm>
            <a:off x="7658100" y="2295144"/>
            <a:ext cx="0" cy="201168"/>
          </a:xfrm>
          <a:prstGeom prst="line">
            <a:avLst/>
          </a:prstGeom>
          <a:noFill/>
          <a:ln w="15875">
            <a:solidFill>
              <a:schemeClr val="accent6"/>
            </a:solidFill>
            <a:prstDash val="solid"/>
            <a:tailEnd type="triangle"/>
          </a:ln>
        </p:spPr>
      </p:sp>
      <p:sp>
        <p:nvSpPr>
          <p:cNvPr id="40" name="line_331"/>
          <p:cNvSpPr/>
          <p:nvPr/>
        </p:nvSpPr>
        <p:spPr>
          <a:xfrm>
            <a:off x="7658100" y="3026664"/>
            <a:ext cx="0" cy="201168"/>
          </a:xfrm>
          <a:prstGeom prst="line">
            <a:avLst/>
          </a:prstGeom>
          <a:noFill/>
          <a:ln w="15875">
            <a:solidFill>
              <a:schemeClr val="accent6"/>
            </a:solidFill>
            <a:prstDash val="solid"/>
            <a:tailEnd type="triangle"/>
          </a:ln>
        </p:spPr>
      </p:sp>
      <p:sp>
        <p:nvSpPr>
          <p:cNvPr id="41" name="line_332"/>
          <p:cNvSpPr/>
          <p:nvPr/>
        </p:nvSpPr>
        <p:spPr>
          <a:xfrm>
            <a:off x="7658100" y="3758184"/>
            <a:ext cx="0" cy="201168"/>
          </a:xfrm>
          <a:prstGeom prst="line">
            <a:avLst/>
          </a:prstGeom>
          <a:noFill/>
          <a:ln w="15875">
            <a:solidFill>
              <a:schemeClr val="accent6"/>
            </a:solidFill>
            <a:prstDash val="solid"/>
            <a:tailEnd type="triangle"/>
          </a:ln>
        </p:spPr>
      </p:sp>
      <p:sp>
        <p:nvSpPr>
          <p:cNvPr id="42" name="line_333"/>
          <p:cNvSpPr/>
          <p:nvPr/>
        </p:nvSpPr>
        <p:spPr>
          <a:xfrm>
            <a:off x="7658100" y="4489704"/>
            <a:ext cx="0" cy="201168"/>
          </a:xfrm>
          <a:prstGeom prst="line">
            <a:avLst/>
          </a:prstGeom>
          <a:noFill/>
          <a:ln w="15875">
            <a:solidFill>
              <a:schemeClr val="accent6"/>
            </a:solidFill>
            <a:prstDash val="solid"/>
            <a:tailEnd type="triangle"/>
          </a:ln>
        </p:spPr>
      </p:sp>
      <p:sp>
        <p:nvSpPr>
          <p:cNvPr id="43" name="line_334"/>
          <p:cNvSpPr/>
          <p:nvPr/>
        </p:nvSpPr>
        <p:spPr>
          <a:xfrm>
            <a:off x="7658100" y="5221224"/>
            <a:ext cx="0" cy="201168"/>
          </a:xfrm>
          <a:prstGeom prst="line">
            <a:avLst/>
          </a:prstGeom>
          <a:noFill/>
          <a:ln w="15875">
            <a:solidFill>
              <a:schemeClr val="accent6"/>
            </a:solidFill>
            <a:prstDash val="solid"/>
            <a:tailEnd type="triangle"/>
          </a:ln>
        </p:spPr>
      </p:sp>
      <p:sp>
        <p:nvSpPr>
          <p:cNvPr id="44" name="flowbox_335"/>
          <p:cNvSpPr/>
          <p:nvPr/>
        </p:nvSpPr>
        <p:spPr>
          <a:xfrm>
            <a:off x="9464040" y="2496312"/>
            <a:ext cx="2011680" cy="530352"/>
          </a:xfrm>
          <a:prstGeom prst="roundRect">
            <a:avLst>
              <a:gd name="adj" fmla="val 10345"/>
            </a:avLst>
          </a:prstGeom>
          <a:solidFill>
            <a:schemeClr val="accent4"/>
          </a:solidFill>
          <a:ln w="12700">
            <a:solidFill>
              <a:schemeClr val="accent4"/>
            </a:solidFill>
            <a:prstDash val="solid"/>
          </a:ln>
        </p:spPr>
      </p:sp>
      <p:sp>
        <p:nvSpPr>
          <p:cNvPr id="45" name="txt_336"/>
          <p:cNvSpPr txBox="1"/>
          <p:nvPr/>
        </p:nvSpPr>
        <p:spPr>
          <a:xfrm>
            <a:off x="9573768" y="249631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Protégé, plus mapping files as code</a:t>
            </a:r>
            <a:endParaRPr lang="en-US" sz="1200" dirty="0"/>
          </a:p>
        </p:txBody>
      </p:sp>
      <p:sp>
        <p:nvSpPr>
          <p:cNvPr id="46" name="flowbox_337"/>
          <p:cNvSpPr/>
          <p:nvPr/>
        </p:nvSpPr>
        <p:spPr>
          <a:xfrm>
            <a:off x="9464040" y="3227832"/>
            <a:ext cx="2011680" cy="530352"/>
          </a:xfrm>
          <a:prstGeom prst="roundRect">
            <a:avLst>
              <a:gd name="adj" fmla="val 10345"/>
            </a:avLst>
          </a:prstGeom>
          <a:solidFill>
            <a:schemeClr val="accent4"/>
          </a:solidFill>
          <a:ln w="12700">
            <a:solidFill>
              <a:schemeClr val="accent4"/>
            </a:solidFill>
            <a:prstDash val="solid"/>
          </a:ln>
        </p:spPr>
      </p:sp>
      <p:sp>
        <p:nvSpPr>
          <p:cNvPr id="47" name="txt_338"/>
          <p:cNvSpPr txBox="1"/>
          <p:nvPr/>
        </p:nvSpPr>
        <p:spPr>
          <a:xfrm>
            <a:off x="9573768" y="3227832"/>
            <a:ext cx="1792224" cy="530352"/>
          </a:xfrm>
          <a:prstGeom prst="rect">
            <a:avLst/>
          </a:prstGeom>
          <a:noFill/>
          <a:ln/>
        </p:spPr>
        <p:txBody>
          <a:bodyPr wrap="square" lIns="0" tIns="0" rIns="0" bIns="0" rtlCol="0" anchor="ctr"/>
          <a:lstStyle/>
          <a:p>
            <a:pPr indent="0" marL="0">
              <a:buNone/>
            </a:pPr>
            <a:r>
              <a:rPr lang="en-US" sz="1200" b="1" dirty="0">
                <a:solidFill>
                  <a:schemeClr val="bg1"/>
                </a:solidFill>
              </a:rPr>
              <a:t>Files beside the Ontop service, outside UC</a:t>
            </a:r>
            <a:endParaRPr lang="en-US" sz="1200" dirty="0"/>
          </a:p>
        </p:txBody>
      </p:sp>
      <p:sp>
        <p:nvSpPr>
          <p:cNvPr id="48" name="flowbox_339"/>
          <p:cNvSpPr/>
          <p:nvPr/>
        </p:nvSpPr>
        <p:spPr>
          <a:xfrm>
            <a:off x="9464040" y="5422392"/>
            <a:ext cx="2011680" cy="530352"/>
          </a:xfrm>
          <a:prstGeom prst="roundRect">
            <a:avLst>
              <a:gd name="adj" fmla="val 10345"/>
            </a:avLst>
          </a:prstGeom>
          <a:solidFill>
            <a:schemeClr val="bg1"/>
          </a:solidFill>
          <a:ln w="12700">
            <a:solidFill>
              <a:schemeClr val="accent6"/>
            </a:solidFill>
            <a:prstDash val="dash"/>
          </a:ln>
        </p:spPr>
      </p:sp>
      <p:sp>
        <p:nvSpPr>
          <p:cNvPr id="49" name="txt_340"/>
          <p:cNvSpPr txBox="1"/>
          <p:nvPr/>
        </p:nvSpPr>
        <p:spPr>
          <a:xfrm>
            <a:off x="9573768" y="5422392"/>
            <a:ext cx="1792224" cy="530352"/>
          </a:xfrm>
          <a:prstGeom prst="rect">
            <a:avLst/>
          </a:prstGeom>
          <a:noFill/>
          <a:ln/>
        </p:spPr>
        <p:txBody>
          <a:bodyPr wrap="square" lIns="0" tIns="0" rIns="0" bIns="0" rtlCol="0" anchor="ctr"/>
          <a:lstStyle/>
          <a:p>
            <a:pPr indent="0" marL="0">
              <a:buNone/>
            </a:pPr>
            <a:r>
              <a:rPr lang="en-US" sz="1200" i="1" dirty="0">
                <a:solidFill>
                  <a:schemeClr val="accent6"/>
                </a:solidFill>
              </a:rPr>
              <a:t>None: virtual, at query time</a:t>
            </a:r>
            <a:endParaRPr lang="en-US" sz="1200" dirty="0"/>
          </a:p>
        </p:txBody>
      </p:sp>
      <p:sp>
        <p:nvSpPr>
          <p:cNvPr id="50" name="line_341"/>
          <p:cNvSpPr/>
          <p:nvPr/>
        </p:nvSpPr>
        <p:spPr>
          <a:xfrm>
            <a:off x="10469880" y="3026664"/>
            <a:ext cx="0" cy="201168"/>
          </a:xfrm>
          <a:prstGeom prst="line">
            <a:avLst/>
          </a:prstGeom>
          <a:noFill/>
          <a:ln w="15875">
            <a:solidFill>
              <a:schemeClr val="accent6"/>
            </a:solidFill>
            <a:prstDash val="solid"/>
            <a:tailEnd type="triangle"/>
          </a:ln>
        </p:spPr>
      </p:sp>
      <p:sp>
        <p:nvSpPr>
          <p:cNvPr id="51" name="line_342"/>
          <p:cNvSpPr/>
          <p:nvPr/>
        </p:nvSpPr>
        <p:spPr>
          <a:xfrm>
            <a:off x="9144000" y="3493008"/>
            <a:ext cx="320040" cy="0"/>
          </a:xfrm>
          <a:prstGeom prst="line">
            <a:avLst/>
          </a:prstGeom>
          <a:noFill/>
          <a:ln w="15875">
            <a:solidFill>
              <a:schemeClr val="accent6"/>
            </a:solidFill>
            <a:prstDash val="solid"/>
            <a:headEnd type="triangle"/>
          </a:ln>
        </p:spPr>
      </p:sp>
      <p:sp>
        <p:nvSpPr>
          <p:cNvPr id="52" name="legend_343"/>
          <p:cNvSpPr/>
          <p:nvPr/>
        </p:nvSpPr>
        <p:spPr>
          <a:xfrm>
            <a:off x="5120640" y="6089904"/>
            <a:ext cx="274320" cy="164592"/>
          </a:xfrm>
          <a:prstGeom prst="roundRect">
            <a:avLst>
              <a:gd name="adj" fmla="val 16667"/>
            </a:avLst>
          </a:prstGeom>
          <a:solidFill>
            <a:schemeClr val="accent4"/>
          </a:solidFill>
          <a:ln w="12700">
            <a:solidFill>
              <a:schemeClr val="accent4"/>
            </a:solidFill>
            <a:prstDash val="solid"/>
          </a:ln>
        </p:spPr>
      </p:sp>
      <p:sp>
        <p:nvSpPr>
          <p:cNvPr id="53" name="txt_344"/>
          <p:cNvSpPr txBox="1"/>
          <p:nvPr/>
        </p:nvSpPr>
        <p:spPr>
          <a:xfrm>
            <a:off x="5468112" y="6053328"/>
            <a:ext cx="1097280" cy="237744"/>
          </a:xfrm>
          <a:prstGeom prst="rect">
            <a:avLst/>
          </a:prstGeom>
          <a:noFill/>
          <a:ln/>
        </p:spPr>
        <p:txBody>
          <a:bodyPr wrap="square" lIns="0" tIns="0" rIns="0" bIns="0" rtlCol="0" anchor="ctr"/>
          <a:lstStyle/>
          <a:p>
            <a:pPr indent="0" marL="0">
              <a:buNone/>
            </a:pPr>
            <a:r>
              <a:rPr lang="en-US" sz="1000" dirty="0">
                <a:solidFill>
                  <a:schemeClr val="accent6"/>
                </a:solidFill>
              </a:rPr>
              <a:t>This option</a:t>
            </a:r>
            <a:endParaRPr lang="en-US" sz="1000" dirty="0"/>
          </a:p>
        </p:txBody>
      </p:sp>
      <p:sp>
        <p:nvSpPr>
          <p:cNvPr id="54" name="legend_345"/>
          <p:cNvSpPr/>
          <p:nvPr/>
        </p:nvSpPr>
        <p:spPr>
          <a:xfrm>
            <a:off x="6537960" y="6089904"/>
            <a:ext cx="274320" cy="164592"/>
          </a:xfrm>
          <a:prstGeom prst="roundRect">
            <a:avLst>
              <a:gd name="adj" fmla="val 16667"/>
            </a:avLst>
          </a:prstGeom>
          <a:solidFill>
            <a:schemeClr val="bg1"/>
          </a:solidFill>
          <a:ln w="12700">
            <a:solidFill>
              <a:schemeClr val="accent6"/>
            </a:solidFill>
            <a:prstDash val="solid"/>
          </a:ln>
        </p:spPr>
      </p:sp>
      <p:sp>
        <p:nvSpPr>
          <p:cNvPr id="55" name="txt_346"/>
          <p:cNvSpPr txBox="1"/>
          <p:nvPr/>
        </p:nvSpPr>
        <p:spPr>
          <a:xfrm>
            <a:off x="6885432" y="6053328"/>
            <a:ext cx="1554480" cy="237744"/>
          </a:xfrm>
          <a:prstGeom prst="rect">
            <a:avLst/>
          </a:prstGeom>
          <a:noFill/>
          <a:ln/>
        </p:spPr>
        <p:txBody>
          <a:bodyPr wrap="square" lIns="0" tIns="0" rIns="0" bIns="0" rtlCol="0" anchor="ctr"/>
          <a:lstStyle/>
          <a:p>
            <a:pPr indent="0" marL="0">
              <a:buNone/>
            </a:pPr>
            <a:r>
              <a:rPr lang="en-US" sz="1000" dirty="0">
                <a:solidFill>
                  <a:schemeClr val="accent6"/>
                </a:solidFill>
              </a:rPr>
              <a:t>Platform or other tool</a:t>
            </a:r>
            <a:endParaRPr lang="en-US" sz="1000" dirty="0"/>
          </a:p>
        </p:txBody>
      </p:sp>
      <p:sp>
        <p:nvSpPr>
          <p:cNvPr id="56" name="legend_347"/>
          <p:cNvSpPr/>
          <p:nvPr/>
        </p:nvSpPr>
        <p:spPr>
          <a:xfrm>
            <a:off x="8412480" y="6089904"/>
            <a:ext cx="274320" cy="164592"/>
          </a:xfrm>
          <a:prstGeom prst="roundRect">
            <a:avLst>
              <a:gd name="adj" fmla="val 16667"/>
            </a:avLst>
          </a:prstGeom>
          <a:solidFill>
            <a:schemeClr val="bg1"/>
          </a:solidFill>
          <a:ln w="12700">
            <a:solidFill>
              <a:schemeClr val="accent6"/>
            </a:solidFill>
            <a:prstDash val="dash"/>
          </a:ln>
        </p:spPr>
      </p:sp>
      <p:sp>
        <p:nvSpPr>
          <p:cNvPr id="57" name="txt_348"/>
          <p:cNvSpPr txBox="1"/>
          <p:nvPr/>
        </p:nvSpPr>
        <p:spPr>
          <a:xfrm>
            <a:off x="8759952" y="6053328"/>
            <a:ext cx="1005840" cy="237744"/>
          </a:xfrm>
          <a:prstGeom prst="rect">
            <a:avLst/>
          </a:prstGeom>
          <a:noFill/>
          <a:ln/>
        </p:spPr>
        <p:txBody>
          <a:bodyPr wrap="square" lIns="0" tIns="0" rIns="0" bIns="0" rtlCol="0" anchor="ctr"/>
          <a:lstStyle/>
          <a:p>
            <a:pPr indent="0" marL="0">
              <a:buNone/>
            </a:pPr>
            <a:r>
              <a:rPr lang="en-US" sz="1000" dirty="0">
                <a:solidFill>
                  <a:schemeClr val="accent6"/>
                </a:solidFill>
              </a:rPr>
              <a:t>Not involved</a:t>
            </a:r>
            <a:endParaRPr lang="en-US" sz="1000" dirty="0"/>
          </a:p>
        </p:txBody>
      </p:sp>
      <p:sp>
        <p:nvSpPr>
          <p:cNvPr id="58" name="line_349"/>
          <p:cNvSpPr/>
          <p:nvPr/>
        </p:nvSpPr>
        <p:spPr>
          <a:xfrm>
            <a:off x="9784080" y="6172200"/>
            <a:ext cx="320040" cy="0"/>
          </a:xfrm>
          <a:prstGeom prst="line">
            <a:avLst/>
          </a:prstGeom>
          <a:noFill/>
          <a:ln w="15875">
            <a:solidFill>
              <a:schemeClr val="accent6"/>
            </a:solidFill>
            <a:prstDash val="dash"/>
          </a:ln>
        </p:spPr>
      </p:sp>
      <p:sp>
        <p:nvSpPr>
          <p:cNvPr id="59" name="txt_350"/>
          <p:cNvSpPr txBox="1"/>
          <p:nvPr/>
        </p:nvSpPr>
        <p:spPr>
          <a:xfrm>
            <a:off x="10177272" y="6053328"/>
            <a:ext cx="1371600" cy="237744"/>
          </a:xfrm>
          <a:prstGeom prst="rect">
            <a:avLst/>
          </a:prstGeom>
          <a:noFill/>
          <a:ln/>
        </p:spPr>
        <p:txBody>
          <a:bodyPr wrap="square" lIns="0" tIns="0" rIns="0" bIns="0" rtlCol="0" anchor="ctr"/>
          <a:lstStyle/>
          <a:p>
            <a:pPr indent="0" marL="0">
              <a:buNone/>
            </a:pPr>
            <a:r>
              <a:rPr lang="en-US" sz="1000" dirty="0">
                <a:solidFill>
                  <a:schemeClr val="accent6"/>
                </a:solidFill>
              </a:rPr>
              <a:t>No runtime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From authoring to query, side by side</a:t>
            </a:r>
            <a:endParaRPr lang="en-US" sz="3600" dirty="0"/>
          </a:p>
        </p:txBody>
      </p:sp>
      <p:graphicFrame>
        <p:nvGraphicFramePr>
          <p:cNvPr id="13" name="lifecycle_351"/>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2331720"/>
                <a:gridCol w="2331720"/>
                <a:gridCol w="2331720"/>
                <a:gridCol w="2331720"/>
              </a:tblGrid>
              <a:tr h="502920">
                <a:tc>
                  <a:txBody>
                    <a:bodyPr/>
                    <a:lstStyle/>
                    <a:p>
                      <a:pPr indent="0" marL="0">
                        <a:buNone/>
                      </a:pPr>
                      <a:endParaRPr lang="en-US" sz="1200" dirty="0"/>
                    </a:p>
                  </a:txBody>
                  <a:tcPr marL="109728" marR="109728" marT="73152" marB="73152">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bg1"/>
                          </a:solidFill>
                        </a:rPr>
                        <a:t>Genie Ontology</a:t>
                      </a:r>
                      <a:endParaRPr lang="en-US" sz="15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accent1"/>
                    </a:solidFill>
                  </a:tcPr>
                </a:tc>
                <a:tc>
                  <a:txBody>
                    <a:bodyPr/>
                    <a:lstStyle/>
                    <a:p>
                      <a:pPr algn="l" indent="0" marL="0">
                        <a:buNone/>
                      </a:pPr>
                      <a:r>
                        <a:rPr lang="en-US" sz="1500" b="1" dirty="0">
                          <a:solidFill>
                            <a:schemeClr val="bg1"/>
                          </a:solidFill>
                        </a:rPr>
                        <a:t>dbxmetagen</a:t>
                      </a:r>
                      <a:endParaRPr lang="en-US" sz="15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accent2"/>
                    </a:solidFill>
                  </a:tcPr>
                </a:tc>
                <a:tc>
                  <a:txBody>
                    <a:bodyPr/>
                    <a:lstStyle/>
                    <a:p>
                      <a:pPr algn="l" indent="0" marL="0">
                        <a:buNone/>
                      </a:pPr>
                      <a:r>
                        <a:rPr lang="en-US" sz="1500" b="1" dirty="0">
                          <a:solidFill>
                            <a:schemeClr val="bg1"/>
                          </a:solidFill>
                        </a:rPr>
                        <a:t>OntoBricks</a:t>
                      </a:r>
                      <a:endParaRPr lang="en-US" sz="15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accent3"/>
                    </a:solidFill>
                  </a:tcPr>
                </a:tc>
                <a:tc>
                  <a:txBody>
                    <a:bodyPr/>
                    <a:lstStyle/>
                    <a:p>
                      <a:pPr algn="l" indent="0" marL="0">
                        <a:buNone/>
                      </a:pPr>
                      <a:r>
                        <a:rPr lang="en-US" sz="1500" b="1" dirty="0">
                          <a:solidFill>
                            <a:schemeClr val="bg1"/>
                          </a:solidFill>
                        </a:rPr>
                        <a:t>Ontop</a:t>
                      </a:r>
                      <a:endParaRPr lang="en-US" sz="15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accent4"/>
                    </a:solidFill>
                  </a:tcPr>
                </a:tc>
              </a:tr>
              <a:tr h="1097280">
                <a:tc>
                  <a:txBody>
                    <a:bodyPr/>
                    <a:lstStyle/>
                    <a:p>
                      <a:pPr indent="0" marL="0">
                        <a:buNone/>
                      </a:pPr>
                      <a:r>
                        <a:rPr lang="en-US" sz="1400" b="1" dirty="0">
                          <a:solidFill>
                            <a:schemeClr val="tx2"/>
                          </a:solidFill>
                        </a:rPr>
                        <a:t>Authoring</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Curate descriptions, metric views, domains and Pages; the rest is inferred</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LLM proposes, stewards review; custom YAML bundles</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Visual canvas, LLM wizard, OWL and CDISC import</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OWL 2 QL (e.g. Protégé); R2RML or OBDA mappings as code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r>
              <a:tr h="1097280">
                <a:tc>
                  <a:txBody>
                    <a:bodyPr/>
                    <a:lstStyle/>
                    <a:p>
                      <a:pPr indent="0" marL="0">
                        <a:buNone/>
                      </a:pPr>
                      <a:r>
                        <a:rPr lang="en-US" sz="1400" b="1" dirty="0">
                          <a:solidFill>
                            <a:schemeClr val="tx2"/>
                          </a:solidFill>
                        </a:rPr>
                        <a:t>Lands in Databricks as</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Native: built from UC metadata and semantics</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UC comments, tags, metric views, Genie spaces, Delta tables</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Model in a UC Volume; triples as a UC Delta view plus Lakebase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Nothing: runs as an external service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Data movement</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None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Metadata only</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Materialised copy of the data</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 virtual, at query time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r>
              <a:tr h="1097280">
                <a:tc>
                  <a:txBody>
                    <a:bodyPr/>
                    <a:lstStyle/>
                    <a:p>
                      <a:pPr indent="0" marL="0">
                        <a:buNone/>
                      </a:pPr>
                      <a:r>
                        <a:rPr lang="en-US" sz="1400" b="1" dirty="0">
                          <a:solidFill>
                            <a:schemeClr val="tx2"/>
                          </a:solidFill>
                        </a:rPr>
                        <a:t>Querying</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Natural language to SQL via Genie One, Genie Code, MCP</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Indirect: improves Genie and SQL; GraphRAG agent</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GraphQL, REST, MCP and a graph explorer</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SPARQL rewritten to SQL on a SQL warehouse</a:t>
                      </a:r>
                      <a:endParaRPr lang="en-US" sz="1400" dirty="0"/>
                    </a:p>
                  </a:txBody>
                  <a:tcPr marL="109728" marR="109728" marT="73152" marB="73152" anchor="ctr">
                    <a:lnL w="12700" cap="flat" cmpd="sng" algn="ctr">
                      <a:solidFill>
                        <a:srgbClr val="D3DEDC"/>
                      </a:solidFill>
                      <a:prstDash val="solid"/>
                      <a:round/>
                      <a:headEnd type="none" w="med" len="med"/>
                      <a:tailEnd type="none" w="med" len="med"/>
                    </a:lnL>
                    <a:lnR w="12700" cap="flat" cmpd="sng" algn="ctr">
                      <a:solidFill>
                        <a:srgbClr val="D3DEDC"/>
                      </a:solidFill>
                      <a:prstDash val="solid"/>
                      <a:round/>
                      <a:headEnd type="none" w="med" len="med"/>
                      <a:tailEnd type="none" w="med" len="med"/>
                    </a:lnR>
                    <a:lnT w="12700" cap="flat" cmpd="sng" algn="ctr">
                      <a:solidFill>
                        <a:srgbClr val="D3DEDC"/>
                      </a:solidFill>
                      <a:prstDash val="solid"/>
                      <a:round/>
                      <a:headEnd type="none" w="med" len="med"/>
                      <a:tailEnd type="none" w="med" len="med"/>
                    </a:lnT>
                    <a:lnB w="12700" cap="flat" cmpd="sng" algn="ctr">
                      <a:solidFill>
                        <a:srgbClr val="D3DE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Who does Unity Catalog see at query time?</a:t>
            </a:r>
            <a:endParaRPr lang="en-US" sz="3600" dirty="0"/>
          </a:p>
        </p:txBody>
      </p:sp>
      <p:sp>
        <p:nvSpPr>
          <p:cNvPr id="3" name="card_352"/>
          <p:cNvSpPr/>
          <p:nvPr/>
        </p:nvSpPr>
        <p:spPr>
          <a:xfrm>
            <a:off x="548640" y="1417320"/>
            <a:ext cx="2560320" cy="4069080"/>
          </a:xfrm>
          <a:prstGeom prst="roundRect">
            <a:avLst>
              <a:gd name="adj" fmla="val 2857"/>
            </a:avLst>
          </a:prstGeom>
          <a:solidFill>
            <a:schemeClr val="bg2"/>
          </a:solidFill>
          <a:ln w="12700">
            <a:solidFill>
              <a:schemeClr val="bg2"/>
            </a:solidFill>
            <a:prstDash val="solid"/>
          </a:ln>
        </p:spPr>
      </p:sp>
      <p:sp>
        <p:nvSpPr>
          <p:cNvPr id="4" name="node_353"/>
          <p:cNvSpPr/>
          <p:nvPr/>
        </p:nvSpPr>
        <p:spPr>
          <a:xfrm>
            <a:off x="777240" y="1691640"/>
            <a:ext cx="777240" cy="777240"/>
          </a:xfrm>
          <a:prstGeom prst="ellipse">
            <a:avLst/>
          </a:prstGeom>
          <a:solidFill>
            <a:schemeClr val="accent1"/>
          </a:solidFill>
          <a:ln w="12700">
            <a:solidFill>
              <a:schemeClr val="accent1"/>
            </a:solidFill>
            <a:prstDash val="solid"/>
          </a:ln>
        </p:spPr>
      </p:sp>
      <p:pic>
        <p:nvPicPr>
          <p:cNvPr id="5" name="icon_354" descr="preencoded.png">    </p:cNvPr>
          <p:cNvPicPr>
            <a:picLocks noChangeAspect="1"/>
          </p:cNvPicPr>
          <p:nvPr/>
        </p:nvPicPr>
        <p:blipFill>
          <a:blip r:embed="rId1"/>
          <a:stretch>
            <a:fillRect/>
          </a:stretch>
        </p:blipFill>
        <p:spPr>
          <a:xfrm>
            <a:off x="963778" y="1878178"/>
            <a:ext cx="404165" cy="404165"/>
          </a:xfrm>
          <a:prstGeom prst="rect">
            <a:avLst/>
          </a:prstGeom>
        </p:spPr>
      </p:pic>
      <p:sp>
        <p:nvSpPr>
          <p:cNvPr id="6" name="txt_355"/>
          <p:cNvSpPr txBox="1"/>
          <p:nvPr/>
        </p:nvSpPr>
        <p:spPr>
          <a:xfrm>
            <a:off x="777240" y="2606040"/>
            <a:ext cx="2103120" cy="320040"/>
          </a:xfrm>
          <a:prstGeom prst="rect">
            <a:avLst/>
          </a:prstGeom>
          <a:noFill/>
          <a:ln/>
        </p:spPr>
        <p:txBody>
          <a:bodyPr wrap="square" lIns="0" tIns="0" rIns="0" bIns="0" rtlCol="0" anchor="t"/>
          <a:lstStyle/>
          <a:p>
            <a:pPr indent="0" marL="0">
              <a:buNone/>
            </a:pPr>
            <a:r>
              <a:rPr lang="en-US" sz="1500" b="1" dirty="0">
                <a:solidFill>
                  <a:schemeClr val="accent1"/>
                </a:solidFill>
              </a:rPr>
              <a:t>Genie Ontology</a:t>
            </a:r>
            <a:endParaRPr lang="en-US" sz="1500" dirty="0"/>
          </a:p>
        </p:txBody>
      </p:sp>
      <p:sp>
        <p:nvSpPr>
          <p:cNvPr id="7" name="txt_356"/>
          <p:cNvSpPr txBox="1"/>
          <p:nvPr/>
        </p:nvSpPr>
        <p:spPr>
          <a:xfrm>
            <a:off x="777240" y="3017520"/>
            <a:ext cx="2103120" cy="256032"/>
          </a:xfrm>
          <a:prstGeom prst="rect">
            <a:avLst/>
          </a:prstGeom>
          <a:noFill/>
          <a:ln/>
        </p:spPr>
        <p:txBody>
          <a:bodyPr wrap="square" lIns="0" tIns="0" rIns="0" bIns="0" rtlCol="0" anchor="t"/>
          <a:lstStyle/>
          <a:p>
            <a:pPr indent="0" marL="0">
              <a:buNone/>
            </a:pPr>
            <a:r>
              <a:rPr lang="en-US" sz="1100" b="1" spc="100" kern="0" dirty="0">
                <a:solidFill>
                  <a:schemeClr val="accent6"/>
                </a:solidFill>
              </a:rPr>
              <a:t>UNITY CATALOG SEES</a:t>
            </a:r>
            <a:endParaRPr lang="en-US" sz="1100" dirty="0"/>
          </a:p>
        </p:txBody>
      </p:sp>
      <p:sp>
        <p:nvSpPr>
          <p:cNvPr id="8" name="txt_357"/>
          <p:cNvSpPr txBox="1"/>
          <p:nvPr/>
        </p:nvSpPr>
        <p:spPr>
          <a:xfrm>
            <a:off x="777240" y="3273552"/>
            <a:ext cx="2103120" cy="685800"/>
          </a:xfrm>
          <a:prstGeom prst="rect">
            <a:avLst/>
          </a:prstGeom>
          <a:noFill/>
          <a:ln/>
        </p:spPr>
        <p:txBody>
          <a:bodyPr wrap="square" lIns="0" tIns="0" rIns="0" bIns="0" rtlCol="0" anchor="t"/>
          <a:lstStyle/>
          <a:p>
            <a:pPr indent="0" marL="0">
              <a:buNone/>
            </a:pPr>
            <a:r>
              <a:rPr lang="en-US" sz="1800" b="1" dirty="0">
                <a:solidFill>
                  <a:schemeClr val="tx2"/>
                </a:solidFill>
              </a:rPr>
              <a:t>The end user</a:t>
            </a:r>
            <a:endParaRPr lang="en-US" sz="1800" dirty="0"/>
          </a:p>
        </p:txBody>
      </p:sp>
      <p:sp>
        <p:nvSpPr>
          <p:cNvPr id="9" name="txt_358"/>
          <p:cNvSpPr txBox="1"/>
          <p:nvPr/>
        </p:nvSpPr>
        <p:spPr>
          <a:xfrm>
            <a:off x="77724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Answers, and the snippets behind them, are gated by each user's UC permissions.</a:t>
            </a:r>
            <a:endParaRPr lang="en-US" sz="1400" dirty="0"/>
          </a:p>
        </p:txBody>
      </p:sp>
      <p:pic>
        <p:nvPicPr>
          <p:cNvPr id="10" name="status_359" descr="preencoded.png">    </p:cNvPr>
          <p:cNvPicPr>
            <a:picLocks noChangeAspect="1"/>
          </p:cNvPicPr>
          <p:nvPr/>
        </p:nvPicPr>
        <p:blipFill>
          <a:blip r:embed="rId2"/>
          <a:stretch>
            <a:fillRect/>
          </a:stretch>
        </p:blipFill>
        <p:spPr>
          <a:xfrm>
            <a:off x="777240" y="5056632"/>
            <a:ext cx="274320" cy="274320"/>
          </a:xfrm>
          <a:prstGeom prst="rect">
            <a:avLst/>
          </a:prstGeom>
        </p:spPr>
      </p:pic>
      <p:sp>
        <p:nvSpPr>
          <p:cNvPr id="11" name="txt_360"/>
          <p:cNvSpPr txBox="1"/>
          <p:nvPr/>
        </p:nvSpPr>
        <p:spPr>
          <a:xfrm>
            <a:off x="1143000" y="5056632"/>
            <a:ext cx="1737360" cy="274320"/>
          </a:xfrm>
          <a:prstGeom prst="rect">
            <a:avLst/>
          </a:prstGeom>
          <a:noFill/>
          <a:ln/>
        </p:spPr>
        <p:txBody>
          <a:bodyPr wrap="square" lIns="0" tIns="0" rIns="0" bIns="0" rtlCol="0" anchor="ctr"/>
          <a:lstStyle/>
          <a:p>
            <a:pPr indent="0" marL="0">
              <a:buNone/>
            </a:pPr>
            <a:r>
              <a:rPr lang="en-US" sz="1400" b="1" dirty="0">
                <a:solidFill>
                  <a:schemeClr val="accent1"/>
                </a:solidFill>
              </a:rPr>
              <a:t>Per-user</a:t>
            </a:r>
            <a:endParaRPr lang="en-US" sz="1400" dirty="0"/>
          </a:p>
        </p:txBody>
      </p:sp>
      <p:sp>
        <p:nvSpPr>
          <p:cNvPr id="12" name="card_361"/>
          <p:cNvSpPr/>
          <p:nvPr/>
        </p:nvSpPr>
        <p:spPr>
          <a:xfrm>
            <a:off x="3383280" y="1417320"/>
            <a:ext cx="2560320" cy="4069080"/>
          </a:xfrm>
          <a:prstGeom prst="roundRect">
            <a:avLst>
              <a:gd name="adj" fmla="val 2857"/>
            </a:avLst>
          </a:prstGeom>
          <a:solidFill>
            <a:schemeClr val="bg2"/>
          </a:solidFill>
          <a:ln w="12700">
            <a:solidFill>
              <a:schemeClr val="bg2"/>
            </a:solidFill>
            <a:prstDash val="solid"/>
          </a:ln>
        </p:spPr>
      </p:sp>
      <p:sp>
        <p:nvSpPr>
          <p:cNvPr id="13" name="node_362"/>
          <p:cNvSpPr/>
          <p:nvPr/>
        </p:nvSpPr>
        <p:spPr>
          <a:xfrm>
            <a:off x="3611880" y="1691640"/>
            <a:ext cx="777240" cy="777240"/>
          </a:xfrm>
          <a:prstGeom prst="ellipse">
            <a:avLst/>
          </a:prstGeom>
          <a:solidFill>
            <a:schemeClr val="accent2"/>
          </a:solidFill>
          <a:ln w="12700">
            <a:solidFill>
              <a:schemeClr val="accent2"/>
            </a:solidFill>
            <a:prstDash val="solid"/>
          </a:ln>
        </p:spPr>
      </p:sp>
      <p:pic>
        <p:nvPicPr>
          <p:cNvPr id="14" name="icon_363" descr="preencoded.png">    </p:cNvPr>
          <p:cNvPicPr>
            <a:picLocks noChangeAspect="1"/>
          </p:cNvPicPr>
          <p:nvPr/>
        </p:nvPicPr>
        <p:blipFill>
          <a:blip r:embed="rId3"/>
          <a:stretch>
            <a:fillRect/>
          </a:stretch>
        </p:blipFill>
        <p:spPr>
          <a:xfrm>
            <a:off x="3798418" y="1878178"/>
            <a:ext cx="404165" cy="404165"/>
          </a:xfrm>
          <a:prstGeom prst="rect">
            <a:avLst/>
          </a:prstGeom>
        </p:spPr>
      </p:pic>
      <p:sp>
        <p:nvSpPr>
          <p:cNvPr id="15" name="txt_364"/>
          <p:cNvSpPr txBox="1"/>
          <p:nvPr/>
        </p:nvSpPr>
        <p:spPr>
          <a:xfrm>
            <a:off x="3611880" y="2606040"/>
            <a:ext cx="2103120" cy="320040"/>
          </a:xfrm>
          <a:prstGeom prst="rect">
            <a:avLst/>
          </a:prstGeom>
          <a:noFill/>
          <a:ln/>
        </p:spPr>
        <p:txBody>
          <a:bodyPr wrap="square" lIns="0" tIns="0" rIns="0" bIns="0" rtlCol="0" anchor="t"/>
          <a:lstStyle/>
          <a:p>
            <a:pPr indent="0" marL="0">
              <a:buNone/>
            </a:pPr>
            <a:r>
              <a:rPr lang="en-US" sz="1500" b="1" dirty="0">
                <a:solidFill>
                  <a:schemeClr val="accent2"/>
                </a:solidFill>
              </a:rPr>
              <a:t>dbxmetagen</a:t>
            </a:r>
            <a:endParaRPr lang="en-US" sz="1500" dirty="0"/>
          </a:p>
        </p:txBody>
      </p:sp>
      <p:sp>
        <p:nvSpPr>
          <p:cNvPr id="16" name="txt_365"/>
          <p:cNvSpPr txBox="1"/>
          <p:nvPr/>
        </p:nvSpPr>
        <p:spPr>
          <a:xfrm>
            <a:off x="3611880" y="3017520"/>
            <a:ext cx="2103120" cy="256032"/>
          </a:xfrm>
          <a:prstGeom prst="rect">
            <a:avLst/>
          </a:prstGeom>
          <a:noFill/>
          <a:ln/>
        </p:spPr>
        <p:txBody>
          <a:bodyPr wrap="square" lIns="0" tIns="0" rIns="0" bIns="0" rtlCol="0" anchor="t"/>
          <a:lstStyle/>
          <a:p>
            <a:pPr indent="0" marL="0">
              <a:buNone/>
            </a:pPr>
            <a:r>
              <a:rPr lang="en-US" sz="1100" b="1" spc="100" kern="0" dirty="0">
                <a:solidFill>
                  <a:schemeClr val="accent6"/>
                </a:solidFill>
              </a:rPr>
              <a:t>UNITY CATALOG SEES</a:t>
            </a:r>
            <a:endParaRPr lang="en-US" sz="1100" dirty="0"/>
          </a:p>
        </p:txBody>
      </p:sp>
      <p:sp>
        <p:nvSpPr>
          <p:cNvPr id="17" name="txt_366"/>
          <p:cNvSpPr txBox="1"/>
          <p:nvPr/>
        </p:nvSpPr>
        <p:spPr>
          <a:xfrm>
            <a:off x="3611880" y="3273552"/>
            <a:ext cx="2103120" cy="685800"/>
          </a:xfrm>
          <a:prstGeom prst="rect">
            <a:avLst/>
          </a:prstGeom>
          <a:noFill/>
          <a:ln/>
        </p:spPr>
        <p:txBody>
          <a:bodyPr wrap="square" lIns="0" tIns="0" rIns="0" bIns="0" rtlCol="0" anchor="t"/>
          <a:lstStyle/>
          <a:p>
            <a:pPr indent="0" marL="0">
              <a:buNone/>
            </a:pPr>
            <a:r>
              <a:rPr lang="en-US" sz="1800" b="1" dirty="0">
                <a:solidFill>
                  <a:schemeClr val="tx2"/>
                </a:solidFill>
              </a:rPr>
              <a:t>The end user, via native tools</a:t>
            </a:r>
            <a:endParaRPr lang="en-US" sz="1800" dirty="0"/>
          </a:p>
        </p:txBody>
      </p:sp>
      <p:sp>
        <p:nvSpPr>
          <p:cNvPr id="18" name="txt_367"/>
          <p:cNvSpPr txBox="1"/>
          <p:nvPr/>
        </p:nvSpPr>
        <p:spPr>
          <a:xfrm>
            <a:off x="361188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It writes metadata only; data is still queried through UC. Its own app needs on-behalf-of auth.</a:t>
            </a:r>
            <a:endParaRPr lang="en-US" sz="1400" dirty="0"/>
          </a:p>
        </p:txBody>
      </p:sp>
      <p:pic>
        <p:nvPicPr>
          <p:cNvPr id="19" name="status_368" descr="preencoded.png">    </p:cNvPr>
          <p:cNvPicPr>
            <a:picLocks noChangeAspect="1"/>
          </p:cNvPicPr>
          <p:nvPr/>
        </p:nvPicPr>
        <p:blipFill>
          <a:blip r:embed="rId4"/>
          <a:stretch>
            <a:fillRect/>
          </a:stretch>
        </p:blipFill>
        <p:spPr>
          <a:xfrm>
            <a:off x="3611880" y="5056632"/>
            <a:ext cx="274320" cy="274320"/>
          </a:xfrm>
          <a:prstGeom prst="rect">
            <a:avLst/>
          </a:prstGeom>
        </p:spPr>
      </p:pic>
      <p:sp>
        <p:nvSpPr>
          <p:cNvPr id="20" name="txt_369"/>
          <p:cNvSpPr txBox="1"/>
          <p:nvPr/>
        </p:nvSpPr>
        <p:spPr>
          <a:xfrm>
            <a:off x="3977640" y="5056632"/>
            <a:ext cx="1737360" cy="274320"/>
          </a:xfrm>
          <a:prstGeom prst="rect">
            <a:avLst/>
          </a:prstGeom>
          <a:noFill/>
          <a:ln/>
        </p:spPr>
        <p:txBody>
          <a:bodyPr wrap="square" lIns="0" tIns="0" rIns="0" bIns="0" rtlCol="0" anchor="ctr"/>
          <a:lstStyle/>
          <a:p>
            <a:pPr indent="0" marL="0">
              <a:buNone/>
            </a:pPr>
            <a:r>
              <a:rPr lang="en-US" sz="1400" b="1" dirty="0">
                <a:solidFill>
                  <a:schemeClr val="accent1"/>
                </a:solidFill>
              </a:rPr>
              <a:t>Per-user, via UC</a:t>
            </a:r>
            <a:endParaRPr lang="en-US" sz="1400" dirty="0"/>
          </a:p>
        </p:txBody>
      </p:sp>
      <p:sp>
        <p:nvSpPr>
          <p:cNvPr id="21" name="card_370"/>
          <p:cNvSpPr/>
          <p:nvPr/>
        </p:nvSpPr>
        <p:spPr>
          <a:xfrm>
            <a:off x="6217920" y="1417320"/>
            <a:ext cx="2560320" cy="4069080"/>
          </a:xfrm>
          <a:prstGeom prst="roundRect">
            <a:avLst>
              <a:gd name="adj" fmla="val 2857"/>
            </a:avLst>
          </a:prstGeom>
          <a:solidFill>
            <a:schemeClr val="bg2"/>
          </a:solidFill>
          <a:ln w="12700">
            <a:solidFill>
              <a:schemeClr val="bg2"/>
            </a:solidFill>
            <a:prstDash val="solid"/>
          </a:ln>
        </p:spPr>
      </p:sp>
      <p:sp>
        <p:nvSpPr>
          <p:cNvPr id="22" name="node_371"/>
          <p:cNvSpPr/>
          <p:nvPr/>
        </p:nvSpPr>
        <p:spPr>
          <a:xfrm>
            <a:off x="6446520" y="1691640"/>
            <a:ext cx="777240" cy="777240"/>
          </a:xfrm>
          <a:prstGeom prst="ellipse">
            <a:avLst/>
          </a:prstGeom>
          <a:solidFill>
            <a:schemeClr val="accent3"/>
          </a:solidFill>
          <a:ln w="12700">
            <a:solidFill>
              <a:schemeClr val="accent3"/>
            </a:solidFill>
            <a:prstDash val="solid"/>
          </a:ln>
        </p:spPr>
      </p:sp>
      <p:pic>
        <p:nvPicPr>
          <p:cNvPr id="23" name="icon_372" descr="preencoded.png">    </p:cNvPr>
          <p:cNvPicPr>
            <a:picLocks noChangeAspect="1"/>
          </p:cNvPicPr>
          <p:nvPr/>
        </p:nvPicPr>
        <p:blipFill>
          <a:blip r:embed="rId5"/>
          <a:stretch>
            <a:fillRect/>
          </a:stretch>
        </p:blipFill>
        <p:spPr>
          <a:xfrm>
            <a:off x="6633058" y="1878178"/>
            <a:ext cx="404165" cy="404165"/>
          </a:xfrm>
          <a:prstGeom prst="rect">
            <a:avLst/>
          </a:prstGeom>
        </p:spPr>
      </p:pic>
      <p:sp>
        <p:nvSpPr>
          <p:cNvPr id="24" name="txt_373"/>
          <p:cNvSpPr txBox="1"/>
          <p:nvPr/>
        </p:nvSpPr>
        <p:spPr>
          <a:xfrm>
            <a:off x="6446520" y="2606040"/>
            <a:ext cx="2103120" cy="320040"/>
          </a:xfrm>
          <a:prstGeom prst="rect">
            <a:avLst/>
          </a:prstGeom>
          <a:noFill/>
          <a:ln/>
        </p:spPr>
        <p:txBody>
          <a:bodyPr wrap="square" lIns="0" tIns="0" rIns="0" bIns="0" rtlCol="0" anchor="t"/>
          <a:lstStyle/>
          <a:p>
            <a:pPr indent="0" marL="0">
              <a:buNone/>
            </a:pPr>
            <a:r>
              <a:rPr lang="en-US" sz="1500" b="1" dirty="0">
                <a:solidFill>
                  <a:schemeClr val="accent3"/>
                </a:solidFill>
              </a:rPr>
              <a:t>OntoBricks</a:t>
            </a:r>
            <a:endParaRPr lang="en-US" sz="1500" dirty="0"/>
          </a:p>
        </p:txBody>
      </p:sp>
      <p:sp>
        <p:nvSpPr>
          <p:cNvPr id="25" name="txt_374"/>
          <p:cNvSpPr txBox="1"/>
          <p:nvPr/>
        </p:nvSpPr>
        <p:spPr>
          <a:xfrm>
            <a:off x="6446520" y="3017520"/>
            <a:ext cx="2103120" cy="256032"/>
          </a:xfrm>
          <a:prstGeom prst="rect">
            <a:avLst/>
          </a:prstGeom>
          <a:noFill/>
          <a:ln/>
        </p:spPr>
        <p:txBody>
          <a:bodyPr wrap="square" lIns="0" tIns="0" rIns="0" bIns="0" rtlCol="0" anchor="t"/>
          <a:lstStyle/>
          <a:p>
            <a:pPr indent="0" marL="0">
              <a:buNone/>
            </a:pPr>
            <a:r>
              <a:rPr lang="en-US" sz="1100" b="1" spc="100" kern="0" dirty="0">
                <a:solidFill>
                  <a:schemeClr val="accent6"/>
                </a:solidFill>
              </a:rPr>
              <a:t>UNITY CATALOG SEES</a:t>
            </a:r>
            <a:endParaRPr lang="en-US" sz="1100" dirty="0"/>
          </a:p>
        </p:txBody>
      </p:sp>
      <p:sp>
        <p:nvSpPr>
          <p:cNvPr id="26" name="txt_375"/>
          <p:cNvSpPr txBox="1"/>
          <p:nvPr/>
        </p:nvSpPr>
        <p:spPr>
          <a:xfrm>
            <a:off x="6446520" y="3273552"/>
            <a:ext cx="2103120" cy="685800"/>
          </a:xfrm>
          <a:prstGeom prst="rect">
            <a:avLst/>
          </a:prstGeom>
          <a:noFill/>
          <a:ln/>
        </p:spPr>
        <p:txBody>
          <a:bodyPr wrap="square" lIns="0" tIns="0" rIns="0" bIns="0" rtlCol="0" anchor="t"/>
          <a:lstStyle/>
          <a:p>
            <a:pPr indent="0" marL="0">
              <a:buNone/>
            </a:pPr>
            <a:r>
              <a:rPr lang="en-US" sz="1800" b="1" dirty="0">
                <a:solidFill>
                  <a:schemeClr val="tx2"/>
                </a:solidFill>
              </a:rPr>
              <a:t>The sync's service principal</a:t>
            </a:r>
            <a:endParaRPr lang="en-US" sz="1800" dirty="0"/>
          </a:p>
        </p:txBody>
      </p:sp>
      <p:sp>
        <p:nvSpPr>
          <p:cNvPr id="27" name="txt_376"/>
          <p:cNvSpPr txBox="1"/>
          <p:nvPr/>
        </p:nvSpPr>
        <p:spPr>
          <a:xfrm>
            <a:off x="644652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Triples are a copy. Row filters and masks are frozen as that service principal saw them.</a:t>
            </a:r>
            <a:endParaRPr lang="en-US" sz="1400" dirty="0"/>
          </a:p>
        </p:txBody>
      </p:sp>
      <p:pic>
        <p:nvPicPr>
          <p:cNvPr id="28" name="status_377" descr="preencoded.png">    </p:cNvPr>
          <p:cNvPicPr>
            <a:picLocks noChangeAspect="1"/>
          </p:cNvPicPr>
          <p:nvPr/>
        </p:nvPicPr>
        <p:blipFill>
          <a:blip r:embed="rId6"/>
          <a:stretch>
            <a:fillRect/>
          </a:stretch>
        </p:blipFill>
        <p:spPr>
          <a:xfrm>
            <a:off x="6446520" y="5056632"/>
            <a:ext cx="274320" cy="274320"/>
          </a:xfrm>
          <a:prstGeom prst="rect">
            <a:avLst/>
          </a:prstGeom>
        </p:spPr>
      </p:pic>
      <p:sp>
        <p:nvSpPr>
          <p:cNvPr id="29" name="txt_378"/>
          <p:cNvSpPr txBox="1"/>
          <p:nvPr/>
        </p:nvSpPr>
        <p:spPr>
          <a:xfrm>
            <a:off x="6812280" y="5056632"/>
            <a:ext cx="1737360" cy="274320"/>
          </a:xfrm>
          <a:prstGeom prst="rect">
            <a:avLst/>
          </a:prstGeom>
          <a:noFill/>
          <a:ln/>
        </p:spPr>
        <p:txBody>
          <a:bodyPr wrap="square" lIns="0" tIns="0" rIns="0" bIns="0" rtlCol="0" anchor="ctr"/>
          <a:lstStyle/>
          <a:p>
            <a:pPr indent="0" marL="0">
              <a:buNone/>
            </a:pPr>
            <a:r>
              <a:rPr lang="en-US" sz="1400" b="1" dirty="0">
                <a:solidFill>
                  <a:schemeClr val="accent3"/>
                </a:solidFill>
              </a:rPr>
              <a:t>Frozen at sync</a:t>
            </a:r>
            <a:endParaRPr lang="en-US" sz="1400" dirty="0"/>
          </a:p>
        </p:txBody>
      </p:sp>
      <p:sp>
        <p:nvSpPr>
          <p:cNvPr id="30" name="card_379"/>
          <p:cNvSpPr/>
          <p:nvPr/>
        </p:nvSpPr>
        <p:spPr>
          <a:xfrm>
            <a:off x="9052560" y="1417320"/>
            <a:ext cx="2560320" cy="4069080"/>
          </a:xfrm>
          <a:prstGeom prst="roundRect">
            <a:avLst>
              <a:gd name="adj" fmla="val 2857"/>
            </a:avLst>
          </a:prstGeom>
          <a:solidFill>
            <a:schemeClr val="bg2"/>
          </a:solidFill>
          <a:ln w="12700">
            <a:solidFill>
              <a:schemeClr val="bg2"/>
            </a:solidFill>
            <a:prstDash val="solid"/>
          </a:ln>
        </p:spPr>
      </p:sp>
      <p:sp>
        <p:nvSpPr>
          <p:cNvPr id="31" name="node_380"/>
          <p:cNvSpPr/>
          <p:nvPr/>
        </p:nvSpPr>
        <p:spPr>
          <a:xfrm>
            <a:off x="9281160" y="1691640"/>
            <a:ext cx="777240" cy="777240"/>
          </a:xfrm>
          <a:prstGeom prst="ellipse">
            <a:avLst/>
          </a:prstGeom>
          <a:solidFill>
            <a:schemeClr val="accent4"/>
          </a:solidFill>
          <a:ln w="12700">
            <a:solidFill>
              <a:schemeClr val="accent4"/>
            </a:solidFill>
            <a:prstDash val="solid"/>
          </a:ln>
        </p:spPr>
      </p:sp>
      <p:pic>
        <p:nvPicPr>
          <p:cNvPr id="32" name="icon_381" descr="preencoded.png">    </p:cNvPr>
          <p:cNvPicPr>
            <a:picLocks noChangeAspect="1"/>
          </p:cNvPicPr>
          <p:nvPr/>
        </p:nvPicPr>
        <p:blipFill>
          <a:blip r:embed="rId7"/>
          <a:stretch>
            <a:fillRect/>
          </a:stretch>
        </p:blipFill>
        <p:spPr>
          <a:xfrm>
            <a:off x="9467698" y="1878178"/>
            <a:ext cx="404165" cy="404165"/>
          </a:xfrm>
          <a:prstGeom prst="rect">
            <a:avLst/>
          </a:prstGeom>
        </p:spPr>
      </p:pic>
      <p:sp>
        <p:nvSpPr>
          <p:cNvPr id="33" name="txt_382"/>
          <p:cNvSpPr txBox="1"/>
          <p:nvPr/>
        </p:nvSpPr>
        <p:spPr>
          <a:xfrm>
            <a:off x="9281160" y="2606040"/>
            <a:ext cx="2103120" cy="320040"/>
          </a:xfrm>
          <a:prstGeom prst="rect">
            <a:avLst/>
          </a:prstGeom>
          <a:noFill/>
          <a:ln/>
        </p:spPr>
        <p:txBody>
          <a:bodyPr wrap="square" lIns="0" tIns="0" rIns="0" bIns="0" rtlCol="0" anchor="t"/>
          <a:lstStyle/>
          <a:p>
            <a:pPr indent="0" marL="0">
              <a:buNone/>
            </a:pPr>
            <a:r>
              <a:rPr lang="en-US" sz="1500" b="1" dirty="0">
                <a:solidFill>
                  <a:schemeClr val="accent4"/>
                </a:solidFill>
              </a:rPr>
              <a:t>Ontop</a:t>
            </a:r>
            <a:endParaRPr lang="en-US" sz="1500" dirty="0"/>
          </a:p>
        </p:txBody>
      </p:sp>
      <p:sp>
        <p:nvSpPr>
          <p:cNvPr id="34" name="txt_383"/>
          <p:cNvSpPr txBox="1"/>
          <p:nvPr/>
        </p:nvSpPr>
        <p:spPr>
          <a:xfrm>
            <a:off x="9281160" y="3017520"/>
            <a:ext cx="2103120" cy="256032"/>
          </a:xfrm>
          <a:prstGeom prst="rect">
            <a:avLst/>
          </a:prstGeom>
          <a:noFill/>
          <a:ln/>
        </p:spPr>
        <p:txBody>
          <a:bodyPr wrap="square" lIns="0" tIns="0" rIns="0" bIns="0" rtlCol="0" anchor="t"/>
          <a:lstStyle/>
          <a:p>
            <a:pPr indent="0" marL="0">
              <a:buNone/>
            </a:pPr>
            <a:r>
              <a:rPr lang="en-US" sz="1100" b="1" spc="100" kern="0" dirty="0">
                <a:solidFill>
                  <a:schemeClr val="accent6"/>
                </a:solidFill>
              </a:rPr>
              <a:t>UNITY CATALOG SEES</a:t>
            </a:r>
            <a:endParaRPr lang="en-US" sz="1100" dirty="0"/>
          </a:p>
        </p:txBody>
      </p:sp>
      <p:sp>
        <p:nvSpPr>
          <p:cNvPr id="35" name="txt_384"/>
          <p:cNvSpPr txBox="1"/>
          <p:nvPr/>
        </p:nvSpPr>
        <p:spPr>
          <a:xfrm>
            <a:off x="9281160" y="3273552"/>
            <a:ext cx="2103120" cy="685800"/>
          </a:xfrm>
          <a:prstGeom prst="rect">
            <a:avLst/>
          </a:prstGeom>
          <a:noFill/>
          <a:ln/>
        </p:spPr>
        <p:txBody>
          <a:bodyPr wrap="square" lIns="0" tIns="0" rIns="0" bIns="0" rtlCol="0" anchor="t"/>
          <a:lstStyle/>
          <a:p>
            <a:pPr indent="0" marL="0">
              <a:buNone/>
            </a:pPr>
            <a:r>
              <a:rPr lang="en-US" sz="1800" b="1" dirty="0">
                <a:solidFill>
                  <a:schemeClr val="tx2"/>
                </a:solidFill>
              </a:rPr>
              <a:t>One service credential</a:t>
            </a:r>
            <a:endParaRPr lang="en-US" sz="1800" dirty="0"/>
          </a:p>
        </p:txBody>
      </p:sp>
      <p:sp>
        <p:nvSpPr>
          <p:cNvPr id="36" name="txt_385"/>
          <p:cNvSpPr txBox="1"/>
          <p:nvPr/>
        </p:nvSpPr>
        <p:spPr>
          <a:xfrm>
            <a:off x="9281160" y="4023360"/>
            <a:ext cx="2103120" cy="1005840"/>
          </a:xfrm>
          <a:prstGeom prst="rect">
            <a:avLst/>
          </a:prstGeom>
          <a:noFill/>
          <a:ln/>
        </p:spPr>
        <p:txBody>
          <a:bodyPr wrap="square" lIns="0" tIns="0" rIns="0" bIns="0" rtlCol="0" anchor="t"/>
          <a:lstStyle/>
          <a:p>
            <a:pPr indent="0" marL="0">
              <a:buNone/>
            </a:pPr>
            <a:r>
              <a:rPr lang="en-US" sz="1400" dirty="0">
                <a:solidFill>
                  <a:schemeClr val="tx1"/>
                </a:solidFill>
              </a:rPr>
              <a:t>Every SPARQL caller shares the endpoint's single JDBC identity.</a:t>
            </a:r>
            <a:endParaRPr lang="en-US" sz="1400" dirty="0"/>
          </a:p>
        </p:txBody>
      </p:sp>
      <p:pic>
        <p:nvPicPr>
          <p:cNvPr id="37" name="status_386" descr="preencoded.png">    </p:cNvPr>
          <p:cNvPicPr>
            <a:picLocks noChangeAspect="1"/>
          </p:cNvPicPr>
          <p:nvPr/>
        </p:nvPicPr>
        <p:blipFill>
          <a:blip r:embed="rId8"/>
          <a:stretch>
            <a:fillRect/>
          </a:stretch>
        </p:blipFill>
        <p:spPr>
          <a:xfrm>
            <a:off x="9281160" y="5056632"/>
            <a:ext cx="274320" cy="274320"/>
          </a:xfrm>
          <a:prstGeom prst="rect">
            <a:avLst/>
          </a:prstGeom>
        </p:spPr>
      </p:pic>
      <p:sp>
        <p:nvSpPr>
          <p:cNvPr id="38" name="txt_387"/>
          <p:cNvSpPr txBox="1"/>
          <p:nvPr/>
        </p:nvSpPr>
        <p:spPr>
          <a:xfrm>
            <a:off x="9646920" y="5056632"/>
            <a:ext cx="1737360" cy="274320"/>
          </a:xfrm>
          <a:prstGeom prst="rect">
            <a:avLst/>
          </a:prstGeom>
          <a:noFill/>
          <a:ln/>
        </p:spPr>
        <p:txBody>
          <a:bodyPr wrap="square" lIns="0" tIns="0" rIns="0" bIns="0" rtlCol="0" anchor="ctr"/>
          <a:lstStyle/>
          <a:p>
            <a:pPr indent="0" marL="0">
              <a:buNone/>
            </a:pPr>
            <a:r>
              <a:rPr lang="en-US" sz="1400" b="1" dirty="0">
                <a:solidFill>
                  <a:schemeClr val="accent3"/>
                </a:solidFill>
              </a:rPr>
              <a:t>Shared identity</a:t>
            </a:r>
            <a:endParaRPr lang="en-US" sz="1400" dirty="0"/>
          </a:p>
        </p:txBody>
      </p:sp>
      <p:sp>
        <p:nvSpPr>
          <p:cNvPr id="39" name="callout_388"/>
          <p:cNvSpPr/>
          <p:nvPr/>
        </p:nvSpPr>
        <p:spPr>
          <a:xfrm>
            <a:off x="548640" y="5623560"/>
            <a:ext cx="11064240" cy="548640"/>
          </a:xfrm>
          <a:prstGeom prst="roundRect">
            <a:avLst>
              <a:gd name="adj" fmla="val 13333"/>
            </a:avLst>
          </a:prstGeom>
          <a:solidFill>
            <a:schemeClr val="accent5">
              <a:alpha val="20000"/>
            </a:schemeClr>
          </a:solidFill>
          <a:ln w="12700">
            <a:solidFill>
              <a:schemeClr val="accent5"/>
            </a:solidFill>
            <a:prstDash val="solid"/>
          </a:ln>
        </p:spPr>
      </p:sp>
      <p:pic>
        <p:nvPicPr>
          <p:cNvPr id="40" name="icon_389" descr="preencoded.png">    </p:cNvPr>
          <p:cNvPicPr>
            <a:picLocks noChangeAspect="1"/>
          </p:cNvPicPr>
          <p:nvPr/>
        </p:nvPicPr>
        <p:blipFill>
          <a:blip r:embed="rId9"/>
          <a:stretch>
            <a:fillRect/>
          </a:stretch>
        </p:blipFill>
        <p:spPr>
          <a:xfrm>
            <a:off x="777240" y="5760720"/>
            <a:ext cx="274320" cy="274320"/>
          </a:xfrm>
          <a:prstGeom prst="rect">
            <a:avLst/>
          </a:prstGeom>
        </p:spPr>
      </p:pic>
      <p:sp>
        <p:nvSpPr>
          <p:cNvPr id="41" name="txt_390"/>
          <p:cNvSpPr txBox="1"/>
          <p:nvPr/>
        </p:nvSpPr>
        <p:spPr>
          <a:xfrm>
            <a:off x="1188720" y="5623560"/>
            <a:ext cx="10241280" cy="548640"/>
          </a:xfrm>
          <a:prstGeom prst="rect">
            <a:avLst/>
          </a:prstGeom>
          <a:noFill/>
          <a:ln/>
        </p:spPr>
        <p:txBody>
          <a:bodyPr wrap="square" lIns="0" tIns="0" rIns="0" bIns="0" rtlCol="0" anchor="ctr"/>
          <a:lstStyle/>
          <a:p>
            <a:pPr indent="0" marL="0">
              <a:buNone/>
            </a:pPr>
            <a:r>
              <a:rPr lang="en-US" sz="1600" b="1" dirty="0">
                <a:solidFill>
                  <a:schemeClr val="tx2"/>
                </a:solidFill>
              </a:rPr>
              <a:t>For ABAC-protected trial data, this parameter alone can rule an option out.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trade-off no option fully resolves</a:t>
            </a:r>
            <a:endParaRPr lang="en-US" sz="3600" dirty="0"/>
          </a:p>
        </p:txBody>
      </p:sp>
      <p:sp>
        <p:nvSpPr>
          <p:cNvPr id="3" name="line_391"/>
          <p:cNvSpPr/>
          <p:nvPr/>
        </p:nvSpPr>
        <p:spPr>
          <a:xfrm flipH="1">
            <a:off x="1005840" y="1874520"/>
            <a:ext cx="2286000" cy="3383280"/>
          </a:xfrm>
          <a:prstGeom prst="line">
            <a:avLst/>
          </a:prstGeom>
          <a:noFill/>
          <a:ln w="28575">
            <a:solidFill>
              <a:schemeClr val="accent6"/>
            </a:solidFill>
            <a:prstDash val="solid"/>
          </a:ln>
        </p:spPr>
      </p:sp>
      <p:sp>
        <p:nvSpPr>
          <p:cNvPr id="4" name="line_392"/>
          <p:cNvSpPr/>
          <p:nvPr/>
        </p:nvSpPr>
        <p:spPr>
          <a:xfrm>
            <a:off x="3291840" y="1874520"/>
            <a:ext cx="2286000" cy="3383280"/>
          </a:xfrm>
          <a:prstGeom prst="line">
            <a:avLst/>
          </a:prstGeom>
          <a:noFill/>
          <a:ln w="28575">
            <a:solidFill>
              <a:schemeClr val="accent6"/>
            </a:solidFill>
            <a:prstDash val="solid"/>
          </a:ln>
        </p:spPr>
      </p:sp>
      <p:sp>
        <p:nvSpPr>
          <p:cNvPr id="5" name="line_393"/>
          <p:cNvSpPr/>
          <p:nvPr/>
        </p:nvSpPr>
        <p:spPr>
          <a:xfrm>
            <a:off x="1005840" y="5257800"/>
            <a:ext cx="4572000" cy="0"/>
          </a:xfrm>
          <a:prstGeom prst="line">
            <a:avLst/>
          </a:prstGeom>
          <a:noFill/>
          <a:ln w="28575">
            <a:solidFill>
              <a:schemeClr val="accent6"/>
            </a:solidFill>
            <a:prstDash val="solid"/>
          </a:ln>
        </p:spPr>
      </p:sp>
      <p:sp>
        <p:nvSpPr>
          <p:cNvPr id="6" name="vertex_394"/>
          <p:cNvSpPr/>
          <p:nvPr/>
        </p:nvSpPr>
        <p:spPr>
          <a:xfrm>
            <a:off x="3163824" y="1746504"/>
            <a:ext cx="256032" cy="256032"/>
          </a:xfrm>
          <a:prstGeom prst="ellipse">
            <a:avLst/>
          </a:prstGeom>
          <a:solidFill>
            <a:schemeClr val="tx2"/>
          </a:solidFill>
          <a:ln w="12700">
            <a:solidFill>
              <a:schemeClr val="tx2"/>
            </a:solidFill>
            <a:prstDash val="solid"/>
          </a:ln>
        </p:spPr>
      </p:sp>
      <p:sp>
        <p:nvSpPr>
          <p:cNvPr id="7" name="vertex_395"/>
          <p:cNvSpPr/>
          <p:nvPr/>
        </p:nvSpPr>
        <p:spPr>
          <a:xfrm>
            <a:off x="877824" y="5129784"/>
            <a:ext cx="256032" cy="256032"/>
          </a:xfrm>
          <a:prstGeom prst="ellipse">
            <a:avLst/>
          </a:prstGeom>
          <a:solidFill>
            <a:schemeClr val="tx2"/>
          </a:solidFill>
          <a:ln w="12700">
            <a:solidFill>
              <a:schemeClr val="tx2"/>
            </a:solidFill>
            <a:prstDash val="solid"/>
          </a:ln>
        </p:spPr>
      </p:sp>
      <p:sp>
        <p:nvSpPr>
          <p:cNvPr id="8" name="vertex_396"/>
          <p:cNvSpPr/>
          <p:nvPr/>
        </p:nvSpPr>
        <p:spPr>
          <a:xfrm>
            <a:off x="5449824" y="5129784"/>
            <a:ext cx="256032" cy="256032"/>
          </a:xfrm>
          <a:prstGeom prst="ellipse">
            <a:avLst/>
          </a:prstGeom>
          <a:solidFill>
            <a:schemeClr val="tx2"/>
          </a:solidFill>
          <a:ln w="12700">
            <a:solidFill>
              <a:schemeClr val="tx2"/>
            </a:solidFill>
            <a:prstDash val="solid"/>
          </a:ln>
        </p:spPr>
      </p:sp>
      <p:sp>
        <p:nvSpPr>
          <p:cNvPr id="9" name="txt_397"/>
          <p:cNvSpPr txBox="1"/>
          <p:nvPr/>
        </p:nvSpPr>
        <p:spPr>
          <a:xfrm>
            <a:off x="1920240" y="1371600"/>
            <a:ext cx="2743200" cy="347472"/>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Formal semantics</a:t>
            </a:r>
            <a:endParaRPr lang="en-US" sz="1800" dirty="0"/>
          </a:p>
        </p:txBody>
      </p:sp>
      <p:sp>
        <p:nvSpPr>
          <p:cNvPr id="10" name="txt_398"/>
          <p:cNvSpPr txBox="1"/>
          <p:nvPr/>
        </p:nvSpPr>
        <p:spPr>
          <a:xfrm>
            <a:off x="548640" y="5486400"/>
            <a:ext cx="2377440" cy="347472"/>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Per-user governance</a:t>
            </a:r>
            <a:endParaRPr lang="en-US" sz="1800" dirty="0"/>
          </a:p>
        </p:txBody>
      </p:sp>
      <p:sp>
        <p:nvSpPr>
          <p:cNvPr id="11" name="txt_399"/>
          <p:cNvSpPr txBox="1"/>
          <p:nvPr/>
        </p:nvSpPr>
        <p:spPr>
          <a:xfrm>
            <a:off x="3840480" y="5486400"/>
            <a:ext cx="2377440" cy="347472"/>
          </a:xfrm>
          <a:prstGeom prst="rect">
            <a:avLst/>
          </a:prstGeom>
          <a:noFill/>
          <a:ln/>
        </p:spPr>
        <p:txBody>
          <a:bodyPr wrap="square" lIns="0" tIns="0" rIns="0" bIns="0" rtlCol="0" anchor="t"/>
          <a:lstStyle/>
          <a:p>
            <a:pPr algn="r" indent="0" marL="0">
              <a:buNone/>
            </a:pPr>
            <a:r>
              <a:rPr lang="en-US" sz="1800" b="1" dirty="0">
                <a:solidFill>
                  <a:schemeClr val="tx2"/>
                </a:solidFill>
                <a:latin typeface="+mj-lt" pitchFamily="34" charset="0"/>
                <a:ea typeface="+mj-lt" pitchFamily="34" charset="-122"/>
                <a:cs typeface="+mj-lt" pitchFamily="34" charset="-120"/>
              </a:rPr>
              <a:t>Live data, no copies</a:t>
            </a:r>
            <a:endParaRPr lang="en-US" sz="1800" dirty="0"/>
          </a:p>
        </p:txBody>
      </p:sp>
      <p:sp>
        <p:nvSpPr>
          <p:cNvPr id="12" name="node_400"/>
          <p:cNvSpPr/>
          <p:nvPr/>
        </p:nvSpPr>
        <p:spPr>
          <a:xfrm>
            <a:off x="2263140" y="5006340"/>
            <a:ext cx="502920" cy="502920"/>
          </a:xfrm>
          <a:prstGeom prst="ellipse">
            <a:avLst/>
          </a:prstGeom>
          <a:solidFill>
            <a:schemeClr val="accent1"/>
          </a:solidFill>
          <a:ln w="12700">
            <a:solidFill>
              <a:schemeClr val="accent1"/>
            </a:solidFill>
            <a:prstDash val="solid"/>
          </a:ln>
        </p:spPr>
      </p:sp>
      <p:pic>
        <p:nvPicPr>
          <p:cNvPr id="13" name="icon_401" descr="preencoded.png">    </p:cNvPr>
          <p:cNvPicPr>
            <a:picLocks noChangeAspect="1"/>
          </p:cNvPicPr>
          <p:nvPr/>
        </p:nvPicPr>
        <p:blipFill>
          <a:blip r:embed="rId1"/>
          <a:stretch>
            <a:fillRect/>
          </a:stretch>
        </p:blipFill>
        <p:spPr>
          <a:xfrm>
            <a:off x="2383841" y="5127041"/>
            <a:ext cx="261518" cy="261518"/>
          </a:xfrm>
          <a:prstGeom prst="rect">
            <a:avLst/>
          </a:prstGeom>
        </p:spPr>
      </p:pic>
      <p:sp>
        <p:nvSpPr>
          <p:cNvPr id="14" name="node_402"/>
          <p:cNvSpPr/>
          <p:nvPr/>
        </p:nvSpPr>
        <p:spPr>
          <a:xfrm>
            <a:off x="3817620" y="5006340"/>
            <a:ext cx="502920" cy="502920"/>
          </a:xfrm>
          <a:prstGeom prst="ellipse">
            <a:avLst/>
          </a:prstGeom>
          <a:solidFill>
            <a:schemeClr val="accent2"/>
          </a:solidFill>
          <a:ln w="12700">
            <a:solidFill>
              <a:schemeClr val="accent2"/>
            </a:solidFill>
            <a:prstDash val="solid"/>
          </a:ln>
        </p:spPr>
      </p:sp>
      <p:pic>
        <p:nvPicPr>
          <p:cNvPr id="15" name="icon_403" descr="preencoded.png">    </p:cNvPr>
          <p:cNvPicPr>
            <a:picLocks noChangeAspect="1"/>
          </p:cNvPicPr>
          <p:nvPr/>
        </p:nvPicPr>
        <p:blipFill>
          <a:blip r:embed="rId2"/>
          <a:stretch>
            <a:fillRect/>
          </a:stretch>
        </p:blipFill>
        <p:spPr>
          <a:xfrm>
            <a:off x="3938321" y="5127041"/>
            <a:ext cx="261518" cy="261518"/>
          </a:xfrm>
          <a:prstGeom prst="rect">
            <a:avLst/>
          </a:prstGeom>
        </p:spPr>
      </p:pic>
      <p:sp>
        <p:nvSpPr>
          <p:cNvPr id="16" name="txt_404"/>
          <p:cNvSpPr txBox="1"/>
          <p:nvPr/>
        </p:nvSpPr>
        <p:spPr>
          <a:xfrm>
            <a:off x="1783080" y="4645152"/>
            <a:ext cx="1463040" cy="274320"/>
          </a:xfrm>
          <a:prstGeom prst="rect">
            <a:avLst/>
          </a:prstGeom>
          <a:noFill/>
          <a:ln/>
        </p:spPr>
        <p:txBody>
          <a:bodyPr wrap="square" lIns="0" tIns="0" rIns="0" bIns="0" rtlCol="0" anchor="t"/>
          <a:lstStyle/>
          <a:p>
            <a:pPr algn="ctr" indent="0" marL="0">
              <a:buNone/>
            </a:pPr>
            <a:r>
              <a:rPr lang="en-US" sz="1300" b="1" dirty="0">
                <a:solidFill>
                  <a:schemeClr val="accent1"/>
                </a:solidFill>
              </a:rPr>
              <a:t>Genie Ontology</a:t>
            </a:r>
            <a:endParaRPr lang="en-US" sz="1300" dirty="0"/>
          </a:p>
        </p:txBody>
      </p:sp>
      <p:sp>
        <p:nvSpPr>
          <p:cNvPr id="17" name="txt_405"/>
          <p:cNvSpPr txBox="1"/>
          <p:nvPr/>
        </p:nvSpPr>
        <p:spPr>
          <a:xfrm>
            <a:off x="3337560" y="4645152"/>
            <a:ext cx="1463040" cy="274320"/>
          </a:xfrm>
          <a:prstGeom prst="rect">
            <a:avLst/>
          </a:prstGeom>
          <a:noFill/>
          <a:ln/>
        </p:spPr>
        <p:txBody>
          <a:bodyPr wrap="square" lIns="0" tIns="0" rIns="0" bIns="0" rtlCol="0" anchor="t"/>
          <a:lstStyle/>
          <a:p>
            <a:pPr algn="ctr" indent="0" marL="0">
              <a:buNone/>
            </a:pPr>
            <a:r>
              <a:rPr lang="en-US" sz="1300" b="1" dirty="0">
                <a:solidFill>
                  <a:schemeClr val="accent2"/>
                </a:solidFill>
              </a:rPr>
              <a:t>dbxmetagen</a:t>
            </a:r>
            <a:endParaRPr lang="en-US" sz="1300" dirty="0"/>
          </a:p>
        </p:txBody>
      </p:sp>
      <p:sp>
        <p:nvSpPr>
          <p:cNvPr id="18" name="node_406"/>
          <p:cNvSpPr/>
          <p:nvPr/>
        </p:nvSpPr>
        <p:spPr>
          <a:xfrm>
            <a:off x="4183380" y="3314700"/>
            <a:ext cx="502920" cy="502920"/>
          </a:xfrm>
          <a:prstGeom prst="ellipse">
            <a:avLst/>
          </a:prstGeom>
          <a:solidFill>
            <a:schemeClr val="accent4"/>
          </a:solidFill>
          <a:ln w="12700">
            <a:solidFill>
              <a:schemeClr val="accent4"/>
            </a:solidFill>
            <a:prstDash val="solid"/>
          </a:ln>
        </p:spPr>
      </p:sp>
      <p:pic>
        <p:nvPicPr>
          <p:cNvPr id="19" name="icon_407" descr="preencoded.png">    </p:cNvPr>
          <p:cNvPicPr>
            <a:picLocks noChangeAspect="1"/>
          </p:cNvPicPr>
          <p:nvPr/>
        </p:nvPicPr>
        <p:blipFill>
          <a:blip r:embed="rId3"/>
          <a:stretch>
            <a:fillRect/>
          </a:stretch>
        </p:blipFill>
        <p:spPr>
          <a:xfrm>
            <a:off x="4304081" y="3435401"/>
            <a:ext cx="261518" cy="261518"/>
          </a:xfrm>
          <a:prstGeom prst="rect">
            <a:avLst/>
          </a:prstGeom>
        </p:spPr>
      </p:pic>
      <p:sp>
        <p:nvSpPr>
          <p:cNvPr id="20" name="txt_408"/>
          <p:cNvSpPr txBox="1"/>
          <p:nvPr/>
        </p:nvSpPr>
        <p:spPr>
          <a:xfrm>
            <a:off x="4800600" y="3429000"/>
            <a:ext cx="1097280" cy="274320"/>
          </a:xfrm>
          <a:prstGeom prst="rect">
            <a:avLst/>
          </a:prstGeom>
          <a:noFill/>
          <a:ln/>
        </p:spPr>
        <p:txBody>
          <a:bodyPr wrap="square" lIns="0" tIns="0" rIns="0" bIns="0" rtlCol="0" anchor="t"/>
          <a:lstStyle/>
          <a:p>
            <a:pPr indent="0" marL="0">
              <a:buNone/>
            </a:pPr>
            <a:r>
              <a:rPr lang="en-US" sz="1300" b="1" dirty="0">
                <a:solidFill>
                  <a:schemeClr val="accent4"/>
                </a:solidFill>
              </a:rPr>
              <a:t>Ontop</a:t>
            </a:r>
            <a:endParaRPr lang="en-US" sz="1300" dirty="0"/>
          </a:p>
        </p:txBody>
      </p:sp>
      <p:sp>
        <p:nvSpPr>
          <p:cNvPr id="21" name="node_409"/>
          <p:cNvSpPr/>
          <p:nvPr/>
        </p:nvSpPr>
        <p:spPr>
          <a:xfrm>
            <a:off x="3040380" y="2606040"/>
            <a:ext cx="502920" cy="502920"/>
          </a:xfrm>
          <a:prstGeom prst="ellipse">
            <a:avLst/>
          </a:prstGeom>
          <a:solidFill>
            <a:schemeClr val="accent3"/>
          </a:solidFill>
          <a:ln w="12700">
            <a:solidFill>
              <a:schemeClr val="accent3"/>
            </a:solidFill>
            <a:prstDash val="solid"/>
          </a:ln>
        </p:spPr>
      </p:sp>
      <p:pic>
        <p:nvPicPr>
          <p:cNvPr id="22" name="icon_410" descr="preencoded.png">    </p:cNvPr>
          <p:cNvPicPr>
            <a:picLocks noChangeAspect="1"/>
          </p:cNvPicPr>
          <p:nvPr/>
        </p:nvPicPr>
        <p:blipFill>
          <a:blip r:embed="rId4"/>
          <a:stretch>
            <a:fillRect/>
          </a:stretch>
        </p:blipFill>
        <p:spPr>
          <a:xfrm>
            <a:off x="3161081" y="2726741"/>
            <a:ext cx="261518" cy="261518"/>
          </a:xfrm>
          <a:prstGeom prst="rect">
            <a:avLst/>
          </a:prstGeom>
        </p:spPr>
      </p:pic>
      <p:sp>
        <p:nvSpPr>
          <p:cNvPr id="23" name="txt_411"/>
          <p:cNvSpPr txBox="1"/>
          <p:nvPr/>
        </p:nvSpPr>
        <p:spPr>
          <a:xfrm>
            <a:off x="2651760" y="3154680"/>
            <a:ext cx="1280160" cy="274320"/>
          </a:xfrm>
          <a:prstGeom prst="rect">
            <a:avLst/>
          </a:prstGeom>
          <a:noFill/>
          <a:ln/>
        </p:spPr>
        <p:txBody>
          <a:bodyPr wrap="square" lIns="0" tIns="0" rIns="0" bIns="0" rtlCol="0" anchor="t"/>
          <a:lstStyle/>
          <a:p>
            <a:pPr algn="ctr" indent="0" marL="0">
              <a:buNone/>
            </a:pPr>
            <a:r>
              <a:rPr lang="en-US" sz="1300" b="1" dirty="0">
                <a:solidFill>
                  <a:schemeClr val="accent3"/>
                </a:solidFill>
              </a:rPr>
              <a:t>OntoBricks</a:t>
            </a:r>
            <a:endParaRPr lang="en-US" sz="1300" dirty="0"/>
          </a:p>
        </p:txBody>
      </p:sp>
      <p:sp>
        <p:nvSpPr>
          <p:cNvPr id="24" name="txt_412"/>
          <p:cNvSpPr txBox="1"/>
          <p:nvPr/>
        </p:nvSpPr>
        <p:spPr>
          <a:xfrm>
            <a:off x="548640" y="3429000"/>
            <a:ext cx="1417320" cy="548640"/>
          </a:xfrm>
          <a:prstGeom prst="rect">
            <a:avLst/>
          </a:prstGeom>
          <a:noFill/>
          <a:ln/>
        </p:spPr>
        <p:txBody>
          <a:bodyPr wrap="square" lIns="0" tIns="0" rIns="0" bIns="0" rtlCol="0" anchor="t"/>
          <a:lstStyle/>
          <a:p>
            <a:pPr algn="r" indent="0" marL="0">
              <a:buNone/>
            </a:pPr>
            <a:r>
              <a:rPr lang="en-US" sz="1200" i="1" dirty="0">
                <a:solidFill>
                  <a:schemeClr val="accent6"/>
                </a:solidFill>
              </a:rPr>
              <a:t>Nothing sits on this edge today</a:t>
            </a:r>
            <a:endParaRPr lang="en-US" sz="1200" dirty="0"/>
          </a:p>
        </p:txBody>
      </p:sp>
      <p:sp>
        <p:nvSpPr>
          <p:cNvPr id="25" name="node_413"/>
          <p:cNvSpPr/>
          <p:nvPr/>
        </p:nvSpPr>
        <p:spPr>
          <a:xfrm>
            <a:off x="6675120" y="1508760"/>
            <a:ext cx="411480" cy="411480"/>
          </a:xfrm>
          <a:prstGeom prst="ellipse">
            <a:avLst/>
          </a:prstGeom>
          <a:solidFill>
            <a:schemeClr val="accent1"/>
          </a:solidFill>
          <a:ln w="12700">
            <a:solidFill>
              <a:schemeClr val="accent1"/>
            </a:solidFill>
            <a:prstDash val="solid"/>
          </a:ln>
        </p:spPr>
      </p:sp>
      <p:pic>
        <p:nvPicPr>
          <p:cNvPr id="26" name="icon_414" descr="preencoded.png">    </p:cNvPr>
          <p:cNvPicPr>
            <a:picLocks noChangeAspect="1"/>
          </p:cNvPicPr>
          <p:nvPr/>
        </p:nvPicPr>
        <p:blipFill>
          <a:blip r:embed="rId5"/>
          <a:stretch>
            <a:fillRect/>
          </a:stretch>
        </p:blipFill>
        <p:spPr>
          <a:xfrm>
            <a:off x="6773875" y="1607515"/>
            <a:ext cx="213970" cy="213970"/>
          </a:xfrm>
          <a:prstGeom prst="rect">
            <a:avLst/>
          </a:prstGeom>
        </p:spPr>
      </p:pic>
      <p:sp>
        <p:nvSpPr>
          <p:cNvPr id="27" name="node_415"/>
          <p:cNvSpPr/>
          <p:nvPr/>
        </p:nvSpPr>
        <p:spPr>
          <a:xfrm>
            <a:off x="7178040" y="1508760"/>
            <a:ext cx="411480" cy="411480"/>
          </a:xfrm>
          <a:prstGeom prst="ellipse">
            <a:avLst/>
          </a:prstGeom>
          <a:solidFill>
            <a:schemeClr val="accent2"/>
          </a:solidFill>
          <a:ln w="12700">
            <a:solidFill>
              <a:schemeClr val="accent2"/>
            </a:solidFill>
            <a:prstDash val="solid"/>
          </a:ln>
        </p:spPr>
      </p:sp>
      <p:pic>
        <p:nvPicPr>
          <p:cNvPr id="28" name="icon_416" descr="preencoded.png">    </p:cNvPr>
          <p:cNvPicPr>
            <a:picLocks noChangeAspect="1"/>
          </p:cNvPicPr>
          <p:nvPr/>
        </p:nvPicPr>
        <p:blipFill>
          <a:blip r:embed="rId6"/>
          <a:stretch>
            <a:fillRect/>
          </a:stretch>
        </p:blipFill>
        <p:spPr>
          <a:xfrm>
            <a:off x="7276795" y="1607515"/>
            <a:ext cx="213970" cy="213970"/>
          </a:xfrm>
          <a:prstGeom prst="rect">
            <a:avLst/>
          </a:prstGeom>
        </p:spPr>
      </p:pic>
      <p:sp>
        <p:nvSpPr>
          <p:cNvPr id="29" name="txt_417"/>
          <p:cNvSpPr txBox="1"/>
          <p:nvPr/>
        </p:nvSpPr>
        <p:spPr>
          <a:xfrm>
            <a:off x="7772400" y="1508760"/>
            <a:ext cx="4114800" cy="411480"/>
          </a:xfrm>
          <a:prstGeom prst="rect">
            <a:avLst/>
          </a:prstGeom>
          <a:noFill/>
          <a:ln/>
        </p:spPr>
        <p:txBody>
          <a:bodyPr wrap="square" lIns="0" tIns="0" rIns="0" bIns="0" rtlCol="0" anchor="ctr"/>
          <a:lstStyle/>
          <a:p>
            <a:pPr indent="0" marL="0">
              <a:buNone/>
            </a:pPr>
            <a:r>
              <a:rPr lang="en-US" sz="1600" b="1" dirty="0">
                <a:solidFill>
                  <a:schemeClr val="tx2"/>
                </a:solidFill>
              </a:rPr>
              <a:t>Genie Ontology · dbxmetagen</a:t>
            </a:r>
            <a:endParaRPr lang="en-US" sz="1600" dirty="0"/>
          </a:p>
        </p:txBody>
      </p:sp>
      <p:sp>
        <p:nvSpPr>
          <p:cNvPr id="30" name="txt_418"/>
          <p:cNvSpPr txBox="1"/>
          <p:nvPr/>
        </p:nvSpPr>
        <p:spPr>
          <a:xfrm>
            <a:off x="6675120" y="2011680"/>
            <a:ext cx="4937760" cy="594360"/>
          </a:xfrm>
          <a:prstGeom prst="rect">
            <a:avLst/>
          </a:prstGeom>
          <a:noFill/>
          <a:ln/>
        </p:spPr>
        <p:txBody>
          <a:bodyPr wrap="square" lIns="0" tIns="0" rIns="0" bIns="0" rtlCol="0" anchor="t"/>
          <a:lstStyle/>
          <a:p>
            <a:pPr indent="0" marL="0">
              <a:buNone/>
            </a:pPr>
            <a:r>
              <a:rPr lang="en-US" sz="1500" dirty="0">
                <a:solidFill>
                  <a:schemeClr val="tx1"/>
                </a:solidFill>
              </a:rPr>
              <a:t>Live and per-user, but meaning is learned or metadata-level, not a formal model.</a:t>
            </a:r>
            <a:endParaRPr lang="en-US" sz="1500" dirty="0"/>
          </a:p>
        </p:txBody>
      </p:sp>
      <p:sp>
        <p:nvSpPr>
          <p:cNvPr id="31" name="node_419"/>
          <p:cNvSpPr/>
          <p:nvPr/>
        </p:nvSpPr>
        <p:spPr>
          <a:xfrm>
            <a:off x="6675120" y="2770632"/>
            <a:ext cx="411480" cy="411480"/>
          </a:xfrm>
          <a:prstGeom prst="ellipse">
            <a:avLst/>
          </a:prstGeom>
          <a:solidFill>
            <a:schemeClr val="accent4"/>
          </a:solidFill>
          <a:ln w="12700">
            <a:solidFill>
              <a:schemeClr val="accent4"/>
            </a:solidFill>
            <a:prstDash val="solid"/>
          </a:ln>
        </p:spPr>
      </p:sp>
      <p:pic>
        <p:nvPicPr>
          <p:cNvPr id="32" name="icon_420" descr="preencoded.png">    </p:cNvPr>
          <p:cNvPicPr>
            <a:picLocks noChangeAspect="1"/>
          </p:cNvPicPr>
          <p:nvPr/>
        </p:nvPicPr>
        <p:blipFill>
          <a:blip r:embed="rId7"/>
          <a:stretch>
            <a:fillRect/>
          </a:stretch>
        </p:blipFill>
        <p:spPr>
          <a:xfrm>
            <a:off x="6773875" y="2869387"/>
            <a:ext cx="213970" cy="213970"/>
          </a:xfrm>
          <a:prstGeom prst="rect">
            <a:avLst/>
          </a:prstGeom>
        </p:spPr>
      </p:pic>
      <p:sp>
        <p:nvSpPr>
          <p:cNvPr id="33" name="txt_421"/>
          <p:cNvSpPr txBox="1"/>
          <p:nvPr/>
        </p:nvSpPr>
        <p:spPr>
          <a:xfrm>
            <a:off x="7269480" y="2770632"/>
            <a:ext cx="4114800" cy="411480"/>
          </a:xfrm>
          <a:prstGeom prst="rect">
            <a:avLst/>
          </a:prstGeom>
          <a:noFill/>
          <a:ln/>
        </p:spPr>
        <p:txBody>
          <a:bodyPr wrap="square" lIns="0" tIns="0" rIns="0" bIns="0" rtlCol="0" anchor="ctr"/>
          <a:lstStyle/>
          <a:p>
            <a:pPr indent="0" marL="0">
              <a:buNone/>
            </a:pPr>
            <a:r>
              <a:rPr lang="en-US" sz="1600" b="1" dirty="0">
                <a:solidFill>
                  <a:schemeClr val="tx2"/>
                </a:solidFill>
              </a:rPr>
              <a:t>Ontop</a:t>
            </a:r>
            <a:endParaRPr lang="en-US" sz="1600" dirty="0"/>
          </a:p>
        </p:txBody>
      </p:sp>
      <p:sp>
        <p:nvSpPr>
          <p:cNvPr id="34" name="txt_422"/>
          <p:cNvSpPr txBox="1"/>
          <p:nvPr/>
        </p:nvSpPr>
        <p:spPr>
          <a:xfrm>
            <a:off x="6675120" y="3273552"/>
            <a:ext cx="4937760" cy="594360"/>
          </a:xfrm>
          <a:prstGeom prst="rect">
            <a:avLst/>
          </a:prstGeom>
          <a:noFill/>
          <a:ln/>
        </p:spPr>
        <p:txBody>
          <a:bodyPr wrap="square" lIns="0" tIns="0" rIns="0" bIns="0" rtlCol="0" anchor="t"/>
          <a:lstStyle/>
          <a:p>
            <a:pPr indent="0" marL="0">
              <a:buNone/>
            </a:pPr>
            <a:r>
              <a:rPr lang="en-US" sz="1500" dirty="0">
                <a:solidFill>
                  <a:schemeClr val="tx1"/>
                </a:solidFill>
              </a:rPr>
              <a:t>Formal and live, but every query runs as one shared service identity.</a:t>
            </a:r>
            <a:endParaRPr lang="en-US" sz="1500" dirty="0"/>
          </a:p>
        </p:txBody>
      </p:sp>
      <p:sp>
        <p:nvSpPr>
          <p:cNvPr id="35" name="node_423"/>
          <p:cNvSpPr/>
          <p:nvPr/>
        </p:nvSpPr>
        <p:spPr>
          <a:xfrm>
            <a:off x="6675120" y="4032504"/>
            <a:ext cx="411480" cy="411480"/>
          </a:xfrm>
          <a:prstGeom prst="ellipse">
            <a:avLst/>
          </a:prstGeom>
          <a:solidFill>
            <a:schemeClr val="accent3"/>
          </a:solidFill>
          <a:ln w="12700">
            <a:solidFill>
              <a:schemeClr val="accent3"/>
            </a:solidFill>
            <a:prstDash val="solid"/>
          </a:ln>
        </p:spPr>
      </p:sp>
      <p:pic>
        <p:nvPicPr>
          <p:cNvPr id="36" name="icon_424" descr="preencoded.png">    </p:cNvPr>
          <p:cNvPicPr>
            <a:picLocks noChangeAspect="1"/>
          </p:cNvPicPr>
          <p:nvPr/>
        </p:nvPicPr>
        <p:blipFill>
          <a:blip r:embed="rId8"/>
          <a:stretch>
            <a:fillRect/>
          </a:stretch>
        </p:blipFill>
        <p:spPr>
          <a:xfrm>
            <a:off x="6773875" y="4131259"/>
            <a:ext cx="213970" cy="213970"/>
          </a:xfrm>
          <a:prstGeom prst="rect">
            <a:avLst/>
          </a:prstGeom>
        </p:spPr>
      </p:pic>
      <p:sp>
        <p:nvSpPr>
          <p:cNvPr id="37" name="txt_425"/>
          <p:cNvSpPr txBox="1"/>
          <p:nvPr/>
        </p:nvSpPr>
        <p:spPr>
          <a:xfrm>
            <a:off x="7269480" y="4032504"/>
            <a:ext cx="4114800" cy="411480"/>
          </a:xfrm>
          <a:prstGeom prst="rect">
            <a:avLst/>
          </a:prstGeom>
          <a:noFill/>
          <a:ln/>
        </p:spPr>
        <p:txBody>
          <a:bodyPr wrap="square" lIns="0" tIns="0" rIns="0" bIns="0" rtlCol="0" anchor="ctr"/>
          <a:lstStyle/>
          <a:p>
            <a:pPr indent="0" marL="0">
              <a:buNone/>
            </a:pPr>
            <a:r>
              <a:rPr lang="en-US" sz="1600" b="1" dirty="0">
                <a:solidFill>
                  <a:schemeClr val="tx2"/>
                </a:solidFill>
              </a:rPr>
              <a:t>OntoBricks</a:t>
            </a:r>
            <a:endParaRPr lang="en-US" sz="1600" dirty="0"/>
          </a:p>
        </p:txBody>
      </p:sp>
      <p:sp>
        <p:nvSpPr>
          <p:cNvPr id="38" name="txt_426"/>
          <p:cNvSpPr txBox="1"/>
          <p:nvPr/>
        </p:nvSpPr>
        <p:spPr>
          <a:xfrm>
            <a:off x="6675120" y="4535424"/>
            <a:ext cx="4937760" cy="594360"/>
          </a:xfrm>
          <a:prstGeom prst="rect">
            <a:avLst/>
          </a:prstGeom>
          <a:noFill/>
          <a:ln/>
        </p:spPr>
        <p:txBody>
          <a:bodyPr wrap="square" lIns="0" tIns="0" rIns="0" bIns="0" rtlCol="0" anchor="t"/>
          <a:lstStyle/>
          <a:p>
            <a:pPr indent="0" marL="0">
              <a:buNone/>
            </a:pPr>
            <a:r>
              <a:rPr lang="en-US" sz="1500" dirty="0">
                <a:solidFill>
                  <a:schemeClr val="tx1"/>
                </a:solidFill>
              </a:rPr>
              <a:t>Formal, but on a copy built by one service principal: neither live nor per-user.</a:t>
            </a:r>
            <a:endParaRPr lang="en-US" sz="1500" dirty="0"/>
          </a:p>
        </p:txBody>
      </p:sp>
      <p:sp>
        <p:nvSpPr>
          <p:cNvPr id="39" name="callout_427"/>
          <p:cNvSpPr/>
          <p:nvPr/>
        </p:nvSpPr>
        <p:spPr>
          <a:xfrm>
            <a:off x="6675120" y="5257800"/>
            <a:ext cx="4937760" cy="868680"/>
          </a:xfrm>
          <a:prstGeom prst="roundRect">
            <a:avLst>
              <a:gd name="adj" fmla="val 8421"/>
            </a:avLst>
          </a:prstGeom>
          <a:solidFill>
            <a:schemeClr val="accent5">
              <a:alpha val="20000"/>
            </a:schemeClr>
          </a:solidFill>
          <a:ln w="12700">
            <a:solidFill>
              <a:schemeClr val="accent5"/>
            </a:solidFill>
            <a:prstDash val="solid"/>
          </a:ln>
        </p:spPr>
      </p:sp>
      <p:sp>
        <p:nvSpPr>
          <p:cNvPr id="40" name="txt_428"/>
          <p:cNvSpPr txBox="1"/>
          <p:nvPr/>
        </p:nvSpPr>
        <p:spPr>
          <a:xfrm>
            <a:off x="6903720" y="5257800"/>
            <a:ext cx="4480560" cy="868680"/>
          </a:xfrm>
          <a:prstGeom prst="rect">
            <a:avLst/>
          </a:prstGeom>
          <a:noFill/>
          <a:ln/>
        </p:spPr>
        <p:txBody>
          <a:bodyPr wrap="square" lIns="0" tIns="0" rIns="0" bIns="0" rtlCol="0" anchor="ctr"/>
          <a:lstStyle/>
          <a:p>
            <a:pPr indent="0" marL="0">
              <a:buNone/>
            </a:pPr>
            <a:r>
              <a:rPr lang="en-US" sz="1600" b="1" dirty="0">
                <a:solidFill>
                  <a:schemeClr val="tx2"/>
                </a:solidFill>
              </a:rPr>
              <a:t>Decide, per use case, which corner to give up.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Six parameters that decide the choice</a:t>
            </a:r>
            <a:endParaRPr lang="en-US" sz="3600" dirty="0"/>
          </a:p>
        </p:txBody>
      </p:sp>
      <p:sp>
        <p:nvSpPr>
          <p:cNvPr id="3" name="card_429"/>
          <p:cNvSpPr/>
          <p:nvPr/>
        </p:nvSpPr>
        <p:spPr>
          <a:xfrm>
            <a:off x="548640" y="1417320"/>
            <a:ext cx="3504895" cy="2240280"/>
          </a:xfrm>
          <a:prstGeom prst="roundRect">
            <a:avLst>
              <a:gd name="adj" fmla="val 3265"/>
            </a:avLst>
          </a:prstGeom>
          <a:solidFill>
            <a:schemeClr val="bg2"/>
          </a:solidFill>
          <a:ln w="12700">
            <a:solidFill>
              <a:schemeClr val="bg2"/>
            </a:solidFill>
            <a:prstDash val="solid"/>
          </a:ln>
        </p:spPr>
      </p:sp>
      <p:sp>
        <p:nvSpPr>
          <p:cNvPr id="4" name="num_430"/>
          <p:cNvSpPr/>
          <p:nvPr/>
        </p:nvSpPr>
        <p:spPr>
          <a:xfrm>
            <a:off x="777240" y="1645920"/>
            <a:ext cx="548640" cy="548640"/>
          </a:xfrm>
          <a:prstGeom prst="ellipse">
            <a:avLst/>
          </a:prstGeom>
          <a:solidFill>
            <a:schemeClr val="tx2"/>
          </a:solidFill>
          <a:ln w="12700">
            <a:solidFill>
              <a:schemeClr val="tx2"/>
            </a:solidFill>
            <a:prstDash val="solid"/>
          </a:ln>
        </p:spPr>
      </p:sp>
      <p:sp>
        <p:nvSpPr>
          <p:cNvPr id="5" name="numtxt_431"/>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xt_432"/>
          <p:cNvSpPr txBox="1"/>
          <p:nvPr/>
        </p:nvSpPr>
        <p:spPr>
          <a:xfrm>
            <a:off x="1463040" y="164592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Semantic rigour</a:t>
            </a:r>
            <a:endParaRPr lang="en-US" sz="1800" dirty="0"/>
          </a:p>
        </p:txBody>
      </p:sp>
      <p:sp>
        <p:nvSpPr>
          <p:cNvPr id="7" name="txt_433"/>
          <p:cNvSpPr txBox="1"/>
          <p:nvPr/>
        </p:nvSpPr>
        <p:spPr>
          <a:xfrm>
            <a:off x="777240" y="2331720"/>
            <a:ext cx="3047695" cy="1188720"/>
          </a:xfrm>
          <a:prstGeom prst="rect">
            <a:avLst/>
          </a:prstGeom>
          <a:noFill/>
          <a:ln/>
        </p:spPr>
        <p:txBody>
          <a:bodyPr wrap="square" lIns="0" tIns="0" rIns="0" bIns="0" rtlCol="0" anchor="t"/>
          <a:lstStyle/>
          <a:p>
            <a:pPr indent="0" marL="0">
              <a:buNone/>
            </a:pPr>
            <a:r>
              <a:rPr lang="en-US" sz="1400" dirty="0">
                <a:solidFill>
                  <a:schemeClr val="tx1"/>
                </a:solidFill>
              </a:rPr>
              <a:t>Do we need a formal, standards-based model (CDISC, OMOP, FHIR) with reasoning, or business context good enough for natural-language-to-SQL?</a:t>
            </a:r>
            <a:endParaRPr lang="en-US" sz="1400" dirty="0"/>
          </a:p>
        </p:txBody>
      </p:sp>
      <p:sp>
        <p:nvSpPr>
          <p:cNvPr id="8" name="card_434"/>
          <p:cNvSpPr/>
          <p:nvPr/>
        </p:nvSpPr>
        <p:spPr>
          <a:xfrm>
            <a:off x="4327855" y="1417320"/>
            <a:ext cx="3504895" cy="2240280"/>
          </a:xfrm>
          <a:prstGeom prst="roundRect">
            <a:avLst>
              <a:gd name="adj" fmla="val 3265"/>
            </a:avLst>
          </a:prstGeom>
          <a:solidFill>
            <a:schemeClr val="bg2"/>
          </a:solidFill>
          <a:ln w="12700">
            <a:solidFill>
              <a:schemeClr val="bg2"/>
            </a:solidFill>
            <a:prstDash val="solid"/>
          </a:ln>
        </p:spPr>
      </p:sp>
      <p:sp>
        <p:nvSpPr>
          <p:cNvPr id="9" name="num_435"/>
          <p:cNvSpPr/>
          <p:nvPr/>
        </p:nvSpPr>
        <p:spPr>
          <a:xfrm>
            <a:off x="4556455" y="1645920"/>
            <a:ext cx="548640" cy="548640"/>
          </a:xfrm>
          <a:prstGeom prst="ellipse">
            <a:avLst/>
          </a:prstGeom>
          <a:solidFill>
            <a:schemeClr val="tx2"/>
          </a:solidFill>
          <a:ln w="12700">
            <a:solidFill>
              <a:schemeClr val="tx2"/>
            </a:solidFill>
            <a:prstDash val="solid"/>
          </a:ln>
        </p:spPr>
      </p:sp>
      <p:sp>
        <p:nvSpPr>
          <p:cNvPr id="10" name="numtxt_436"/>
          <p:cNvSpPr txBox="1"/>
          <p:nvPr/>
        </p:nvSpPr>
        <p:spPr>
          <a:xfrm>
            <a:off x="4556455"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xt_437"/>
          <p:cNvSpPr txBox="1"/>
          <p:nvPr/>
        </p:nvSpPr>
        <p:spPr>
          <a:xfrm>
            <a:off x="5242255" y="164592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Query-time governance</a:t>
            </a:r>
            <a:endParaRPr lang="en-US" sz="1800" dirty="0"/>
          </a:p>
        </p:txBody>
      </p:sp>
      <p:sp>
        <p:nvSpPr>
          <p:cNvPr id="12" name="txt_438"/>
          <p:cNvSpPr txBox="1"/>
          <p:nvPr/>
        </p:nvSpPr>
        <p:spPr>
          <a:xfrm>
            <a:off x="4556455" y="2331720"/>
            <a:ext cx="3047695" cy="1188720"/>
          </a:xfrm>
          <a:prstGeom prst="rect">
            <a:avLst/>
          </a:prstGeom>
          <a:noFill/>
          <a:ln/>
        </p:spPr>
        <p:txBody>
          <a:bodyPr wrap="square" lIns="0" tIns="0" rIns="0" bIns="0" rtlCol="0" anchor="t"/>
          <a:lstStyle/>
          <a:p>
            <a:pPr indent="0" marL="0">
              <a:buNone/>
            </a:pPr>
            <a:r>
              <a:rPr lang="en-US" sz="1400" dirty="0">
                <a:solidFill>
                  <a:schemeClr val="tx1"/>
                </a:solidFill>
              </a:rPr>
              <a:t>Must Unity Catalog enforce each user's ABAC policies on every query that goes through the ontology?</a:t>
            </a:r>
            <a:endParaRPr lang="en-US" sz="1400" dirty="0"/>
          </a:p>
        </p:txBody>
      </p:sp>
      <p:sp>
        <p:nvSpPr>
          <p:cNvPr id="13" name="card_439"/>
          <p:cNvSpPr/>
          <p:nvPr/>
        </p:nvSpPr>
        <p:spPr>
          <a:xfrm>
            <a:off x="8107070" y="1417320"/>
            <a:ext cx="3504895" cy="2240280"/>
          </a:xfrm>
          <a:prstGeom prst="roundRect">
            <a:avLst>
              <a:gd name="adj" fmla="val 3265"/>
            </a:avLst>
          </a:prstGeom>
          <a:solidFill>
            <a:schemeClr val="bg2"/>
          </a:solidFill>
          <a:ln w="12700">
            <a:solidFill>
              <a:schemeClr val="bg2"/>
            </a:solidFill>
            <a:prstDash val="solid"/>
          </a:ln>
        </p:spPr>
      </p:sp>
      <p:sp>
        <p:nvSpPr>
          <p:cNvPr id="14" name="num_440"/>
          <p:cNvSpPr/>
          <p:nvPr/>
        </p:nvSpPr>
        <p:spPr>
          <a:xfrm>
            <a:off x="8335670" y="1645920"/>
            <a:ext cx="548640" cy="548640"/>
          </a:xfrm>
          <a:prstGeom prst="ellipse">
            <a:avLst/>
          </a:prstGeom>
          <a:solidFill>
            <a:schemeClr val="tx2"/>
          </a:solidFill>
          <a:ln w="12700">
            <a:solidFill>
              <a:schemeClr val="tx2"/>
            </a:solidFill>
            <a:prstDash val="solid"/>
          </a:ln>
        </p:spPr>
      </p:sp>
      <p:sp>
        <p:nvSpPr>
          <p:cNvPr id="15" name="numtxt_441"/>
          <p:cNvSpPr txBox="1"/>
          <p:nvPr/>
        </p:nvSpPr>
        <p:spPr>
          <a:xfrm>
            <a:off x="833567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xt_442"/>
          <p:cNvSpPr txBox="1"/>
          <p:nvPr/>
        </p:nvSpPr>
        <p:spPr>
          <a:xfrm>
            <a:off x="9021470" y="164592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Data movement</a:t>
            </a:r>
            <a:endParaRPr lang="en-US" sz="1800" dirty="0"/>
          </a:p>
        </p:txBody>
      </p:sp>
      <p:sp>
        <p:nvSpPr>
          <p:cNvPr id="17" name="txt_443"/>
          <p:cNvSpPr txBox="1"/>
          <p:nvPr/>
        </p:nvSpPr>
        <p:spPr>
          <a:xfrm>
            <a:off x="8335670" y="2331720"/>
            <a:ext cx="3047695" cy="1188720"/>
          </a:xfrm>
          <a:prstGeom prst="rect">
            <a:avLst/>
          </a:prstGeom>
          <a:noFill/>
          <a:ln/>
        </p:spPr>
        <p:txBody>
          <a:bodyPr wrap="square" lIns="0" tIns="0" rIns="0" bIns="0" rtlCol="0" anchor="t"/>
          <a:lstStyle/>
          <a:p>
            <a:pPr indent="0" marL="0">
              <a:buNone/>
            </a:pPr>
            <a:r>
              <a:rPr lang="en-US" sz="1400" dirty="0">
                <a:solidFill>
                  <a:schemeClr val="tx1"/>
                </a:solidFill>
              </a:rPr>
              <a:t>Can the ontology run over a copy of clinical data, or must it work on live, governed tables?</a:t>
            </a:r>
            <a:endParaRPr lang="en-US" sz="1400" dirty="0"/>
          </a:p>
        </p:txBody>
      </p:sp>
      <p:sp>
        <p:nvSpPr>
          <p:cNvPr id="18" name="card_444"/>
          <p:cNvSpPr/>
          <p:nvPr/>
        </p:nvSpPr>
        <p:spPr>
          <a:xfrm>
            <a:off x="548640" y="3886200"/>
            <a:ext cx="3504895" cy="2240280"/>
          </a:xfrm>
          <a:prstGeom prst="roundRect">
            <a:avLst>
              <a:gd name="adj" fmla="val 3265"/>
            </a:avLst>
          </a:prstGeom>
          <a:solidFill>
            <a:schemeClr val="bg2"/>
          </a:solidFill>
          <a:ln w="12700">
            <a:solidFill>
              <a:schemeClr val="bg2"/>
            </a:solidFill>
            <a:prstDash val="solid"/>
          </a:ln>
        </p:spPr>
      </p:sp>
      <p:sp>
        <p:nvSpPr>
          <p:cNvPr id="19" name="num_445"/>
          <p:cNvSpPr/>
          <p:nvPr/>
        </p:nvSpPr>
        <p:spPr>
          <a:xfrm>
            <a:off x="777240" y="4114800"/>
            <a:ext cx="548640" cy="548640"/>
          </a:xfrm>
          <a:prstGeom prst="ellipse">
            <a:avLst/>
          </a:prstGeom>
          <a:solidFill>
            <a:schemeClr val="tx2"/>
          </a:solidFill>
          <a:ln w="12700">
            <a:solidFill>
              <a:schemeClr val="tx2"/>
            </a:solidFill>
            <a:prstDash val="solid"/>
          </a:ln>
        </p:spPr>
      </p:sp>
      <p:sp>
        <p:nvSpPr>
          <p:cNvPr id="20" name="numtxt_446"/>
          <p:cNvSpPr txBox="1"/>
          <p:nvPr/>
        </p:nvSpPr>
        <p:spPr>
          <a:xfrm>
            <a:off x="777240"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xt_447"/>
          <p:cNvSpPr txBox="1"/>
          <p:nvPr/>
        </p:nvSpPr>
        <p:spPr>
          <a:xfrm>
            <a:off x="1463040" y="411480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Primary consumer</a:t>
            </a:r>
            <a:endParaRPr lang="en-US" sz="1800" dirty="0"/>
          </a:p>
        </p:txBody>
      </p:sp>
      <p:sp>
        <p:nvSpPr>
          <p:cNvPr id="22" name="txt_448"/>
          <p:cNvSpPr txBox="1"/>
          <p:nvPr/>
        </p:nvSpPr>
        <p:spPr>
          <a:xfrm>
            <a:off x="777240" y="4800600"/>
            <a:ext cx="3047695" cy="1188720"/>
          </a:xfrm>
          <a:prstGeom prst="rect">
            <a:avLst/>
          </a:prstGeom>
          <a:noFill/>
          <a:ln/>
        </p:spPr>
        <p:txBody>
          <a:bodyPr wrap="square" lIns="0" tIns="0" rIns="0" bIns="0" rtlCol="0" anchor="t"/>
          <a:lstStyle/>
          <a:p>
            <a:pPr indent="0" marL="0">
              <a:buNone/>
            </a:pPr>
            <a:r>
              <a:rPr lang="en-US" sz="1400" dirty="0">
                <a:solidFill>
                  <a:schemeClr val="tx1"/>
                </a:solidFill>
              </a:rPr>
              <a:t>Who asks the questions: business users in natural language, applications via APIs, or AI agents via MCP?</a:t>
            </a:r>
            <a:endParaRPr lang="en-US" sz="1400" dirty="0"/>
          </a:p>
        </p:txBody>
      </p:sp>
      <p:sp>
        <p:nvSpPr>
          <p:cNvPr id="23" name="card_449"/>
          <p:cNvSpPr/>
          <p:nvPr/>
        </p:nvSpPr>
        <p:spPr>
          <a:xfrm>
            <a:off x="4327855" y="3886200"/>
            <a:ext cx="3504895" cy="2240280"/>
          </a:xfrm>
          <a:prstGeom prst="roundRect">
            <a:avLst>
              <a:gd name="adj" fmla="val 3265"/>
            </a:avLst>
          </a:prstGeom>
          <a:solidFill>
            <a:schemeClr val="bg2"/>
          </a:solidFill>
          <a:ln w="12700">
            <a:solidFill>
              <a:schemeClr val="bg2"/>
            </a:solidFill>
            <a:prstDash val="solid"/>
          </a:ln>
        </p:spPr>
      </p:sp>
      <p:sp>
        <p:nvSpPr>
          <p:cNvPr id="24" name="num_450"/>
          <p:cNvSpPr/>
          <p:nvPr/>
        </p:nvSpPr>
        <p:spPr>
          <a:xfrm>
            <a:off x="4556455" y="4114800"/>
            <a:ext cx="548640" cy="548640"/>
          </a:xfrm>
          <a:prstGeom prst="ellipse">
            <a:avLst/>
          </a:prstGeom>
          <a:solidFill>
            <a:schemeClr val="tx2"/>
          </a:solidFill>
          <a:ln w="12700">
            <a:solidFill>
              <a:schemeClr val="tx2"/>
            </a:solidFill>
            <a:prstDash val="solid"/>
          </a:ln>
        </p:spPr>
      </p:sp>
      <p:sp>
        <p:nvSpPr>
          <p:cNvPr id="25" name="numtxt_451"/>
          <p:cNvSpPr txBox="1"/>
          <p:nvPr/>
        </p:nvSpPr>
        <p:spPr>
          <a:xfrm>
            <a:off x="4556455"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xt_452"/>
          <p:cNvSpPr txBox="1"/>
          <p:nvPr/>
        </p:nvSpPr>
        <p:spPr>
          <a:xfrm>
            <a:off x="5242255" y="411480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Model ownership</a:t>
            </a:r>
            <a:endParaRPr lang="en-US" sz="1800" dirty="0"/>
          </a:p>
        </p:txBody>
      </p:sp>
      <p:sp>
        <p:nvSpPr>
          <p:cNvPr id="27" name="txt_453"/>
          <p:cNvSpPr txBox="1"/>
          <p:nvPr/>
        </p:nvSpPr>
        <p:spPr>
          <a:xfrm>
            <a:off x="4556455" y="4800600"/>
            <a:ext cx="3047695" cy="1188720"/>
          </a:xfrm>
          <a:prstGeom prst="rect">
            <a:avLst/>
          </a:prstGeom>
          <a:noFill/>
          <a:ln/>
        </p:spPr>
        <p:txBody>
          <a:bodyPr wrap="square" lIns="0" tIns="0" rIns="0" bIns="0" rtlCol="0" anchor="t"/>
          <a:lstStyle/>
          <a:p>
            <a:pPr indent="0" marL="0">
              <a:buNone/>
            </a:pPr>
            <a:r>
              <a:rPr lang="en-US" sz="1400" dirty="0">
                <a:solidFill>
                  <a:schemeClr val="tx1"/>
                </a:solidFill>
              </a:rPr>
              <a:t>Do we need an inspectable, versioned model we own and can export, or is a learned model acceptable?</a:t>
            </a:r>
            <a:endParaRPr lang="en-US" sz="1400" dirty="0"/>
          </a:p>
        </p:txBody>
      </p:sp>
      <p:sp>
        <p:nvSpPr>
          <p:cNvPr id="28" name="card_454"/>
          <p:cNvSpPr/>
          <p:nvPr/>
        </p:nvSpPr>
        <p:spPr>
          <a:xfrm>
            <a:off x="8107070" y="3886200"/>
            <a:ext cx="3504895" cy="2240280"/>
          </a:xfrm>
          <a:prstGeom prst="roundRect">
            <a:avLst>
              <a:gd name="adj" fmla="val 3265"/>
            </a:avLst>
          </a:prstGeom>
          <a:solidFill>
            <a:schemeClr val="bg2"/>
          </a:solidFill>
          <a:ln w="12700">
            <a:solidFill>
              <a:schemeClr val="bg2"/>
            </a:solidFill>
            <a:prstDash val="solid"/>
          </a:ln>
        </p:spPr>
      </p:sp>
      <p:sp>
        <p:nvSpPr>
          <p:cNvPr id="29" name="num_455"/>
          <p:cNvSpPr/>
          <p:nvPr/>
        </p:nvSpPr>
        <p:spPr>
          <a:xfrm>
            <a:off x="8335670" y="4114800"/>
            <a:ext cx="548640" cy="548640"/>
          </a:xfrm>
          <a:prstGeom prst="ellipse">
            <a:avLst/>
          </a:prstGeom>
          <a:solidFill>
            <a:schemeClr val="tx2"/>
          </a:solidFill>
          <a:ln w="12700">
            <a:solidFill>
              <a:schemeClr val="tx2"/>
            </a:solidFill>
            <a:prstDash val="solid"/>
          </a:ln>
        </p:spPr>
      </p:sp>
      <p:sp>
        <p:nvSpPr>
          <p:cNvPr id="30" name="numtxt_456"/>
          <p:cNvSpPr txBox="1"/>
          <p:nvPr/>
        </p:nvSpPr>
        <p:spPr>
          <a:xfrm>
            <a:off x="8335670"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xt_457"/>
          <p:cNvSpPr txBox="1"/>
          <p:nvPr/>
        </p:nvSpPr>
        <p:spPr>
          <a:xfrm>
            <a:off x="9021470" y="4114800"/>
            <a:ext cx="2407615" cy="548640"/>
          </a:xfrm>
          <a:prstGeom prst="rect">
            <a:avLst/>
          </a:prstGeom>
          <a:noFill/>
          <a:ln/>
        </p:spPr>
        <p:txBody>
          <a:bodyPr wrap="square" lIns="0" tIns="0" rIns="0" bIns="0" rtlCol="0" anchor="ctr"/>
          <a:lstStyle/>
          <a:p>
            <a:pPr indent="0" marL="0">
              <a:buNone/>
            </a:pPr>
            <a:r>
              <a:rPr lang="en-US" sz="1800" b="1" dirty="0">
                <a:solidFill>
                  <a:schemeClr val="tx2"/>
                </a:solidFill>
              </a:rPr>
              <a:t>Risk and skills</a:t>
            </a:r>
            <a:endParaRPr lang="en-US" sz="1800" dirty="0"/>
          </a:p>
        </p:txBody>
      </p:sp>
      <p:sp>
        <p:nvSpPr>
          <p:cNvPr id="32" name="txt_458"/>
          <p:cNvSpPr txBox="1"/>
          <p:nvPr/>
        </p:nvSpPr>
        <p:spPr>
          <a:xfrm>
            <a:off x="8335670" y="4800600"/>
            <a:ext cx="3047695" cy="1188720"/>
          </a:xfrm>
          <a:prstGeom prst="rect">
            <a:avLst/>
          </a:prstGeom>
          <a:noFill/>
          <a:ln/>
        </p:spPr>
        <p:txBody>
          <a:bodyPr wrap="square" lIns="0" tIns="0" rIns="0" bIns="0" rtlCol="0" anchor="t"/>
          <a:lstStyle/>
          <a:p>
            <a:pPr indent="0" marL="0">
              <a:buNone/>
            </a:pPr>
            <a:r>
              <a:rPr lang="en-US" sz="1400" dirty="0">
                <a:solidFill>
                  <a:schemeClr val="tx1"/>
                </a:solidFill>
              </a:rPr>
              <a:t>What support level can we accept (Preview, accelerator, Labs, self-run open source), and do we have ontology skills?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How each option scores</a:t>
            </a:r>
            <a:endParaRPr lang="en-US" sz="3600" dirty="0"/>
          </a:p>
        </p:txBody>
      </p:sp>
      <p:sp>
        <p:nvSpPr>
          <p:cNvPr id="3" name="node_459"/>
          <p:cNvSpPr/>
          <p:nvPr/>
        </p:nvSpPr>
        <p:spPr>
          <a:xfrm>
            <a:off x="3063240" y="1481328"/>
            <a:ext cx="411480" cy="411480"/>
          </a:xfrm>
          <a:prstGeom prst="ellipse">
            <a:avLst/>
          </a:prstGeom>
          <a:solidFill>
            <a:schemeClr val="accent1"/>
          </a:solidFill>
          <a:ln w="12700">
            <a:solidFill>
              <a:schemeClr val="accent1"/>
            </a:solidFill>
            <a:prstDash val="solid"/>
          </a:ln>
        </p:spPr>
      </p:sp>
      <p:pic>
        <p:nvPicPr>
          <p:cNvPr id="4" name="icon_460" descr="preencoded.png">    </p:cNvPr>
          <p:cNvPicPr>
            <a:picLocks noChangeAspect="1"/>
          </p:cNvPicPr>
          <p:nvPr/>
        </p:nvPicPr>
        <p:blipFill>
          <a:blip r:embed="rId1"/>
          <a:stretch>
            <a:fillRect/>
          </a:stretch>
        </p:blipFill>
        <p:spPr>
          <a:xfrm>
            <a:off x="3161995" y="1580083"/>
            <a:ext cx="213970" cy="213970"/>
          </a:xfrm>
          <a:prstGeom prst="rect">
            <a:avLst/>
          </a:prstGeom>
        </p:spPr>
      </p:pic>
      <p:sp>
        <p:nvSpPr>
          <p:cNvPr id="5" name="txt_461"/>
          <p:cNvSpPr txBox="1"/>
          <p:nvPr/>
        </p:nvSpPr>
        <p:spPr>
          <a:xfrm>
            <a:off x="3566160" y="1481328"/>
            <a:ext cx="1508760" cy="411480"/>
          </a:xfrm>
          <a:prstGeom prst="rect">
            <a:avLst/>
          </a:prstGeom>
          <a:noFill/>
          <a:ln/>
        </p:spPr>
        <p:txBody>
          <a:bodyPr wrap="square" lIns="0" tIns="0" rIns="0" bIns="0" rtlCol="0" anchor="ctr"/>
          <a:lstStyle/>
          <a:p>
            <a:pPr indent="0" marL="0">
              <a:buNone/>
            </a:pPr>
            <a:r>
              <a:rPr lang="en-US" sz="1500" b="1" dirty="0">
                <a:solidFill>
                  <a:schemeClr val="accent1"/>
                </a:solidFill>
              </a:rPr>
              <a:t>Genie Ontology</a:t>
            </a:r>
            <a:endParaRPr lang="en-US" sz="1500" dirty="0"/>
          </a:p>
        </p:txBody>
      </p:sp>
      <p:sp>
        <p:nvSpPr>
          <p:cNvPr id="6" name="node_462"/>
          <p:cNvSpPr/>
          <p:nvPr/>
        </p:nvSpPr>
        <p:spPr>
          <a:xfrm>
            <a:off x="5212080" y="1481328"/>
            <a:ext cx="411480" cy="411480"/>
          </a:xfrm>
          <a:prstGeom prst="ellipse">
            <a:avLst/>
          </a:prstGeom>
          <a:solidFill>
            <a:schemeClr val="accent2"/>
          </a:solidFill>
          <a:ln w="12700">
            <a:solidFill>
              <a:schemeClr val="accent2"/>
            </a:solidFill>
            <a:prstDash val="solid"/>
          </a:ln>
        </p:spPr>
      </p:sp>
      <p:pic>
        <p:nvPicPr>
          <p:cNvPr id="7" name="icon_463" descr="preencoded.png">    </p:cNvPr>
          <p:cNvPicPr>
            <a:picLocks noChangeAspect="1"/>
          </p:cNvPicPr>
          <p:nvPr/>
        </p:nvPicPr>
        <p:blipFill>
          <a:blip r:embed="rId2"/>
          <a:stretch>
            <a:fillRect/>
          </a:stretch>
        </p:blipFill>
        <p:spPr>
          <a:xfrm>
            <a:off x="5310835" y="1580083"/>
            <a:ext cx="213970" cy="213970"/>
          </a:xfrm>
          <a:prstGeom prst="rect">
            <a:avLst/>
          </a:prstGeom>
        </p:spPr>
      </p:pic>
      <p:sp>
        <p:nvSpPr>
          <p:cNvPr id="8" name="txt_464"/>
          <p:cNvSpPr txBox="1"/>
          <p:nvPr/>
        </p:nvSpPr>
        <p:spPr>
          <a:xfrm>
            <a:off x="5715000" y="1481328"/>
            <a:ext cx="1508760" cy="411480"/>
          </a:xfrm>
          <a:prstGeom prst="rect">
            <a:avLst/>
          </a:prstGeom>
          <a:noFill/>
          <a:ln/>
        </p:spPr>
        <p:txBody>
          <a:bodyPr wrap="square" lIns="0" tIns="0" rIns="0" bIns="0" rtlCol="0" anchor="ctr"/>
          <a:lstStyle/>
          <a:p>
            <a:pPr indent="0" marL="0">
              <a:buNone/>
            </a:pPr>
            <a:r>
              <a:rPr lang="en-US" sz="1500" b="1" dirty="0">
                <a:solidFill>
                  <a:schemeClr val="accent2"/>
                </a:solidFill>
              </a:rPr>
              <a:t>dbxmetagen</a:t>
            </a:r>
            <a:endParaRPr lang="en-US" sz="1500" dirty="0"/>
          </a:p>
        </p:txBody>
      </p:sp>
      <p:sp>
        <p:nvSpPr>
          <p:cNvPr id="9" name="node_465"/>
          <p:cNvSpPr/>
          <p:nvPr/>
        </p:nvSpPr>
        <p:spPr>
          <a:xfrm>
            <a:off x="7360920" y="1481328"/>
            <a:ext cx="411480" cy="411480"/>
          </a:xfrm>
          <a:prstGeom prst="ellipse">
            <a:avLst/>
          </a:prstGeom>
          <a:solidFill>
            <a:schemeClr val="accent3"/>
          </a:solidFill>
          <a:ln w="12700">
            <a:solidFill>
              <a:schemeClr val="accent3"/>
            </a:solidFill>
            <a:prstDash val="solid"/>
          </a:ln>
        </p:spPr>
      </p:sp>
      <p:pic>
        <p:nvPicPr>
          <p:cNvPr id="10" name="icon_466" descr="preencoded.png">    </p:cNvPr>
          <p:cNvPicPr>
            <a:picLocks noChangeAspect="1"/>
          </p:cNvPicPr>
          <p:nvPr/>
        </p:nvPicPr>
        <p:blipFill>
          <a:blip r:embed="rId3"/>
          <a:stretch>
            <a:fillRect/>
          </a:stretch>
        </p:blipFill>
        <p:spPr>
          <a:xfrm>
            <a:off x="7459675" y="1580083"/>
            <a:ext cx="213970" cy="213970"/>
          </a:xfrm>
          <a:prstGeom prst="rect">
            <a:avLst/>
          </a:prstGeom>
        </p:spPr>
      </p:pic>
      <p:sp>
        <p:nvSpPr>
          <p:cNvPr id="11" name="txt_467"/>
          <p:cNvSpPr txBox="1"/>
          <p:nvPr/>
        </p:nvSpPr>
        <p:spPr>
          <a:xfrm>
            <a:off x="7863840" y="1481328"/>
            <a:ext cx="1508760" cy="411480"/>
          </a:xfrm>
          <a:prstGeom prst="rect">
            <a:avLst/>
          </a:prstGeom>
          <a:noFill/>
          <a:ln/>
        </p:spPr>
        <p:txBody>
          <a:bodyPr wrap="square" lIns="0" tIns="0" rIns="0" bIns="0" rtlCol="0" anchor="ctr"/>
          <a:lstStyle/>
          <a:p>
            <a:pPr indent="0" marL="0">
              <a:buNone/>
            </a:pPr>
            <a:r>
              <a:rPr lang="en-US" sz="1500" b="1" dirty="0">
                <a:solidFill>
                  <a:schemeClr val="accent3"/>
                </a:solidFill>
              </a:rPr>
              <a:t>OntoBricks</a:t>
            </a:r>
            <a:endParaRPr lang="en-US" sz="1500" dirty="0"/>
          </a:p>
        </p:txBody>
      </p:sp>
      <p:sp>
        <p:nvSpPr>
          <p:cNvPr id="12" name="node_468"/>
          <p:cNvSpPr/>
          <p:nvPr/>
        </p:nvSpPr>
        <p:spPr>
          <a:xfrm>
            <a:off x="9509760" y="1481328"/>
            <a:ext cx="411480" cy="411480"/>
          </a:xfrm>
          <a:prstGeom prst="ellipse">
            <a:avLst/>
          </a:prstGeom>
          <a:solidFill>
            <a:schemeClr val="accent4"/>
          </a:solidFill>
          <a:ln w="12700">
            <a:solidFill>
              <a:schemeClr val="accent4"/>
            </a:solidFill>
            <a:prstDash val="solid"/>
          </a:ln>
        </p:spPr>
      </p:sp>
      <p:pic>
        <p:nvPicPr>
          <p:cNvPr id="13" name="icon_469" descr="preencoded.png">    </p:cNvPr>
          <p:cNvPicPr>
            <a:picLocks noChangeAspect="1"/>
          </p:cNvPicPr>
          <p:nvPr/>
        </p:nvPicPr>
        <p:blipFill>
          <a:blip r:embed="rId4"/>
          <a:stretch>
            <a:fillRect/>
          </a:stretch>
        </p:blipFill>
        <p:spPr>
          <a:xfrm>
            <a:off x="9608515" y="1580083"/>
            <a:ext cx="213970" cy="213970"/>
          </a:xfrm>
          <a:prstGeom prst="rect">
            <a:avLst/>
          </a:prstGeom>
        </p:spPr>
      </p:pic>
      <p:sp>
        <p:nvSpPr>
          <p:cNvPr id="14" name="txt_470"/>
          <p:cNvSpPr txBox="1"/>
          <p:nvPr/>
        </p:nvSpPr>
        <p:spPr>
          <a:xfrm>
            <a:off x="10012680" y="1481328"/>
            <a:ext cx="1508760" cy="411480"/>
          </a:xfrm>
          <a:prstGeom prst="rect">
            <a:avLst/>
          </a:prstGeom>
          <a:noFill/>
          <a:ln/>
        </p:spPr>
        <p:txBody>
          <a:bodyPr wrap="square" lIns="0" tIns="0" rIns="0" bIns="0" rtlCol="0" anchor="ctr"/>
          <a:lstStyle/>
          <a:p>
            <a:pPr indent="0" marL="0">
              <a:buNone/>
            </a:pPr>
            <a:r>
              <a:rPr lang="en-US" sz="1500" b="1" dirty="0">
                <a:solidFill>
                  <a:schemeClr val="accent4"/>
                </a:solidFill>
              </a:rPr>
              <a:t>Ontop</a:t>
            </a:r>
            <a:endParaRPr lang="en-US" sz="1500" dirty="0"/>
          </a:p>
        </p:txBody>
      </p:sp>
      <p:sp>
        <p:nvSpPr>
          <p:cNvPr id="15" name="card_471"/>
          <p:cNvSpPr/>
          <p:nvPr/>
        </p:nvSpPr>
        <p:spPr>
          <a:xfrm>
            <a:off x="548640" y="2103120"/>
            <a:ext cx="11064240" cy="566928"/>
          </a:xfrm>
          <a:prstGeom prst="roundRect">
            <a:avLst>
              <a:gd name="adj" fmla="val 12903"/>
            </a:avLst>
          </a:prstGeom>
          <a:solidFill>
            <a:schemeClr val="bg2"/>
          </a:solidFill>
          <a:ln w="12700">
            <a:solidFill>
              <a:schemeClr val="bg2"/>
            </a:solidFill>
            <a:prstDash val="solid"/>
          </a:ln>
        </p:spPr>
      </p:sp>
      <p:sp>
        <p:nvSpPr>
          <p:cNvPr id="16" name="txt_472"/>
          <p:cNvSpPr txBox="1"/>
          <p:nvPr/>
        </p:nvSpPr>
        <p:spPr>
          <a:xfrm>
            <a:off x="731520" y="2103120"/>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Semantic rigour</a:t>
            </a:r>
            <a:endParaRPr lang="en-US" sz="1500" dirty="0"/>
          </a:p>
        </p:txBody>
      </p:sp>
      <p:sp>
        <p:nvSpPr>
          <p:cNvPr id="17" name="dot_473"/>
          <p:cNvSpPr/>
          <p:nvPr/>
        </p:nvSpPr>
        <p:spPr>
          <a:xfrm>
            <a:off x="3063240" y="2318004"/>
            <a:ext cx="137160" cy="137160"/>
          </a:xfrm>
          <a:prstGeom prst="ellipse">
            <a:avLst/>
          </a:prstGeom>
          <a:solidFill>
            <a:schemeClr val="accent1"/>
          </a:solidFill>
          <a:ln w="15875">
            <a:solidFill>
              <a:schemeClr val="accent1"/>
            </a:solidFill>
            <a:prstDash val="solid"/>
          </a:ln>
        </p:spPr>
      </p:sp>
      <p:sp>
        <p:nvSpPr>
          <p:cNvPr id="18" name="dot_474"/>
          <p:cNvSpPr/>
          <p:nvPr/>
        </p:nvSpPr>
        <p:spPr>
          <a:xfrm>
            <a:off x="3246120" y="2318004"/>
            <a:ext cx="137160" cy="137160"/>
          </a:xfrm>
          <a:prstGeom prst="ellipse">
            <a:avLst/>
          </a:prstGeom>
          <a:solidFill>
            <a:schemeClr val="bg1"/>
          </a:solidFill>
          <a:ln w="15875">
            <a:solidFill>
              <a:schemeClr val="accent1"/>
            </a:solidFill>
            <a:prstDash val="solid"/>
          </a:ln>
        </p:spPr>
      </p:sp>
      <p:sp>
        <p:nvSpPr>
          <p:cNvPr id="19" name="dot_475"/>
          <p:cNvSpPr/>
          <p:nvPr/>
        </p:nvSpPr>
        <p:spPr>
          <a:xfrm>
            <a:off x="3429000" y="2318004"/>
            <a:ext cx="137160" cy="137160"/>
          </a:xfrm>
          <a:prstGeom prst="ellipse">
            <a:avLst/>
          </a:prstGeom>
          <a:solidFill>
            <a:schemeClr val="bg1"/>
          </a:solidFill>
          <a:ln w="15875">
            <a:solidFill>
              <a:schemeClr val="accent1"/>
            </a:solidFill>
            <a:prstDash val="solid"/>
          </a:ln>
        </p:spPr>
      </p:sp>
      <p:sp>
        <p:nvSpPr>
          <p:cNvPr id="20" name="txt_476"/>
          <p:cNvSpPr txBox="1"/>
          <p:nvPr/>
        </p:nvSpPr>
        <p:spPr>
          <a:xfrm>
            <a:off x="3675888" y="2103120"/>
            <a:ext cx="1417320" cy="566928"/>
          </a:xfrm>
          <a:prstGeom prst="rect">
            <a:avLst/>
          </a:prstGeom>
          <a:noFill/>
          <a:ln/>
        </p:spPr>
        <p:txBody>
          <a:bodyPr wrap="square" lIns="0" tIns="0" rIns="0" bIns="0" rtlCol="0" anchor="ctr"/>
          <a:lstStyle/>
          <a:p>
            <a:pPr indent="0" marL="0">
              <a:buNone/>
            </a:pPr>
            <a:r>
              <a:rPr lang="en-US" sz="1200" dirty="0">
                <a:solidFill>
                  <a:schemeClr val="tx1"/>
                </a:solidFill>
              </a:rPr>
              <a:t>Learned, informal</a:t>
            </a:r>
            <a:endParaRPr lang="en-US" sz="1200" dirty="0"/>
          </a:p>
        </p:txBody>
      </p:sp>
      <p:sp>
        <p:nvSpPr>
          <p:cNvPr id="21" name="dot_477"/>
          <p:cNvSpPr/>
          <p:nvPr/>
        </p:nvSpPr>
        <p:spPr>
          <a:xfrm>
            <a:off x="5212080" y="2318004"/>
            <a:ext cx="137160" cy="137160"/>
          </a:xfrm>
          <a:prstGeom prst="ellipse">
            <a:avLst/>
          </a:prstGeom>
          <a:solidFill>
            <a:schemeClr val="accent2"/>
          </a:solidFill>
          <a:ln w="15875">
            <a:solidFill>
              <a:schemeClr val="accent2"/>
            </a:solidFill>
            <a:prstDash val="solid"/>
          </a:ln>
        </p:spPr>
      </p:sp>
      <p:sp>
        <p:nvSpPr>
          <p:cNvPr id="22" name="dot_478"/>
          <p:cNvSpPr/>
          <p:nvPr/>
        </p:nvSpPr>
        <p:spPr>
          <a:xfrm>
            <a:off x="5394960" y="2318004"/>
            <a:ext cx="137160" cy="137160"/>
          </a:xfrm>
          <a:prstGeom prst="ellipse">
            <a:avLst/>
          </a:prstGeom>
          <a:solidFill>
            <a:schemeClr val="accent2"/>
          </a:solidFill>
          <a:ln w="15875">
            <a:solidFill>
              <a:schemeClr val="accent2"/>
            </a:solidFill>
            <a:prstDash val="solid"/>
          </a:ln>
        </p:spPr>
      </p:sp>
      <p:sp>
        <p:nvSpPr>
          <p:cNvPr id="23" name="dot_479"/>
          <p:cNvSpPr/>
          <p:nvPr/>
        </p:nvSpPr>
        <p:spPr>
          <a:xfrm>
            <a:off x="5577840" y="2318004"/>
            <a:ext cx="137160" cy="137160"/>
          </a:xfrm>
          <a:prstGeom prst="ellipse">
            <a:avLst/>
          </a:prstGeom>
          <a:solidFill>
            <a:schemeClr val="bg1"/>
          </a:solidFill>
          <a:ln w="15875">
            <a:solidFill>
              <a:schemeClr val="accent2"/>
            </a:solidFill>
            <a:prstDash val="solid"/>
          </a:ln>
        </p:spPr>
      </p:sp>
      <p:sp>
        <p:nvSpPr>
          <p:cNvPr id="24" name="txt_480"/>
          <p:cNvSpPr txBox="1"/>
          <p:nvPr/>
        </p:nvSpPr>
        <p:spPr>
          <a:xfrm>
            <a:off x="5824728" y="2103120"/>
            <a:ext cx="1417320" cy="566928"/>
          </a:xfrm>
          <a:prstGeom prst="rect">
            <a:avLst/>
          </a:prstGeom>
          <a:noFill/>
          <a:ln/>
        </p:spPr>
        <p:txBody>
          <a:bodyPr wrap="square" lIns="0" tIns="0" rIns="0" bIns="0" rtlCol="0" anchor="ctr"/>
          <a:lstStyle/>
          <a:p>
            <a:pPr indent="0" marL="0">
              <a:buNone/>
            </a:pPr>
            <a:r>
              <a:rPr lang="en-US" sz="1200" dirty="0">
                <a:solidFill>
                  <a:schemeClr val="tx1"/>
                </a:solidFill>
              </a:rPr>
              <a:t>Standards-aligned tags</a:t>
            </a:r>
            <a:endParaRPr lang="en-US" sz="1200" dirty="0"/>
          </a:p>
        </p:txBody>
      </p:sp>
      <p:sp>
        <p:nvSpPr>
          <p:cNvPr id="25" name="dot_481"/>
          <p:cNvSpPr/>
          <p:nvPr/>
        </p:nvSpPr>
        <p:spPr>
          <a:xfrm>
            <a:off x="7360920" y="2318004"/>
            <a:ext cx="137160" cy="137160"/>
          </a:xfrm>
          <a:prstGeom prst="ellipse">
            <a:avLst/>
          </a:prstGeom>
          <a:solidFill>
            <a:schemeClr val="accent3"/>
          </a:solidFill>
          <a:ln w="15875">
            <a:solidFill>
              <a:schemeClr val="accent3"/>
            </a:solidFill>
            <a:prstDash val="solid"/>
          </a:ln>
        </p:spPr>
      </p:sp>
      <p:sp>
        <p:nvSpPr>
          <p:cNvPr id="26" name="dot_482"/>
          <p:cNvSpPr/>
          <p:nvPr/>
        </p:nvSpPr>
        <p:spPr>
          <a:xfrm>
            <a:off x="7543800" y="2318004"/>
            <a:ext cx="137160" cy="137160"/>
          </a:xfrm>
          <a:prstGeom prst="ellipse">
            <a:avLst/>
          </a:prstGeom>
          <a:solidFill>
            <a:schemeClr val="accent3"/>
          </a:solidFill>
          <a:ln w="15875">
            <a:solidFill>
              <a:schemeClr val="accent3"/>
            </a:solidFill>
            <a:prstDash val="solid"/>
          </a:ln>
        </p:spPr>
      </p:sp>
      <p:sp>
        <p:nvSpPr>
          <p:cNvPr id="27" name="dot_483"/>
          <p:cNvSpPr/>
          <p:nvPr/>
        </p:nvSpPr>
        <p:spPr>
          <a:xfrm>
            <a:off x="7726680" y="2318004"/>
            <a:ext cx="137160" cy="137160"/>
          </a:xfrm>
          <a:prstGeom prst="ellipse">
            <a:avLst/>
          </a:prstGeom>
          <a:solidFill>
            <a:schemeClr val="accent3"/>
          </a:solidFill>
          <a:ln w="15875">
            <a:solidFill>
              <a:schemeClr val="accent3"/>
            </a:solidFill>
            <a:prstDash val="solid"/>
          </a:ln>
        </p:spPr>
      </p:sp>
      <p:sp>
        <p:nvSpPr>
          <p:cNvPr id="28" name="txt_484"/>
          <p:cNvSpPr txBox="1"/>
          <p:nvPr/>
        </p:nvSpPr>
        <p:spPr>
          <a:xfrm>
            <a:off x="7973568" y="2103120"/>
            <a:ext cx="1417320" cy="566928"/>
          </a:xfrm>
          <a:prstGeom prst="rect">
            <a:avLst/>
          </a:prstGeom>
          <a:noFill/>
          <a:ln/>
        </p:spPr>
        <p:txBody>
          <a:bodyPr wrap="square" lIns="0" tIns="0" rIns="0" bIns="0" rtlCol="0" anchor="ctr"/>
          <a:lstStyle/>
          <a:p>
            <a:pPr indent="0" marL="0">
              <a:buNone/>
            </a:pPr>
            <a:r>
              <a:rPr lang="en-US" sz="1200" dirty="0">
                <a:solidFill>
                  <a:schemeClr val="tx1"/>
                </a:solidFill>
              </a:rPr>
              <a:t>OWL, SWRL, SHACL</a:t>
            </a:r>
            <a:endParaRPr lang="en-US" sz="1200" dirty="0"/>
          </a:p>
        </p:txBody>
      </p:sp>
      <p:sp>
        <p:nvSpPr>
          <p:cNvPr id="29" name="dot_485"/>
          <p:cNvSpPr/>
          <p:nvPr/>
        </p:nvSpPr>
        <p:spPr>
          <a:xfrm>
            <a:off x="9509760" y="2318004"/>
            <a:ext cx="137160" cy="137160"/>
          </a:xfrm>
          <a:prstGeom prst="ellipse">
            <a:avLst/>
          </a:prstGeom>
          <a:solidFill>
            <a:schemeClr val="accent4"/>
          </a:solidFill>
          <a:ln w="15875">
            <a:solidFill>
              <a:schemeClr val="accent4"/>
            </a:solidFill>
            <a:prstDash val="solid"/>
          </a:ln>
        </p:spPr>
      </p:sp>
      <p:sp>
        <p:nvSpPr>
          <p:cNvPr id="30" name="dot_486"/>
          <p:cNvSpPr/>
          <p:nvPr/>
        </p:nvSpPr>
        <p:spPr>
          <a:xfrm>
            <a:off x="9692640" y="2318004"/>
            <a:ext cx="137160" cy="137160"/>
          </a:xfrm>
          <a:prstGeom prst="ellipse">
            <a:avLst/>
          </a:prstGeom>
          <a:solidFill>
            <a:schemeClr val="accent4"/>
          </a:solidFill>
          <a:ln w="15875">
            <a:solidFill>
              <a:schemeClr val="accent4"/>
            </a:solidFill>
            <a:prstDash val="solid"/>
          </a:ln>
        </p:spPr>
      </p:sp>
      <p:sp>
        <p:nvSpPr>
          <p:cNvPr id="31" name="dot_487"/>
          <p:cNvSpPr/>
          <p:nvPr/>
        </p:nvSpPr>
        <p:spPr>
          <a:xfrm>
            <a:off x="9875520" y="2318004"/>
            <a:ext cx="137160" cy="137160"/>
          </a:xfrm>
          <a:prstGeom prst="ellipse">
            <a:avLst/>
          </a:prstGeom>
          <a:solidFill>
            <a:schemeClr val="accent4"/>
          </a:solidFill>
          <a:ln w="15875">
            <a:solidFill>
              <a:schemeClr val="accent4"/>
            </a:solidFill>
            <a:prstDash val="solid"/>
          </a:ln>
        </p:spPr>
      </p:sp>
      <p:sp>
        <p:nvSpPr>
          <p:cNvPr id="32" name="txt_488"/>
          <p:cNvSpPr txBox="1"/>
          <p:nvPr/>
        </p:nvSpPr>
        <p:spPr>
          <a:xfrm>
            <a:off x="10122408" y="2103120"/>
            <a:ext cx="1417320" cy="566928"/>
          </a:xfrm>
          <a:prstGeom prst="rect">
            <a:avLst/>
          </a:prstGeom>
          <a:noFill/>
          <a:ln/>
        </p:spPr>
        <p:txBody>
          <a:bodyPr wrap="square" lIns="0" tIns="0" rIns="0" bIns="0" rtlCol="0" anchor="ctr"/>
          <a:lstStyle/>
          <a:p>
            <a:pPr indent="0" marL="0">
              <a:buNone/>
            </a:pPr>
            <a:r>
              <a:rPr lang="en-US" sz="1200" dirty="0">
                <a:solidFill>
                  <a:schemeClr val="tx1"/>
                </a:solidFill>
              </a:rPr>
              <a:t>OWL 2 QL, SPARQL</a:t>
            </a:r>
            <a:endParaRPr lang="en-US" sz="1200" dirty="0"/>
          </a:p>
        </p:txBody>
      </p:sp>
      <p:sp>
        <p:nvSpPr>
          <p:cNvPr id="33" name="txt_489"/>
          <p:cNvSpPr txBox="1"/>
          <p:nvPr/>
        </p:nvSpPr>
        <p:spPr>
          <a:xfrm>
            <a:off x="731520" y="2724912"/>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Per-user governance</a:t>
            </a:r>
            <a:endParaRPr lang="en-US" sz="1500" dirty="0"/>
          </a:p>
        </p:txBody>
      </p:sp>
      <p:sp>
        <p:nvSpPr>
          <p:cNvPr id="34" name="dot_490"/>
          <p:cNvSpPr/>
          <p:nvPr/>
        </p:nvSpPr>
        <p:spPr>
          <a:xfrm>
            <a:off x="3063240" y="2939796"/>
            <a:ext cx="137160" cy="137160"/>
          </a:xfrm>
          <a:prstGeom prst="ellipse">
            <a:avLst/>
          </a:prstGeom>
          <a:solidFill>
            <a:schemeClr val="accent1"/>
          </a:solidFill>
          <a:ln w="15875">
            <a:solidFill>
              <a:schemeClr val="accent1"/>
            </a:solidFill>
            <a:prstDash val="solid"/>
          </a:ln>
        </p:spPr>
      </p:sp>
      <p:sp>
        <p:nvSpPr>
          <p:cNvPr id="35" name="dot_491"/>
          <p:cNvSpPr/>
          <p:nvPr/>
        </p:nvSpPr>
        <p:spPr>
          <a:xfrm>
            <a:off x="3246120" y="2939796"/>
            <a:ext cx="137160" cy="137160"/>
          </a:xfrm>
          <a:prstGeom prst="ellipse">
            <a:avLst/>
          </a:prstGeom>
          <a:solidFill>
            <a:schemeClr val="accent1"/>
          </a:solidFill>
          <a:ln w="15875">
            <a:solidFill>
              <a:schemeClr val="accent1"/>
            </a:solidFill>
            <a:prstDash val="solid"/>
          </a:ln>
        </p:spPr>
      </p:sp>
      <p:sp>
        <p:nvSpPr>
          <p:cNvPr id="36" name="dot_492"/>
          <p:cNvSpPr/>
          <p:nvPr/>
        </p:nvSpPr>
        <p:spPr>
          <a:xfrm>
            <a:off x="3429000" y="2939796"/>
            <a:ext cx="137160" cy="137160"/>
          </a:xfrm>
          <a:prstGeom prst="ellipse">
            <a:avLst/>
          </a:prstGeom>
          <a:solidFill>
            <a:schemeClr val="accent1"/>
          </a:solidFill>
          <a:ln w="15875">
            <a:solidFill>
              <a:schemeClr val="accent1"/>
            </a:solidFill>
            <a:prstDash val="solid"/>
          </a:ln>
        </p:spPr>
      </p:sp>
      <p:sp>
        <p:nvSpPr>
          <p:cNvPr id="37" name="txt_493"/>
          <p:cNvSpPr txBox="1"/>
          <p:nvPr/>
        </p:nvSpPr>
        <p:spPr>
          <a:xfrm>
            <a:off x="3675888" y="2724912"/>
            <a:ext cx="1417320" cy="566928"/>
          </a:xfrm>
          <a:prstGeom prst="rect">
            <a:avLst/>
          </a:prstGeom>
          <a:noFill/>
          <a:ln/>
        </p:spPr>
        <p:txBody>
          <a:bodyPr wrap="square" lIns="0" tIns="0" rIns="0" bIns="0" rtlCol="0" anchor="ctr"/>
          <a:lstStyle/>
          <a:p>
            <a:pPr indent="0" marL="0">
              <a:buNone/>
            </a:pPr>
            <a:r>
              <a:rPr lang="en-US" sz="1200" dirty="0">
                <a:solidFill>
                  <a:schemeClr val="tx1"/>
                </a:solidFill>
              </a:rPr>
              <a:t>End user, UC-enforced</a:t>
            </a:r>
            <a:endParaRPr lang="en-US" sz="1200" dirty="0"/>
          </a:p>
        </p:txBody>
      </p:sp>
      <p:sp>
        <p:nvSpPr>
          <p:cNvPr id="38" name="dot_494"/>
          <p:cNvSpPr/>
          <p:nvPr/>
        </p:nvSpPr>
        <p:spPr>
          <a:xfrm>
            <a:off x="5212080" y="2939796"/>
            <a:ext cx="137160" cy="137160"/>
          </a:xfrm>
          <a:prstGeom prst="ellipse">
            <a:avLst/>
          </a:prstGeom>
          <a:solidFill>
            <a:schemeClr val="accent2"/>
          </a:solidFill>
          <a:ln w="15875">
            <a:solidFill>
              <a:schemeClr val="accent2"/>
            </a:solidFill>
            <a:prstDash val="solid"/>
          </a:ln>
        </p:spPr>
      </p:sp>
      <p:sp>
        <p:nvSpPr>
          <p:cNvPr id="39" name="dot_495"/>
          <p:cNvSpPr/>
          <p:nvPr/>
        </p:nvSpPr>
        <p:spPr>
          <a:xfrm>
            <a:off x="5394960" y="2939796"/>
            <a:ext cx="137160" cy="137160"/>
          </a:xfrm>
          <a:prstGeom prst="ellipse">
            <a:avLst/>
          </a:prstGeom>
          <a:solidFill>
            <a:schemeClr val="accent2"/>
          </a:solidFill>
          <a:ln w="15875">
            <a:solidFill>
              <a:schemeClr val="accent2"/>
            </a:solidFill>
            <a:prstDash val="solid"/>
          </a:ln>
        </p:spPr>
      </p:sp>
      <p:sp>
        <p:nvSpPr>
          <p:cNvPr id="40" name="dot_496"/>
          <p:cNvSpPr/>
          <p:nvPr/>
        </p:nvSpPr>
        <p:spPr>
          <a:xfrm>
            <a:off x="5577840" y="2939796"/>
            <a:ext cx="137160" cy="137160"/>
          </a:xfrm>
          <a:prstGeom prst="ellipse">
            <a:avLst/>
          </a:prstGeom>
          <a:solidFill>
            <a:schemeClr val="accent2"/>
          </a:solidFill>
          <a:ln w="15875">
            <a:solidFill>
              <a:schemeClr val="accent2"/>
            </a:solidFill>
            <a:prstDash val="solid"/>
          </a:ln>
        </p:spPr>
      </p:sp>
      <p:sp>
        <p:nvSpPr>
          <p:cNvPr id="41" name="txt_497"/>
          <p:cNvSpPr txBox="1"/>
          <p:nvPr/>
        </p:nvSpPr>
        <p:spPr>
          <a:xfrm>
            <a:off x="5824728" y="2724912"/>
            <a:ext cx="1417320" cy="566928"/>
          </a:xfrm>
          <a:prstGeom prst="rect">
            <a:avLst/>
          </a:prstGeom>
          <a:noFill/>
          <a:ln/>
        </p:spPr>
        <p:txBody>
          <a:bodyPr wrap="square" lIns="0" tIns="0" rIns="0" bIns="0" rtlCol="0" anchor="ctr"/>
          <a:lstStyle/>
          <a:p>
            <a:pPr indent="0" marL="0">
              <a:buNone/>
            </a:pPr>
            <a:r>
              <a:rPr lang="en-US" sz="1200" dirty="0">
                <a:solidFill>
                  <a:schemeClr val="tx1"/>
                </a:solidFill>
              </a:rPr>
              <a:t>Via UC-native tools</a:t>
            </a:r>
            <a:endParaRPr lang="en-US" sz="1200" dirty="0"/>
          </a:p>
        </p:txBody>
      </p:sp>
      <p:sp>
        <p:nvSpPr>
          <p:cNvPr id="42" name="dot_498"/>
          <p:cNvSpPr/>
          <p:nvPr/>
        </p:nvSpPr>
        <p:spPr>
          <a:xfrm>
            <a:off x="7360920" y="2939796"/>
            <a:ext cx="137160" cy="137160"/>
          </a:xfrm>
          <a:prstGeom prst="ellipse">
            <a:avLst/>
          </a:prstGeom>
          <a:solidFill>
            <a:schemeClr val="accent3"/>
          </a:solidFill>
          <a:ln w="15875">
            <a:solidFill>
              <a:schemeClr val="accent3"/>
            </a:solidFill>
            <a:prstDash val="solid"/>
          </a:ln>
        </p:spPr>
      </p:sp>
      <p:sp>
        <p:nvSpPr>
          <p:cNvPr id="43" name="dot_499"/>
          <p:cNvSpPr/>
          <p:nvPr/>
        </p:nvSpPr>
        <p:spPr>
          <a:xfrm>
            <a:off x="7543800" y="2939796"/>
            <a:ext cx="137160" cy="137160"/>
          </a:xfrm>
          <a:prstGeom prst="ellipse">
            <a:avLst/>
          </a:prstGeom>
          <a:solidFill>
            <a:schemeClr val="bg1"/>
          </a:solidFill>
          <a:ln w="15875">
            <a:solidFill>
              <a:schemeClr val="accent3"/>
            </a:solidFill>
            <a:prstDash val="solid"/>
          </a:ln>
        </p:spPr>
      </p:sp>
      <p:sp>
        <p:nvSpPr>
          <p:cNvPr id="44" name="dot_500"/>
          <p:cNvSpPr/>
          <p:nvPr/>
        </p:nvSpPr>
        <p:spPr>
          <a:xfrm>
            <a:off x="7726680" y="2939796"/>
            <a:ext cx="137160" cy="137160"/>
          </a:xfrm>
          <a:prstGeom prst="ellipse">
            <a:avLst/>
          </a:prstGeom>
          <a:solidFill>
            <a:schemeClr val="bg1"/>
          </a:solidFill>
          <a:ln w="15875">
            <a:solidFill>
              <a:schemeClr val="accent3"/>
            </a:solidFill>
            <a:prstDash val="solid"/>
          </a:ln>
        </p:spPr>
      </p:sp>
      <p:sp>
        <p:nvSpPr>
          <p:cNvPr id="45" name="txt_501"/>
          <p:cNvSpPr txBox="1"/>
          <p:nvPr/>
        </p:nvSpPr>
        <p:spPr>
          <a:xfrm>
            <a:off x="7973568" y="2724912"/>
            <a:ext cx="1417320" cy="566928"/>
          </a:xfrm>
          <a:prstGeom prst="rect">
            <a:avLst/>
          </a:prstGeom>
          <a:noFill/>
          <a:ln/>
        </p:spPr>
        <p:txBody>
          <a:bodyPr wrap="square" lIns="0" tIns="0" rIns="0" bIns="0" rtlCol="0" anchor="ctr"/>
          <a:lstStyle/>
          <a:p>
            <a:pPr indent="0" marL="0">
              <a:buNone/>
            </a:pPr>
            <a:r>
              <a:rPr lang="en-US" sz="1200" dirty="0">
                <a:solidFill>
                  <a:schemeClr val="tx1"/>
                </a:solidFill>
              </a:rPr>
              <a:t>Sync service principal</a:t>
            </a:r>
            <a:endParaRPr lang="en-US" sz="1200" dirty="0"/>
          </a:p>
        </p:txBody>
      </p:sp>
      <p:sp>
        <p:nvSpPr>
          <p:cNvPr id="46" name="dot_502"/>
          <p:cNvSpPr/>
          <p:nvPr/>
        </p:nvSpPr>
        <p:spPr>
          <a:xfrm>
            <a:off x="9509760" y="2939796"/>
            <a:ext cx="137160" cy="137160"/>
          </a:xfrm>
          <a:prstGeom prst="ellipse">
            <a:avLst/>
          </a:prstGeom>
          <a:solidFill>
            <a:schemeClr val="accent4"/>
          </a:solidFill>
          <a:ln w="15875">
            <a:solidFill>
              <a:schemeClr val="accent4"/>
            </a:solidFill>
            <a:prstDash val="solid"/>
          </a:ln>
        </p:spPr>
      </p:sp>
      <p:sp>
        <p:nvSpPr>
          <p:cNvPr id="47" name="dot_503"/>
          <p:cNvSpPr/>
          <p:nvPr/>
        </p:nvSpPr>
        <p:spPr>
          <a:xfrm>
            <a:off x="9692640" y="2939796"/>
            <a:ext cx="137160" cy="137160"/>
          </a:xfrm>
          <a:prstGeom prst="ellipse">
            <a:avLst/>
          </a:prstGeom>
          <a:solidFill>
            <a:schemeClr val="bg1"/>
          </a:solidFill>
          <a:ln w="15875">
            <a:solidFill>
              <a:schemeClr val="accent4"/>
            </a:solidFill>
            <a:prstDash val="solid"/>
          </a:ln>
        </p:spPr>
      </p:sp>
      <p:sp>
        <p:nvSpPr>
          <p:cNvPr id="48" name="dot_504"/>
          <p:cNvSpPr/>
          <p:nvPr/>
        </p:nvSpPr>
        <p:spPr>
          <a:xfrm>
            <a:off x="9875520" y="2939796"/>
            <a:ext cx="137160" cy="137160"/>
          </a:xfrm>
          <a:prstGeom prst="ellipse">
            <a:avLst/>
          </a:prstGeom>
          <a:solidFill>
            <a:schemeClr val="bg1"/>
          </a:solidFill>
          <a:ln w="15875">
            <a:solidFill>
              <a:schemeClr val="accent4"/>
            </a:solidFill>
            <a:prstDash val="solid"/>
          </a:ln>
        </p:spPr>
      </p:sp>
      <p:sp>
        <p:nvSpPr>
          <p:cNvPr id="49" name="txt_505"/>
          <p:cNvSpPr txBox="1"/>
          <p:nvPr/>
        </p:nvSpPr>
        <p:spPr>
          <a:xfrm>
            <a:off x="10122408" y="2724912"/>
            <a:ext cx="1417320" cy="566928"/>
          </a:xfrm>
          <a:prstGeom prst="rect">
            <a:avLst/>
          </a:prstGeom>
          <a:noFill/>
          <a:ln/>
        </p:spPr>
        <p:txBody>
          <a:bodyPr wrap="square" lIns="0" tIns="0" rIns="0" bIns="0" rtlCol="0" anchor="ctr"/>
          <a:lstStyle/>
          <a:p>
            <a:pPr indent="0" marL="0">
              <a:buNone/>
            </a:pPr>
            <a:r>
              <a:rPr lang="en-US" sz="1200" dirty="0">
                <a:solidFill>
                  <a:schemeClr val="tx1"/>
                </a:solidFill>
              </a:rPr>
              <a:t>One service identity</a:t>
            </a:r>
            <a:endParaRPr lang="en-US" sz="1200" dirty="0"/>
          </a:p>
        </p:txBody>
      </p:sp>
      <p:sp>
        <p:nvSpPr>
          <p:cNvPr id="50" name="card_506"/>
          <p:cNvSpPr/>
          <p:nvPr/>
        </p:nvSpPr>
        <p:spPr>
          <a:xfrm>
            <a:off x="548640" y="3346704"/>
            <a:ext cx="11064240" cy="566928"/>
          </a:xfrm>
          <a:prstGeom prst="roundRect">
            <a:avLst>
              <a:gd name="adj" fmla="val 12903"/>
            </a:avLst>
          </a:prstGeom>
          <a:solidFill>
            <a:schemeClr val="bg2"/>
          </a:solidFill>
          <a:ln w="12700">
            <a:solidFill>
              <a:schemeClr val="bg2"/>
            </a:solidFill>
            <a:prstDash val="solid"/>
          </a:ln>
        </p:spPr>
      </p:sp>
      <p:sp>
        <p:nvSpPr>
          <p:cNvPr id="51" name="txt_507"/>
          <p:cNvSpPr txBox="1"/>
          <p:nvPr/>
        </p:nvSpPr>
        <p:spPr>
          <a:xfrm>
            <a:off x="731520" y="3346704"/>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Live data, no copies</a:t>
            </a:r>
            <a:endParaRPr lang="en-US" sz="1500" dirty="0"/>
          </a:p>
        </p:txBody>
      </p:sp>
      <p:sp>
        <p:nvSpPr>
          <p:cNvPr id="52" name="dot_508"/>
          <p:cNvSpPr/>
          <p:nvPr/>
        </p:nvSpPr>
        <p:spPr>
          <a:xfrm>
            <a:off x="3063240" y="3561588"/>
            <a:ext cx="137160" cy="137160"/>
          </a:xfrm>
          <a:prstGeom prst="ellipse">
            <a:avLst/>
          </a:prstGeom>
          <a:solidFill>
            <a:schemeClr val="accent1"/>
          </a:solidFill>
          <a:ln w="15875">
            <a:solidFill>
              <a:schemeClr val="accent1"/>
            </a:solidFill>
            <a:prstDash val="solid"/>
          </a:ln>
        </p:spPr>
      </p:sp>
      <p:sp>
        <p:nvSpPr>
          <p:cNvPr id="53" name="dot_509"/>
          <p:cNvSpPr/>
          <p:nvPr/>
        </p:nvSpPr>
        <p:spPr>
          <a:xfrm>
            <a:off x="3246120" y="3561588"/>
            <a:ext cx="137160" cy="137160"/>
          </a:xfrm>
          <a:prstGeom prst="ellipse">
            <a:avLst/>
          </a:prstGeom>
          <a:solidFill>
            <a:schemeClr val="accent1"/>
          </a:solidFill>
          <a:ln w="15875">
            <a:solidFill>
              <a:schemeClr val="accent1"/>
            </a:solidFill>
            <a:prstDash val="solid"/>
          </a:ln>
        </p:spPr>
      </p:sp>
      <p:sp>
        <p:nvSpPr>
          <p:cNvPr id="54" name="dot_510"/>
          <p:cNvSpPr/>
          <p:nvPr/>
        </p:nvSpPr>
        <p:spPr>
          <a:xfrm>
            <a:off x="3429000" y="3561588"/>
            <a:ext cx="137160" cy="137160"/>
          </a:xfrm>
          <a:prstGeom prst="ellipse">
            <a:avLst/>
          </a:prstGeom>
          <a:solidFill>
            <a:schemeClr val="accent1"/>
          </a:solidFill>
          <a:ln w="15875">
            <a:solidFill>
              <a:schemeClr val="accent1"/>
            </a:solidFill>
            <a:prstDash val="solid"/>
          </a:ln>
        </p:spPr>
      </p:sp>
      <p:sp>
        <p:nvSpPr>
          <p:cNvPr id="55" name="txt_511"/>
          <p:cNvSpPr txBox="1"/>
          <p:nvPr/>
        </p:nvSpPr>
        <p:spPr>
          <a:xfrm>
            <a:off x="3675888" y="3346704"/>
            <a:ext cx="1417320" cy="566928"/>
          </a:xfrm>
          <a:prstGeom prst="rect">
            <a:avLst/>
          </a:prstGeom>
          <a:noFill/>
          <a:ln/>
        </p:spPr>
        <p:txBody>
          <a:bodyPr wrap="square" lIns="0" tIns="0" rIns="0" bIns="0" rtlCol="0" anchor="ctr"/>
          <a:lstStyle/>
          <a:p>
            <a:pPr indent="0" marL="0">
              <a:buNone/>
            </a:pPr>
            <a:r>
              <a:rPr lang="en-US" sz="1200" dirty="0">
                <a:solidFill>
                  <a:schemeClr val="tx1"/>
                </a:solidFill>
              </a:rPr>
              <a:t>Queries live tables</a:t>
            </a:r>
            <a:endParaRPr lang="en-US" sz="1200" dirty="0"/>
          </a:p>
        </p:txBody>
      </p:sp>
      <p:sp>
        <p:nvSpPr>
          <p:cNvPr id="56" name="dot_512"/>
          <p:cNvSpPr/>
          <p:nvPr/>
        </p:nvSpPr>
        <p:spPr>
          <a:xfrm>
            <a:off x="5212080" y="3561588"/>
            <a:ext cx="137160" cy="137160"/>
          </a:xfrm>
          <a:prstGeom prst="ellipse">
            <a:avLst/>
          </a:prstGeom>
          <a:solidFill>
            <a:schemeClr val="accent2"/>
          </a:solidFill>
          <a:ln w="15875">
            <a:solidFill>
              <a:schemeClr val="accent2"/>
            </a:solidFill>
            <a:prstDash val="solid"/>
          </a:ln>
        </p:spPr>
      </p:sp>
      <p:sp>
        <p:nvSpPr>
          <p:cNvPr id="57" name="dot_513"/>
          <p:cNvSpPr/>
          <p:nvPr/>
        </p:nvSpPr>
        <p:spPr>
          <a:xfrm>
            <a:off x="5394960" y="3561588"/>
            <a:ext cx="137160" cy="137160"/>
          </a:xfrm>
          <a:prstGeom prst="ellipse">
            <a:avLst/>
          </a:prstGeom>
          <a:solidFill>
            <a:schemeClr val="accent2"/>
          </a:solidFill>
          <a:ln w="15875">
            <a:solidFill>
              <a:schemeClr val="accent2"/>
            </a:solidFill>
            <a:prstDash val="solid"/>
          </a:ln>
        </p:spPr>
      </p:sp>
      <p:sp>
        <p:nvSpPr>
          <p:cNvPr id="58" name="dot_514"/>
          <p:cNvSpPr/>
          <p:nvPr/>
        </p:nvSpPr>
        <p:spPr>
          <a:xfrm>
            <a:off x="5577840" y="3561588"/>
            <a:ext cx="137160" cy="137160"/>
          </a:xfrm>
          <a:prstGeom prst="ellipse">
            <a:avLst/>
          </a:prstGeom>
          <a:solidFill>
            <a:schemeClr val="accent2"/>
          </a:solidFill>
          <a:ln w="15875">
            <a:solidFill>
              <a:schemeClr val="accent2"/>
            </a:solidFill>
            <a:prstDash val="solid"/>
          </a:ln>
        </p:spPr>
      </p:sp>
      <p:sp>
        <p:nvSpPr>
          <p:cNvPr id="59" name="txt_515"/>
          <p:cNvSpPr txBox="1"/>
          <p:nvPr/>
        </p:nvSpPr>
        <p:spPr>
          <a:xfrm>
            <a:off x="5824728" y="3346704"/>
            <a:ext cx="1417320" cy="566928"/>
          </a:xfrm>
          <a:prstGeom prst="rect">
            <a:avLst/>
          </a:prstGeom>
          <a:noFill/>
          <a:ln/>
        </p:spPr>
        <p:txBody>
          <a:bodyPr wrap="square" lIns="0" tIns="0" rIns="0" bIns="0" rtlCol="0" anchor="ctr"/>
          <a:lstStyle/>
          <a:p>
            <a:pPr indent="0" marL="0">
              <a:buNone/>
            </a:pPr>
            <a:r>
              <a:rPr lang="en-US" sz="1200" dirty="0">
                <a:solidFill>
                  <a:schemeClr val="tx1"/>
                </a:solidFill>
              </a:rPr>
              <a:t>Metadata only</a:t>
            </a:r>
            <a:endParaRPr lang="en-US" sz="1200" dirty="0"/>
          </a:p>
        </p:txBody>
      </p:sp>
      <p:sp>
        <p:nvSpPr>
          <p:cNvPr id="60" name="dot_516"/>
          <p:cNvSpPr/>
          <p:nvPr/>
        </p:nvSpPr>
        <p:spPr>
          <a:xfrm>
            <a:off x="7360920" y="3561588"/>
            <a:ext cx="137160" cy="137160"/>
          </a:xfrm>
          <a:prstGeom prst="ellipse">
            <a:avLst/>
          </a:prstGeom>
          <a:solidFill>
            <a:schemeClr val="accent3"/>
          </a:solidFill>
          <a:ln w="15875">
            <a:solidFill>
              <a:schemeClr val="accent3"/>
            </a:solidFill>
            <a:prstDash val="solid"/>
          </a:ln>
        </p:spPr>
      </p:sp>
      <p:sp>
        <p:nvSpPr>
          <p:cNvPr id="61" name="dot_517"/>
          <p:cNvSpPr/>
          <p:nvPr/>
        </p:nvSpPr>
        <p:spPr>
          <a:xfrm>
            <a:off x="7543800" y="3561588"/>
            <a:ext cx="137160" cy="137160"/>
          </a:xfrm>
          <a:prstGeom prst="ellipse">
            <a:avLst/>
          </a:prstGeom>
          <a:solidFill>
            <a:schemeClr val="bg1"/>
          </a:solidFill>
          <a:ln w="15875">
            <a:solidFill>
              <a:schemeClr val="accent3"/>
            </a:solidFill>
            <a:prstDash val="solid"/>
          </a:ln>
        </p:spPr>
      </p:sp>
      <p:sp>
        <p:nvSpPr>
          <p:cNvPr id="62" name="dot_518"/>
          <p:cNvSpPr/>
          <p:nvPr/>
        </p:nvSpPr>
        <p:spPr>
          <a:xfrm>
            <a:off x="7726680" y="3561588"/>
            <a:ext cx="137160" cy="137160"/>
          </a:xfrm>
          <a:prstGeom prst="ellipse">
            <a:avLst/>
          </a:prstGeom>
          <a:solidFill>
            <a:schemeClr val="bg1"/>
          </a:solidFill>
          <a:ln w="15875">
            <a:solidFill>
              <a:schemeClr val="accent3"/>
            </a:solidFill>
            <a:prstDash val="solid"/>
          </a:ln>
        </p:spPr>
      </p:sp>
      <p:sp>
        <p:nvSpPr>
          <p:cNvPr id="63" name="txt_519"/>
          <p:cNvSpPr txBox="1"/>
          <p:nvPr/>
        </p:nvSpPr>
        <p:spPr>
          <a:xfrm>
            <a:off x="7973568" y="3346704"/>
            <a:ext cx="1417320" cy="566928"/>
          </a:xfrm>
          <a:prstGeom prst="rect">
            <a:avLst/>
          </a:prstGeom>
          <a:noFill/>
          <a:ln/>
        </p:spPr>
        <p:txBody>
          <a:bodyPr wrap="square" lIns="0" tIns="0" rIns="0" bIns="0" rtlCol="0" anchor="ctr"/>
          <a:lstStyle/>
          <a:p>
            <a:pPr indent="0" marL="0">
              <a:buNone/>
            </a:pPr>
            <a:r>
              <a:rPr lang="en-US" sz="1200" dirty="0">
                <a:solidFill>
                  <a:schemeClr val="tx1"/>
                </a:solidFill>
              </a:rPr>
              <a:t>Copy, rebuilt on sync</a:t>
            </a:r>
            <a:endParaRPr lang="en-US" sz="1200" dirty="0"/>
          </a:p>
        </p:txBody>
      </p:sp>
      <p:sp>
        <p:nvSpPr>
          <p:cNvPr id="64" name="dot_520"/>
          <p:cNvSpPr/>
          <p:nvPr/>
        </p:nvSpPr>
        <p:spPr>
          <a:xfrm>
            <a:off x="9509760" y="3561588"/>
            <a:ext cx="137160" cy="137160"/>
          </a:xfrm>
          <a:prstGeom prst="ellipse">
            <a:avLst/>
          </a:prstGeom>
          <a:solidFill>
            <a:schemeClr val="accent4"/>
          </a:solidFill>
          <a:ln w="15875">
            <a:solidFill>
              <a:schemeClr val="accent4"/>
            </a:solidFill>
            <a:prstDash val="solid"/>
          </a:ln>
        </p:spPr>
      </p:sp>
      <p:sp>
        <p:nvSpPr>
          <p:cNvPr id="65" name="dot_521"/>
          <p:cNvSpPr/>
          <p:nvPr/>
        </p:nvSpPr>
        <p:spPr>
          <a:xfrm>
            <a:off x="9692640" y="3561588"/>
            <a:ext cx="137160" cy="137160"/>
          </a:xfrm>
          <a:prstGeom prst="ellipse">
            <a:avLst/>
          </a:prstGeom>
          <a:solidFill>
            <a:schemeClr val="accent4"/>
          </a:solidFill>
          <a:ln w="15875">
            <a:solidFill>
              <a:schemeClr val="accent4"/>
            </a:solidFill>
            <a:prstDash val="solid"/>
          </a:ln>
        </p:spPr>
      </p:sp>
      <p:sp>
        <p:nvSpPr>
          <p:cNvPr id="66" name="dot_522"/>
          <p:cNvSpPr/>
          <p:nvPr/>
        </p:nvSpPr>
        <p:spPr>
          <a:xfrm>
            <a:off x="9875520" y="3561588"/>
            <a:ext cx="137160" cy="137160"/>
          </a:xfrm>
          <a:prstGeom prst="ellipse">
            <a:avLst/>
          </a:prstGeom>
          <a:solidFill>
            <a:schemeClr val="accent4"/>
          </a:solidFill>
          <a:ln w="15875">
            <a:solidFill>
              <a:schemeClr val="accent4"/>
            </a:solidFill>
            <a:prstDash val="solid"/>
          </a:ln>
        </p:spPr>
      </p:sp>
      <p:sp>
        <p:nvSpPr>
          <p:cNvPr id="67" name="txt_523"/>
          <p:cNvSpPr txBox="1"/>
          <p:nvPr/>
        </p:nvSpPr>
        <p:spPr>
          <a:xfrm>
            <a:off x="10122408" y="3346704"/>
            <a:ext cx="1417320" cy="566928"/>
          </a:xfrm>
          <a:prstGeom prst="rect">
            <a:avLst/>
          </a:prstGeom>
          <a:noFill/>
          <a:ln/>
        </p:spPr>
        <p:txBody>
          <a:bodyPr wrap="square" lIns="0" tIns="0" rIns="0" bIns="0" rtlCol="0" anchor="ctr"/>
          <a:lstStyle/>
          <a:p>
            <a:pPr indent="0" marL="0">
              <a:buNone/>
            </a:pPr>
            <a:r>
              <a:rPr lang="en-US" sz="1200" dirty="0">
                <a:solidFill>
                  <a:schemeClr val="tx1"/>
                </a:solidFill>
              </a:rPr>
              <a:t>Rewritten at query time</a:t>
            </a:r>
            <a:endParaRPr lang="en-US" sz="1200" dirty="0"/>
          </a:p>
        </p:txBody>
      </p:sp>
      <p:sp>
        <p:nvSpPr>
          <p:cNvPr id="68" name="txt_524"/>
          <p:cNvSpPr txBox="1"/>
          <p:nvPr/>
        </p:nvSpPr>
        <p:spPr>
          <a:xfrm>
            <a:off x="731520" y="3968496"/>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Primary consumer</a:t>
            </a:r>
            <a:endParaRPr lang="en-US" sz="1500" dirty="0"/>
          </a:p>
        </p:txBody>
      </p:sp>
      <p:sp>
        <p:nvSpPr>
          <p:cNvPr id="69" name="txt_525"/>
          <p:cNvSpPr txBox="1"/>
          <p:nvPr/>
        </p:nvSpPr>
        <p:spPr>
          <a:xfrm>
            <a:off x="3063240" y="3968496"/>
            <a:ext cx="2011680" cy="566928"/>
          </a:xfrm>
          <a:prstGeom prst="rect">
            <a:avLst/>
          </a:prstGeom>
          <a:noFill/>
          <a:ln/>
        </p:spPr>
        <p:txBody>
          <a:bodyPr wrap="square" lIns="0" tIns="0" rIns="0" bIns="0" rtlCol="0" anchor="ctr"/>
          <a:lstStyle/>
          <a:p>
            <a:pPr indent="0" marL="0">
              <a:buNone/>
            </a:pPr>
            <a:r>
              <a:rPr lang="en-US" sz="1200" dirty="0">
                <a:solidFill>
                  <a:schemeClr val="tx1"/>
                </a:solidFill>
              </a:rPr>
              <a:t>Business users, natural language</a:t>
            </a:r>
            <a:endParaRPr lang="en-US" sz="1200" dirty="0"/>
          </a:p>
        </p:txBody>
      </p:sp>
      <p:sp>
        <p:nvSpPr>
          <p:cNvPr id="70" name="txt_526"/>
          <p:cNvSpPr txBox="1"/>
          <p:nvPr/>
        </p:nvSpPr>
        <p:spPr>
          <a:xfrm>
            <a:off x="5212080" y="3968496"/>
            <a:ext cx="2011680" cy="566928"/>
          </a:xfrm>
          <a:prstGeom prst="rect">
            <a:avLst/>
          </a:prstGeom>
          <a:noFill/>
          <a:ln/>
        </p:spPr>
        <p:txBody>
          <a:bodyPr wrap="square" lIns="0" tIns="0" rIns="0" bIns="0" rtlCol="0" anchor="ctr"/>
          <a:lstStyle/>
          <a:p>
            <a:pPr indent="0" marL="0">
              <a:buNone/>
            </a:pPr>
            <a:r>
              <a:rPr lang="en-US" sz="1200" dirty="0">
                <a:solidFill>
                  <a:schemeClr val="tx1"/>
                </a:solidFill>
              </a:rPr>
              <a:t>Genie, BI and agents, indirectly</a:t>
            </a:r>
            <a:endParaRPr lang="en-US" sz="1200" dirty="0"/>
          </a:p>
        </p:txBody>
      </p:sp>
      <p:sp>
        <p:nvSpPr>
          <p:cNvPr id="71" name="txt_527"/>
          <p:cNvSpPr txBox="1"/>
          <p:nvPr/>
        </p:nvSpPr>
        <p:spPr>
          <a:xfrm>
            <a:off x="7360920" y="3968496"/>
            <a:ext cx="2011680" cy="566928"/>
          </a:xfrm>
          <a:prstGeom prst="rect">
            <a:avLst/>
          </a:prstGeom>
          <a:noFill/>
          <a:ln/>
        </p:spPr>
        <p:txBody>
          <a:bodyPr wrap="square" lIns="0" tIns="0" rIns="0" bIns="0" rtlCol="0" anchor="ctr"/>
          <a:lstStyle/>
          <a:p>
            <a:pPr indent="0" marL="0">
              <a:buNone/>
            </a:pPr>
            <a:r>
              <a:rPr lang="en-US" sz="1200" dirty="0">
                <a:solidFill>
                  <a:schemeClr val="tx1"/>
                </a:solidFill>
              </a:rPr>
              <a:t>Apps and agents via GraphQL, MCP</a:t>
            </a:r>
            <a:endParaRPr lang="en-US" sz="1200" dirty="0"/>
          </a:p>
        </p:txBody>
      </p:sp>
      <p:sp>
        <p:nvSpPr>
          <p:cNvPr id="72" name="txt_528"/>
          <p:cNvSpPr txBox="1"/>
          <p:nvPr/>
        </p:nvSpPr>
        <p:spPr>
          <a:xfrm>
            <a:off x="9509760" y="3968496"/>
            <a:ext cx="2011680" cy="566928"/>
          </a:xfrm>
          <a:prstGeom prst="rect">
            <a:avLst/>
          </a:prstGeom>
          <a:noFill/>
          <a:ln/>
        </p:spPr>
        <p:txBody>
          <a:bodyPr wrap="square" lIns="0" tIns="0" rIns="0" bIns="0" rtlCol="0" anchor="ctr"/>
          <a:lstStyle/>
          <a:p>
            <a:pPr indent="0" marL="0">
              <a:buNone/>
            </a:pPr>
            <a:r>
              <a:rPr lang="en-US" sz="1200" dirty="0">
                <a:solidFill>
                  <a:schemeClr val="tx1"/>
                </a:solidFill>
              </a:rPr>
              <a:t>Semantic-web tools via SPARQL</a:t>
            </a:r>
            <a:endParaRPr lang="en-US" sz="1200" dirty="0"/>
          </a:p>
        </p:txBody>
      </p:sp>
      <p:sp>
        <p:nvSpPr>
          <p:cNvPr id="73" name="card_529"/>
          <p:cNvSpPr/>
          <p:nvPr/>
        </p:nvSpPr>
        <p:spPr>
          <a:xfrm>
            <a:off x="548640" y="4590288"/>
            <a:ext cx="11064240" cy="566928"/>
          </a:xfrm>
          <a:prstGeom prst="roundRect">
            <a:avLst>
              <a:gd name="adj" fmla="val 12903"/>
            </a:avLst>
          </a:prstGeom>
          <a:solidFill>
            <a:schemeClr val="bg2"/>
          </a:solidFill>
          <a:ln w="12700">
            <a:solidFill>
              <a:schemeClr val="bg2"/>
            </a:solidFill>
            <a:prstDash val="solid"/>
          </a:ln>
        </p:spPr>
      </p:sp>
      <p:sp>
        <p:nvSpPr>
          <p:cNvPr id="74" name="txt_530"/>
          <p:cNvSpPr txBox="1"/>
          <p:nvPr/>
        </p:nvSpPr>
        <p:spPr>
          <a:xfrm>
            <a:off x="731520" y="4590288"/>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Model ownership</a:t>
            </a:r>
            <a:endParaRPr lang="en-US" sz="1500" dirty="0"/>
          </a:p>
        </p:txBody>
      </p:sp>
      <p:sp>
        <p:nvSpPr>
          <p:cNvPr id="75" name="dot_531"/>
          <p:cNvSpPr/>
          <p:nvPr/>
        </p:nvSpPr>
        <p:spPr>
          <a:xfrm>
            <a:off x="3063240" y="4805172"/>
            <a:ext cx="137160" cy="137160"/>
          </a:xfrm>
          <a:prstGeom prst="ellipse">
            <a:avLst/>
          </a:prstGeom>
          <a:solidFill>
            <a:schemeClr val="accent1"/>
          </a:solidFill>
          <a:ln w="15875">
            <a:solidFill>
              <a:schemeClr val="accent1"/>
            </a:solidFill>
            <a:prstDash val="solid"/>
          </a:ln>
        </p:spPr>
      </p:sp>
      <p:sp>
        <p:nvSpPr>
          <p:cNvPr id="76" name="dot_532"/>
          <p:cNvSpPr/>
          <p:nvPr/>
        </p:nvSpPr>
        <p:spPr>
          <a:xfrm>
            <a:off x="3246120" y="4805172"/>
            <a:ext cx="137160" cy="137160"/>
          </a:xfrm>
          <a:prstGeom prst="ellipse">
            <a:avLst/>
          </a:prstGeom>
          <a:solidFill>
            <a:schemeClr val="bg1"/>
          </a:solidFill>
          <a:ln w="15875">
            <a:solidFill>
              <a:schemeClr val="accent1"/>
            </a:solidFill>
            <a:prstDash val="solid"/>
          </a:ln>
        </p:spPr>
      </p:sp>
      <p:sp>
        <p:nvSpPr>
          <p:cNvPr id="77" name="dot_533"/>
          <p:cNvSpPr/>
          <p:nvPr/>
        </p:nvSpPr>
        <p:spPr>
          <a:xfrm>
            <a:off x="3429000" y="4805172"/>
            <a:ext cx="137160" cy="137160"/>
          </a:xfrm>
          <a:prstGeom prst="ellipse">
            <a:avLst/>
          </a:prstGeom>
          <a:solidFill>
            <a:schemeClr val="bg1"/>
          </a:solidFill>
          <a:ln w="15875">
            <a:solidFill>
              <a:schemeClr val="accent1"/>
            </a:solidFill>
            <a:prstDash val="solid"/>
          </a:ln>
        </p:spPr>
      </p:sp>
      <p:sp>
        <p:nvSpPr>
          <p:cNvPr id="78" name="txt_534"/>
          <p:cNvSpPr txBox="1"/>
          <p:nvPr/>
        </p:nvSpPr>
        <p:spPr>
          <a:xfrm>
            <a:off x="3675888" y="4590288"/>
            <a:ext cx="1417320" cy="566928"/>
          </a:xfrm>
          <a:prstGeom prst="rect">
            <a:avLst/>
          </a:prstGeom>
          <a:noFill/>
          <a:ln/>
        </p:spPr>
        <p:txBody>
          <a:bodyPr wrap="square" lIns="0" tIns="0" rIns="0" bIns="0" rtlCol="0" anchor="ctr"/>
          <a:lstStyle/>
          <a:p>
            <a:pPr indent="0" marL="0">
              <a:buNone/>
            </a:pPr>
            <a:r>
              <a:rPr lang="en-US" sz="1200" dirty="0">
                <a:solidFill>
                  <a:schemeClr val="tx1"/>
                </a:solidFill>
              </a:rPr>
              <a:t>Opaque; citations only</a:t>
            </a:r>
            <a:endParaRPr lang="en-US" sz="1200" dirty="0"/>
          </a:p>
        </p:txBody>
      </p:sp>
      <p:sp>
        <p:nvSpPr>
          <p:cNvPr id="79" name="dot_535"/>
          <p:cNvSpPr/>
          <p:nvPr/>
        </p:nvSpPr>
        <p:spPr>
          <a:xfrm>
            <a:off x="5212080" y="4805172"/>
            <a:ext cx="137160" cy="137160"/>
          </a:xfrm>
          <a:prstGeom prst="ellipse">
            <a:avLst/>
          </a:prstGeom>
          <a:solidFill>
            <a:schemeClr val="accent2"/>
          </a:solidFill>
          <a:ln w="15875">
            <a:solidFill>
              <a:schemeClr val="accent2"/>
            </a:solidFill>
            <a:prstDash val="solid"/>
          </a:ln>
        </p:spPr>
      </p:sp>
      <p:sp>
        <p:nvSpPr>
          <p:cNvPr id="80" name="dot_536"/>
          <p:cNvSpPr/>
          <p:nvPr/>
        </p:nvSpPr>
        <p:spPr>
          <a:xfrm>
            <a:off x="5394960" y="4805172"/>
            <a:ext cx="137160" cy="137160"/>
          </a:xfrm>
          <a:prstGeom prst="ellipse">
            <a:avLst/>
          </a:prstGeom>
          <a:solidFill>
            <a:schemeClr val="accent2"/>
          </a:solidFill>
          <a:ln w="15875">
            <a:solidFill>
              <a:schemeClr val="accent2"/>
            </a:solidFill>
            <a:prstDash val="solid"/>
          </a:ln>
        </p:spPr>
      </p:sp>
      <p:sp>
        <p:nvSpPr>
          <p:cNvPr id="81" name="dot_537"/>
          <p:cNvSpPr/>
          <p:nvPr/>
        </p:nvSpPr>
        <p:spPr>
          <a:xfrm>
            <a:off x="5577840" y="4805172"/>
            <a:ext cx="137160" cy="137160"/>
          </a:xfrm>
          <a:prstGeom prst="ellipse">
            <a:avLst/>
          </a:prstGeom>
          <a:solidFill>
            <a:schemeClr val="bg1"/>
          </a:solidFill>
          <a:ln w="15875">
            <a:solidFill>
              <a:schemeClr val="accent2"/>
            </a:solidFill>
            <a:prstDash val="solid"/>
          </a:ln>
        </p:spPr>
      </p:sp>
      <p:sp>
        <p:nvSpPr>
          <p:cNvPr id="82" name="txt_538"/>
          <p:cNvSpPr txBox="1"/>
          <p:nvPr/>
        </p:nvSpPr>
        <p:spPr>
          <a:xfrm>
            <a:off x="5824728" y="4590288"/>
            <a:ext cx="1417320" cy="566928"/>
          </a:xfrm>
          <a:prstGeom prst="rect">
            <a:avLst/>
          </a:prstGeom>
          <a:noFill/>
          <a:ln/>
        </p:spPr>
        <p:txBody>
          <a:bodyPr wrap="square" lIns="0" tIns="0" rIns="0" bIns="0" rtlCol="0" anchor="ctr"/>
          <a:lstStyle/>
          <a:p>
            <a:pPr indent="0" marL="0">
              <a:buNone/>
            </a:pPr>
            <a:r>
              <a:rPr lang="en-US" sz="1200" dirty="0">
                <a:solidFill>
                  <a:schemeClr val="tx1"/>
                </a:solidFill>
              </a:rPr>
              <a:t>Delta tables and YAML</a:t>
            </a:r>
            <a:endParaRPr lang="en-US" sz="1200" dirty="0"/>
          </a:p>
        </p:txBody>
      </p:sp>
      <p:sp>
        <p:nvSpPr>
          <p:cNvPr id="83" name="dot_539"/>
          <p:cNvSpPr/>
          <p:nvPr/>
        </p:nvSpPr>
        <p:spPr>
          <a:xfrm>
            <a:off x="7360920" y="4805172"/>
            <a:ext cx="137160" cy="137160"/>
          </a:xfrm>
          <a:prstGeom prst="ellipse">
            <a:avLst/>
          </a:prstGeom>
          <a:solidFill>
            <a:schemeClr val="accent3"/>
          </a:solidFill>
          <a:ln w="15875">
            <a:solidFill>
              <a:schemeClr val="accent3"/>
            </a:solidFill>
            <a:prstDash val="solid"/>
          </a:ln>
        </p:spPr>
      </p:sp>
      <p:sp>
        <p:nvSpPr>
          <p:cNvPr id="84" name="dot_540"/>
          <p:cNvSpPr/>
          <p:nvPr/>
        </p:nvSpPr>
        <p:spPr>
          <a:xfrm>
            <a:off x="7543800" y="4805172"/>
            <a:ext cx="137160" cy="137160"/>
          </a:xfrm>
          <a:prstGeom prst="ellipse">
            <a:avLst/>
          </a:prstGeom>
          <a:solidFill>
            <a:schemeClr val="accent3"/>
          </a:solidFill>
          <a:ln w="15875">
            <a:solidFill>
              <a:schemeClr val="accent3"/>
            </a:solidFill>
            <a:prstDash val="solid"/>
          </a:ln>
        </p:spPr>
      </p:sp>
      <p:sp>
        <p:nvSpPr>
          <p:cNvPr id="85" name="dot_541"/>
          <p:cNvSpPr/>
          <p:nvPr/>
        </p:nvSpPr>
        <p:spPr>
          <a:xfrm>
            <a:off x="7726680" y="4805172"/>
            <a:ext cx="137160" cy="137160"/>
          </a:xfrm>
          <a:prstGeom prst="ellipse">
            <a:avLst/>
          </a:prstGeom>
          <a:solidFill>
            <a:schemeClr val="accent3"/>
          </a:solidFill>
          <a:ln w="15875">
            <a:solidFill>
              <a:schemeClr val="accent3"/>
            </a:solidFill>
            <a:prstDash val="solid"/>
          </a:ln>
        </p:spPr>
      </p:sp>
      <p:sp>
        <p:nvSpPr>
          <p:cNvPr id="86" name="txt_542"/>
          <p:cNvSpPr txBox="1"/>
          <p:nvPr/>
        </p:nvSpPr>
        <p:spPr>
          <a:xfrm>
            <a:off x="7973568" y="4590288"/>
            <a:ext cx="1417320" cy="566928"/>
          </a:xfrm>
          <a:prstGeom prst="rect">
            <a:avLst/>
          </a:prstGeom>
          <a:noFill/>
          <a:ln/>
        </p:spPr>
        <p:txBody>
          <a:bodyPr wrap="square" lIns="0" tIns="0" rIns="0" bIns="0" rtlCol="0" anchor="ctr"/>
          <a:lstStyle/>
          <a:p>
            <a:pPr indent="0" marL="0">
              <a:buNone/>
            </a:pPr>
            <a:r>
              <a:rPr lang="en-US" sz="1200" dirty="0">
                <a:solidFill>
                  <a:schemeClr val="tx1"/>
                </a:solidFill>
              </a:rPr>
              <a:t>Versioned OWL, review flow</a:t>
            </a:r>
            <a:endParaRPr lang="en-US" sz="1200" dirty="0"/>
          </a:p>
        </p:txBody>
      </p:sp>
      <p:sp>
        <p:nvSpPr>
          <p:cNvPr id="87" name="dot_543"/>
          <p:cNvSpPr/>
          <p:nvPr/>
        </p:nvSpPr>
        <p:spPr>
          <a:xfrm>
            <a:off x="9509760" y="4805172"/>
            <a:ext cx="137160" cy="137160"/>
          </a:xfrm>
          <a:prstGeom prst="ellipse">
            <a:avLst/>
          </a:prstGeom>
          <a:solidFill>
            <a:schemeClr val="accent4"/>
          </a:solidFill>
          <a:ln w="15875">
            <a:solidFill>
              <a:schemeClr val="accent4"/>
            </a:solidFill>
            <a:prstDash val="solid"/>
          </a:ln>
        </p:spPr>
      </p:sp>
      <p:sp>
        <p:nvSpPr>
          <p:cNvPr id="88" name="dot_544"/>
          <p:cNvSpPr/>
          <p:nvPr/>
        </p:nvSpPr>
        <p:spPr>
          <a:xfrm>
            <a:off x="9692640" y="4805172"/>
            <a:ext cx="137160" cy="137160"/>
          </a:xfrm>
          <a:prstGeom prst="ellipse">
            <a:avLst/>
          </a:prstGeom>
          <a:solidFill>
            <a:schemeClr val="accent4"/>
          </a:solidFill>
          <a:ln w="15875">
            <a:solidFill>
              <a:schemeClr val="accent4"/>
            </a:solidFill>
            <a:prstDash val="solid"/>
          </a:ln>
        </p:spPr>
      </p:sp>
      <p:sp>
        <p:nvSpPr>
          <p:cNvPr id="89" name="dot_545"/>
          <p:cNvSpPr/>
          <p:nvPr/>
        </p:nvSpPr>
        <p:spPr>
          <a:xfrm>
            <a:off x="9875520" y="4805172"/>
            <a:ext cx="137160" cy="137160"/>
          </a:xfrm>
          <a:prstGeom prst="ellipse">
            <a:avLst/>
          </a:prstGeom>
          <a:solidFill>
            <a:schemeClr val="accent4"/>
          </a:solidFill>
          <a:ln w="15875">
            <a:solidFill>
              <a:schemeClr val="accent4"/>
            </a:solidFill>
            <a:prstDash val="solid"/>
          </a:ln>
        </p:spPr>
      </p:sp>
      <p:sp>
        <p:nvSpPr>
          <p:cNvPr id="90" name="txt_546"/>
          <p:cNvSpPr txBox="1"/>
          <p:nvPr/>
        </p:nvSpPr>
        <p:spPr>
          <a:xfrm>
            <a:off x="10122408" y="4590288"/>
            <a:ext cx="1417320" cy="566928"/>
          </a:xfrm>
          <a:prstGeom prst="rect">
            <a:avLst/>
          </a:prstGeom>
          <a:noFill/>
          <a:ln/>
        </p:spPr>
        <p:txBody>
          <a:bodyPr wrap="square" lIns="0" tIns="0" rIns="0" bIns="0" rtlCol="0" anchor="ctr"/>
          <a:lstStyle/>
          <a:p>
            <a:pPr indent="0" marL="0">
              <a:buNone/>
            </a:pPr>
            <a:r>
              <a:rPr lang="en-US" sz="1200" dirty="0">
                <a:solidFill>
                  <a:schemeClr val="tx1"/>
                </a:solidFill>
              </a:rPr>
              <a:t>Ontology and mappings as code</a:t>
            </a:r>
            <a:endParaRPr lang="en-US" sz="1200" dirty="0"/>
          </a:p>
        </p:txBody>
      </p:sp>
      <p:sp>
        <p:nvSpPr>
          <p:cNvPr id="91" name="txt_547"/>
          <p:cNvSpPr txBox="1"/>
          <p:nvPr/>
        </p:nvSpPr>
        <p:spPr>
          <a:xfrm>
            <a:off x="731520" y="5212080"/>
            <a:ext cx="2194560" cy="566928"/>
          </a:xfrm>
          <a:prstGeom prst="rect">
            <a:avLst/>
          </a:prstGeom>
          <a:noFill/>
          <a:ln/>
        </p:spPr>
        <p:txBody>
          <a:bodyPr wrap="square" lIns="0" tIns="0" rIns="0" bIns="0" rtlCol="0" anchor="ctr"/>
          <a:lstStyle/>
          <a:p>
            <a:pPr indent="0" marL="0">
              <a:buNone/>
            </a:pPr>
            <a:r>
              <a:rPr lang="en-US" sz="1500" b="1" dirty="0">
                <a:solidFill>
                  <a:schemeClr val="tx2"/>
                </a:solidFill>
              </a:rPr>
              <a:t>Delivery risk and skills</a:t>
            </a:r>
            <a:endParaRPr lang="en-US" sz="1500" dirty="0"/>
          </a:p>
        </p:txBody>
      </p:sp>
      <p:sp>
        <p:nvSpPr>
          <p:cNvPr id="92" name="dot_548"/>
          <p:cNvSpPr/>
          <p:nvPr/>
        </p:nvSpPr>
        <p:spPr>
          <a:xfrm>
            <a:off x="3063240" y="5426964"/>
            <a:ext cx="137160" cy="137160"/>
          </a:xfrm>
          <a:prstGeom prst="ellipse">
            <a:avLst/>
          </a:prstGeom>
          <a:solidFill>
            <a:schemeClr val="accent1"/>
          </a:solidFill>
          <a:ln w="15875">
            <a:solidFill>
              <a:schemeClr val="accent1"/>
            </a:solidFill>
            <a:prstDash val="solid"/>
          </a:ln>
        </p:spPr>
      </p:sp>
      <p:sp>
        <p:nvSpPr>
          <p:cNvPr id="93" name="dot_549"/>
          <p:cNvSpPr/>
          <p:nvPr/>
        </p:nvSpPr>
        <p:spPr>
          <a:xfrm>
            <a:off x="3246120" y="5426964"/>
            <a:ext cx="137160" cy="137160"/>
          </a:xfrm>
          <a:prstGeom prst="ellipse">
            <a:avLst/>
          </a:prstGeom>
          <a:solidFill>
            <a:schemeClr val="accent1"/>
          </a:solidFill>
          <a:ln w="15875">
            <a:solidFill>
              <a:schemeClr val="accent1"/>
            </a:solidFill>
            <a:prstDash val="solid"/>
          </a:ln>
        </p:spPr>
      </p:sp>
      <p:sp>
        <p:nvSpPr>
          <p:cNvPr id="94" name="dot_550"/>
          <p:cNvSpPr/>
          <p:nvPr/>
        </p:nvSpPr>
        <p:spPr>
          <a:xfrm>
            <a:off x="3429000" y="5426964"/>
            <a:ext cx="137160" cy="137160"/>
          </a:xfrm>
          <a:prstGeom prst="ellipse">
            <a:avLst/>
          </a:prstGeom>
          <a:solidFill>
            <a:schemeClr val="bg1"/>
          </a:solidFill>
          <a:ln w="15875">
            <a:solidFill>
              <a:schemeClr val="accent1"/>
            </a:solidFill>
            <a:prstDash val="solid"/>
          </a:ln>
        </p:spPr>
      </p:sp>
      <p:sp>
        <p:nvSpPr>
          <p:cNvPr id="95" name="txt_551"/>
          <p:cNvSpPr txBox="1"/>
          <p:nvPr/>
        </p:nvSpPr>
        <p:spPr>
          <a:xfrm>
            <a:off x="3675888" y="5212080"/>
            <a:ext cx="1417320" cy="566928"/>
          </a:xfrm>
          <a:prstGeom prst="rect">
            <a:avLst/>
          </a:prstGeom>
          <a:noFill/>
          <a:ln/>
        </p:spPr>
        <p:txBody>
          <a:bodyPr wrap="square" lIns="0" tIns="0" rIns="0" bIns="0" rtlCol="0" anchor="ctr"/>
          <a:lstStyle/>
          <a:p>
            <a:pPr indent="0" marL="0">
              <a:buNone/>
            </a:pPr>
            <a:r>
              <a:rPr lang="en-US" sz="1200" dirty="0">
                <a:solidFill>
                  <a:schemeClr val="tx1"/>
                </a:solidFill>
              </a:rPr>
              <a:t>Preview; low skill bar</a:t>
            </a:r>
            <a:endParaRPr lang="en-US" sz="1200" dirty="0"/>
          </a:p>
        </p:txBody>
      </p:sp>
      <p:sp>
        <p:nvSpPr>
          <p:cNvPr id="96" name="dot_552"/>
          <p:cNvSpPr/>
          <p:nvPr/>
        </p:nvSpPr>
        <p:spPr>
          <a:xfrm>
            <a:off x="5212080" y="5426964"/>
            <a:ext cx="137160" cy="137160"/>
          </a:xfrm>
          <a:prstGeom prst="ellipse">
            <a:avLst/>
          </a:prstGeom>
          <a:solidFill>
            <a:schemeClr val="accent2"/>
          </a:solidFill>
          <a:ln w="15875">
            <a:solidFill>
              <a:schemeClr val="accent2"/>
            </a:solidFill>
            <a:prstDash val="solid"/>
          </a:ln>
        </p:spPr>
      </p:sp>
      <p:sp>
        <p:nvSpPr>
          <p:cNvPr id="97" name="dot_553"/>
          <p:cNvSpPr/>
          <p:nvPr/>
        </p:nvSpPr>
        <p:spPr>
          <a:xfrm>
            <a:off x="5394960" y="5426964"/>
            <a:ext cx="137160" cy="137160"/>
          </a:xfrm>
          <a:prstGeom prst="ellipse">
            <a:avLst/>
          </a:prstGeom>
          <a:solidFill>
            <a:schemeClr val="accent2"/>
          </a:solidFill>
          <a:ln w="15875">
            <a:solidFill>
              <a:schemeClr val="accent2"/>
            </a:solidFill>
            <a:prstDash val="solid"/>
          </a:ln>
        </p:spPr>
      </p:sp>
      <p:sp>
        <p:nvSpPr>
          <p:cNvPr id="98" name="dot_554"/>
          <p:cNvSpPr/>
          <p:nvPr/>
        </p:nvSpPr>
        <p:spPr>
          <a:xfrm>
            <a:off x="5577840" y="5426964"/>
            <a:ext cx="137160" cy="137160"/>
          </a:xfrm>
          <a:prstGeom prst="ellipse">
            <a:avLst/>
          </a:prstGeom>
          <a:solidFill>
            <a:schemeClr val="bg1"/>
          </a:solidFill>
          <a:ln w="15875">
            <a:solidFill>
              <a:schemeClr val="accent2"/>
            </a:solidFill>
            <a:prstDash val="solid"/>
          </a:ln>
        </p:spPr>
      </p:sp>
      <p:sp>
        <p:nvSpPr>
          <p:cNvPr id="99" name="txt_555"/>
          <p:cNvSpPr txBox="1"/>
          <p:nvPr/>
        </p:nvSpPr>
        <p:spPr>
          <a:xfrm>
            <a:off x="5824728" y="5212080"/>
            <a:ext cx="1417320" cy="566928"/>
          </a:xfrm>
          <a:prstGeom prst="rect">
            <a:avLst/>
          </a:prstGeom>
          <a:noFill/>
          <a:ln/>
        </p:spPr>
        <p:txBody>
          <a:bodyPr wrap="square" lIns="0" tIns="0" rIns="0" bIns="0" rtlCol="0" anchor="ctr"/>
          <a:lstStyle/>
          <a:p>
            <a:pPr indent="0" marL="0">
              <a:buNone/>
            </a:pPr>
            <a:r>
              <a:rPr lang="en-US" sz="1200" dirty="0">
                <a:solidFill>
                  <a:schemeClr val="tx1"/>
                </a:solidFill>
              </a:rPr>
              <a:t>Accelerator; review effort</a:t>
            </a:r>
            <a:endParaRPr lang="en-US" sz="1200" dirty="0"/>
          </a:p>
        </p:txBody>
      </p:sp>
      <p:sp>
        <p:nvSpPr>
          <p:cNvPr id="100" name="dot_556"/>
          <p:cNvSpPr/>
          <p:nvPr/>
        </p:nvSpPr>
        <p:spPr>
          <a:xfrm>
            <a:off x="7360920" y="5426964"/>
            <a:ext cx="137160" cy="137160"/>
          </a:xfrm>
          <a:prstGeom prst="ellipse">
            <a:avLst/>
          </a:prstGeom>
          <a:solidFill>
            <a:schemeClr val="accent3"/>
          </a:solidFill>
          <a:ln w="15875">
            <a:solidFill>
              <a:schemeClr val="accent3"/>
            </a:solidFill>
            <a:prstDash val="solid"/>
          </a:ln>
        </p:spPr>
      </p:sp>
      <p:sp>
        <p:nvSpPr>
          <p:cNvPr id="101" name="dot_557"/>
          <p:cNvSpPr/>
          <p:nvPr/>
        </p:nvSpPr>
        <p:spPr>
          <a:xfrm>
            <a:off x="7543800" y="5426964"/>
            <a:ext cx="137160" cy="137160"/>
          </a:xfrm>
          <a:prstGeom prst="ellipse">
            <a:avLst/>
          </a:prstGeom>
          <a:solidFill>
            <a:schemeClr val="bg1"/>
          </a:solidFill>
          <a:ln w="15875">
            <a:solidFill>
              <a:schemeClr val="accent3"/>
            </a:solidFill>
            <a:prstDash val="solid"/>
          </a:ln>
        </p:spPr>
      </p:sp>
      <p:sp>
        <p:nvSpPr>
          <p:cNvPr id="102" name="dot_558"/>
          <p:cNvSpPr/>
          <p:nvPr/>
        </p:nvSpPr>
        <p:spPr>
          <a:xfrm>
            <a:off x="7726680" y="5426964"/>
            <a:ext cx="137160" cy="137160"/>
          </a:xfrm>
          <a:prstGeom prst="ellipse">
            <a:avLst/>
          </a:prstGeom>
          <a:solidFill>
            <a:schemeClr val="bg1"/>
          </a:solidFill>
          <a:ln w="15875">
            <a:solidFill>
              <a:schemeClr val="accent3"/>
            </a:solidFill>
            <a:prstDash val="solid"/>
          </a:ln>
        </p:spPr>
      </p:sp>
      <p:sp>
        <p:nvSpPr>
          <p:cNvPr id="103" name="txt_559"/>
          <p:cNvSpPr txBox="1"/>
          <p:nvPr/>
        </p:nvSpPr>
        <p:spPr>
          <a:xfrm>
            <a:off x="7973568" y="5212080"/>
            <a:ext cx="1417320" cy="566928"/>
          </a:xfrm>
          <a:prstGeom prst="rect">
            <a:avLst/>
          </a:prstGeom>
          <a:noFill/>
          <a:ln/>
        </p:spPr>
        <p:txBody>
          <a:bodyPr wrap="square" lIns="0" tIns="0" rIns="0" bIns="0" rtlCol="0" anchor="ctr"/>
          <a:lstStyle/>
          <a:p>
            <a:pPr indent="0" marL="0">
              <a:buNone/>
            </a:pPr>
            <a:r>
              <a:rPr lang="en-US" sz="1200" dirty="0">
                <a:solidFill>
                  <a:schemeClr val="tx1"/>
                </a:solidFill>
              </a:rPr>
              <a:t>Labs, no SLA</a:t>
            </a:r>
            <a:endParaRPr lang="en-US" sz="1200" dirty="0"/>
          </a:p>
        </p:txBody>
      </p:sp>
      <p:sp>
        <p:nvSpPr>
          <p:cNvPr id="104" name="dot_560"/>
          <p:cNvSpPr/>
          <p:nvPr/>
        </p:nvSpPr>
        <p:spPr>
          <a:xfrm>
            <a:off x="9509760" y="5426964"/>
            <a:ext cx="137160" cy="137160"/>
          </a:xfrm>
          <a:prstGeom prst="ellipse">
            <a:avLst/>
          </a:prstGeom>
          <a:solidFill>
            <a:schemeClr val="accent4"/>
          </a:solidFill>
          <a:ln w="15875">
            <a:solidFill>
              <a:schemeClr val="accent4"/>
            </a:solidFill>
            <a:prstDash val="solid"/>
          </a:ln>
        </p:spPr>
      </p:sp>
      <p:sp>
        <p:nvSpPr>
          <p:cNvPr id="105" name="dot_561"/>
          <p:cNvSpPr/>
          <p:nvPr/>
        </p:nvSpPr>
        <p:spPr>
          <a:xfrm>
            <a:off x="9692640" y="5426964"/>
            <a:ext cx="137160" cy="137160"/>
          </a:xfrm>
          <a:prstGeom prst="ellipse">
            <a:avLst/>
          </a:prstGeom>
          <a:solidFill>
            <a:schemeClr val="accent4"/>
          </a:solidFill>
          <a:ln w="15875">
            <a:solidFill>
              <a:schemeClr val="accent4"/>
            </a:solidFill>
            <a:prstDash val="solid"/>
          </a:ln>
        </p:spPr>
      </p:sp>
      <p:sp>
        <p:nvSpPr>
          <p:cNvPr id="106" name="dot_562"/>
          <p:cNvSpPr/>
          <p:nvPr/>
        </p:nvSpPr>
        <p:spPr>
          <a:xfrm>
            <a:off x="9875520" y="5426964"/>
            <a:ext cx="137160" cy="137160"/>
          </a:xfrm>
          <a:prstGeom prst="ellipse">
            <a:avLst/>
          </a:prstGeom>
          <a:solidFill>
            <a:schemeClr val="bg1"/>
          </a:solidFill>
          <a:ln w="15875">
            <a:solidFill>
              <a:schemeClr val="accent4"/>
            </a:solidFill>
            <a:prstDash val="solid"/>
          </a:ln>
        </p:spPr>
      </p:sp>
      <p:sp>
        <p:nvSpPr>
          <p:cNvPr id="107" name="txt_563"/>
          <p:cNvSpPr txBox="1"/>
          <p:nvPr/>
        </p:nvSpPr>
        <p:spPr>
          <a:xfrm>
            <a:off x="10122408" y="5212080"/>
            <a:ext cx="1417320" cy="566928"/>
          </a:xfrm>
          <a:prstGeom prst="rect">
            <a:avLst/>
          </a:prstGeom>
          <a:noFill/>
          <a:ln/>
        </p:spPr>
        <p:txBody>
          <a:bodyPr wrap="square" lIns="0" tIns="0" rIns="0" bIns="0" rtlCol="0" anchor="ctr"/>
          <a:lstStyle/>
          <a:p>
            <a:pPr indent="0" marL="0">
              <a:buNone/>
            </a:pPr>
            <a:r>
              <a:rPr lang="en-US" sz="1200" dirty="0">
                <a:solidFill>
                  <a:schemeClr val="tx1"/>
                </a:solidFill>
              </a:rPr>
              <a:t>Mature OSS; OWL skills</a:t>
            </a:r>
            <a:endParaRPr lang="en-US" sz="1200" dirty="0"/>
          </a:p>
        </p:txBody>
      </p:sp>
      <p:sp>
        <p:nvSpPr>
          <p:cNvPr id="108" name="txt_564"/>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Three filled dots = strong fit, two = partial, one = weak. More dots is always better for us, including on risk.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Where to start, by priority</a:t>
            </a:r>
            <a:endParaRPr lang="en-US" sz="3600" dirty="0"/>
          </a:p>
        </p:txBody>
      </p:sp>
      <p:sp>
        <p:nvSpPr>
          <p:cNvPr id="3" name="card_565"/>
          <p:cNvSpPr/>
          <p:nvPr/>
        </p:nvSpPr>
        <p:spPr>
          <a:xfrm>
            <a:off x="548640" y="1417320"/>
            <a:ext cx="6675120" cy="886968"/>
          </a:xfrm>
          <a:prstGeom prst="roundRect">
            <a:avLst>
              <a:gd name="adj" fmla="val 8247"/>
            </a:avLst>
          </a:prstGeom>
          <a:solidFill>
            <a:schemeClr val="bg2"/>
          </a:solidFill>
          <a:ln w="12700">
            <a:solidFill>
              <a:schemeClr val="bg2"/>
            </a:solidFill>
            <a:prstDash val="solid"/>
          </a:ln>
        </p:spPr>
      </p:sp>
      <p:sp>
        <p:nvSpPr>
          <p:cNvPr id="4" name="txt_566"/>
          <p:cNvSpPr txBox="1"/>
          <p:nvPr/>
        </p:nvSpPr>
        <p:spPr>
          <a:xfrm>
            <a:off x="777240" y="1417320"/>
            <a:ext cx="365760" cy="886968"/>
          </a:xfrm>
          <a:prstGeom prst="rect">
            <a:avLst/>
          </a:prstGeom>
          <a:noFill/>
          <a:ln/>
        </p:spPr>
        <p:txBody>
          <a:bodyPr wrap="square" lIns="0" tIns="0" rIns="0" bIns="0" rtlCol="0" anchor="ctr"/>
          <a:lstStyle/>
          <a:p>
            <a:pPr indent="0" marL="0">
              <a:buNone/>
            </a:pPr>
            <a:r>
              <a:rPr lang="en-US" sz="1200" b="1" spc="100" kern="0" dirty="0">
                <a:solidFill>
                  <a:schemeClr val="accent6"/>
                </a:solidFill>
              </a:rPr>
              <a:t>IF</a:t>
            </a:r>
            <a:endParaRPr lang="en-US" sz="1200" dirty="0"/>
          </a:p>
        </p:txBody>
      </p:sp>
      <p:sp>
        <p:nvSpPr>
          <p:cNvPr id="5" name="txt_567"/>
          <p:cNvSpPr txBox="1"/>
          <p:nvPr/>
        </p:nvSpPr>
        <p:spPr>
          <a:xfrm>
            <a:off x="1188720" y="1417320"/>
            <a:ext cx="5897880" cy="886968"/>
          </a:xfrm>
          <a:prstGeom prst="rect">
            <a:avLst/>
          </a:prstGeom>
          <a:noFill/>
          <a:ln/>
        </p:spPr>
        <p:txBody>
          <a:bodyPr wrap="square" lIns="0" tIns="0" rIns="0" bIns="0" rtlCol="0" anchor="ctr"/>
          <a:lstStyle/>
          <a:p>
            <a:pPr indent="0" marL="0">
              <a:buNone/>
            </a:pPr>
            <a:r>
              <a:rPr lang="en-US" sz="1500" dirty="0">
                <a:solidFill>
                  <a:schemeClr val="tx1"/>
                </a:solidFill>
              </a:rPr>
              <a:t>Business users need trustworthy answers in natural language, under our existing ABAC policies</a:t>
            </a:r>
            <a:endParaRPr lang="en-US" sz="1500" dirty="0"/>
          </a:p>
        </p:txBody>
      </p:sp>
      <p:sp>
        <p:nvSpPr>
          <p:cNvPr id="6" name="arrow_568"/>
          <p:cNvSpPr/>
          <p:nvPr/>
        </p:nvSpPr>
        <p:spPr>
          <a:xfrm>
            <a:off x="7406640" y="1691640"/>
            <a:ext cx="502920" cy="338328"/>
          </a:xfrm>
          <a:prstGeom prst="rightArrow">
            <a:avLst/>
          </a:prstGeom>
          <a:solidFill>
            <a:schemeClr val="accent6"/>
          </a:solidFill>
          <a:ln w="12700">
            <a:solidFill>
              <a:schemeClr val="accent6"/>
            </a:solidFill>
            <a:prstDash val="solid"/>
          </a:ln>
        </p:spPr>
      </p:sp>
      <p:sp>
        <p:nvSpPr>
          <p:cNvPr id="7" name="node_569"/>
          <p:cNvSpPr/>
          <p:nvPr/>
        </p:nvSpPr>
        <p:spPr>
          <a:xfrm>
            <a:off x="8138160" y="1563624"/>
            <a:ext cx="594360" cy="594360"/>
          </a:xfrm>
          <a:prstGeom prst="ellipse">
            <a:avLst/>
          </a:prstGeom>
          <a:solidFill>
            <a:schemeClr val="accent1"/>
          </a:solidFill>
          <a:ln w="12700">
            <a:solidFill>
              <a:schemeClr val="accent1"/>
            </a:solidFill>
            <a:prstDash val="solid"/>
          </a:ln>
        </p:spPr>
      </p:sp>
      <p:pic>
        <p:nvPicPr>
          <p:cNvPr id="8" name="icon_570" descr="preencoded.png">    </p:cNvPr>
          <p:cNvPicPr>
            <a:picLocks noChangeAspect="1"/>
          </p:cNvPicPr>
          <p:nvPr/>
        </p:nvPicPr>
        <p:blipFill>
          <a:blip r:embed="rId1"/>
          <a:stretch>
            <a:fillRect/>
          </a:stretch>
        </p:blipFill>
        <p:spPr>
          <a:xfrm>
            <a:off x="8280806" y="1706270"/>
            <a:ext cx="309067" cy="309067"/>
          </a:xfrm>
          <a:prstGeom prst="rect">
            <a:avLst/>
          </a:prstGeom>
        </p:spPr>
      </p:pic>
      <p:sp>
        <p:nvSpPr>
          <p:cNvPr id="9" name="start_571"/>
          <p:cNvSpPr txBox="1"/>
          <p:nvPr/>
        </p:nvSpPr>
        <p:spPr>
          <a:xfrm>
            <a:off x="8915400" y="1417320"/>
            <a:ext cx="2697480" cy="886968"/>
          </a:xfrm>
          <a:prstGeom prst="rect">
            <a:avLst/>
          </a:prstGeom>
          <a:noFill/>
          <a:ln/>
        </p:spPr>
        <p:txBody>
          <a:bodyPr wrap="square" lIns="0" tIns="0" rIns="0" bIns="0" rtlCol="0" anchor="ctr"/>
          <a:lstStyle/>
          <a:p>
            <a:pPr indent="0" marL="0">
              <a:buNone/>
            </a:pPr>
            <a:r>
              <a:rPr lang="en-US" sz="1600" b="1" dirty="0">
                <a:solidFill>
                  <a:schemeClr val="tx2"/>
                </a:solidFill>
              </a:rPr>
              <a:t>Start with Genie Ontology</a:t>
            </a:r>
            <a:endParaRPr lang="en-US" sz="1600" dirty="0"/>
          </a:p>
          <a:p>
            <a:pPr indent="0" marL="0">
              <a:buNone/>
            </a:pPr>
            <a:r>
              <a:rPr lang="en-US" sz="1300" dirty="0">
                <a:solidFill>
                  <a:schemeClr val="accent6"/>
                </a:solidFill>
              </a:rPr>
              <a:t>Curate UC semantics first</a:t>
            </a:r>
            <a:endParaRPr lang="en-US" sz="1600" dirty="0"/>
          </a:p>
        </p:txBody>
      </p:sp>
      <p:sp>
        <p:nvSpPr>
          <p:cNvPr id="10" name="card_572"/>
          <p:cNvSpPr/>
          <p:nvPr/>
        </p:nvSpPr>
        <p:spPr>
          <a:xfrm>
            <a:off x="548640" y="2441448"/>
            <a:ext cx="6675120" cy="886968"/>
          </a:xfrm>
          <a:prstGeom prst="roundRect">
            <a:avLst>
              <a:gd name="adj" fmla="val 8247"/>
            </a:avLst>
          </a:prstGeom>
          <a:solidFill>
            <a:schemeClr val="bg2"/>
          </a:solidFill>
          <a:ln w="12700">
            <a:solidFill>
              <a:schemeClr val="bg2"/>
            </a:solidFill>
            <a:prstDash val="solid"/>
          </a:ln>
        </p:spPr>
      </p:sp>
      <p:sp>
        <p:nvSpPr>
          <p:cNvPr id="11" name="txt_573"/>
          <p:cNvSpPr txBox="1"/>
          <p:nvPr/>
        </p:nvSpPr>
        <p:spPr>
          <a:xfrm>
            <a:off x="777240" y="2441448"/>
            <a:ext cx="365760" cy="886968"/>
          </a:xfrm>
          <a:prstGeom prst="rect">
            <a:avLst/>
          </a:prstGeom>
          <a:noFill/>
          <a:ln/>
        </p:spPr>
        <p:txBody>
          <a:bodyPr wrap="square" lIns="0" tIns="0" rIns="0" bIns="0" rtlCol="0" anchor="ctr"/>
          <a:lstStyle/>
          <a:p>
            <a:pPr indent="0" marL="0">
              <a:buNone/>
            </a:pPr>
            <a:r>
              <a:rPr lang="en-US" sz="1200" b="1" spc="100" kern="0" dirty="0">
                <a:solidFill>
                  <a:schemeClr val="accent6"/>
                </a:solidFill>
              </a:rPr>
              <a:t>IF</a:t>
            </a:r>
            <a:endParaRPr lang="en-US" sz="1200" dirty="0"/>
          </a:p>
        </p:txBody>
      </p:sp>
      <p:sp>
        <p:nvSpPr>
          <p:cNvPr id="12" name="txt_574"/>
          <p:cNvSpPr txBox="1"/>
          <p:nvPr/>
        </p:nvSpPr>
        <p:spPr>
          <a:xfrm>
            <a:off x="1188720" y="2441448"/>
            <a:ext cx="5897880" cy="886968"/>
          </a:xfrm>
          <a:prstGeom prst="rect">
            <a:avLst/>
          </a:prstGeom>
          <a:noFill/>
          <a:ln/>
        </p:spPr>
        <p:txBody>
          <a:bodyPr wrap="square" lIns="0" tIns="0" rIns="0" bIns="0" rtlCol="0" anchor="ctr"/>
          <a:lstStyle/>
          <a:p>
            <a:pPr indent="0" marL="0">
              <a:buNone/>
            </a:pPr>
            <a:r>
              <a:rPr lang="en-US" sz="1500" dirty="0">
                <a:solidFill>
                  <a:schemeClr val="tx1"/>
                </a:solidFill>
              </a:rPr>
              <a:t>Thousands of tables need descriptions, PHI tags and FHIR or OMOP bindings, quickly</a:t>
            </a:r>
            <a:endParaRPr lang="en-US" sz="1500" dirty="0"/>
          </a:p>
        </p:txBody>
      </p:sp>
      <p:sp>
        <p:nvSpPr>
          <p:cNvPr id="13" name="arrow_575"/>
          <p:cNvSpPr/>
          <p:nvPr/>
        </p:nvSpPr>
        <p:spPr>
          <a:xfrm>
            <a:off x="7406640" y="2715768"/>
            <a:ext cx="502920" cy="338328"/>
          </a:xfrm>
          <a:prstGeom prst="rightArrow">
            <a:avLst/>
          </a:prstGeom>
          <a:solidFill>
            <a:schemeClr val="accent6"/>
          </a:solidFill>
          <a:ln w="12700">
            <a:solidFill>
              <a:schemeClr val="accent6"/>
            </a:solidFill>
            <a:prstDash val="solid"/>
          </a:ln>
        </p:spPr>
      </p:sp>
      <p:sp>
        <p:nvSpPr>
          <p:cNvPr id="14" name="node_576"/>
          <p:cNvSpPr/>
          <p:nvPr/>
        </p:nvSpPr>
        <p:spPr>
          <a:xfrm>
            <a:off x="8138160" y="2587752"/>
            <a:ext cx="594360" cy="594360"/>
          </a:xfrm>
          <a:prstGeom prst="ellipse">
            <a:avLst/>
          </a:prstGeom>
          <a:solidFill>
            <a:schemeClr val="accent2"/>
          </a:solidFill>
          <a:ln w="12700">
            <a:solidFill>
              <a:schemeClr val="accent2"/>
            </a:solidFill>
            <a:prstDash val="solid"/>
          </a:ln>
        </p:spPr>
      </p:sp>
      <p:pic>
        <p:nvPicPr>
          <p:cNvPr id="15" name="icon_577" descr="preencoded.png">    </p:cNvPr>
          <p:cNvPicPr>
            <a:picLocks noChangeAspect="1"/>
          </p:cNvPicPr>
          <p:nvPr/>
        </p:nvPicPr>
        <p:blipFill>
          <a:blip r:embed="rId2"/>
          <a:stretch>
            <a:fillRect/>
          </a:stretch>
        </p:blipFill>
        <p:spPr>
          <a:xfrm>
            <a:off x="8280806" y="2730398"/>
            <a:ext cx="309067" cy="309067"/>
          </a:xfrm>
          <a:prstGeom prst="rect">
            <a:avLst/>
          </a:prstGeom>
        </p:spPr>
      </p:pic>
      <p:sp>
        <p:nvSpPr>
          <p:cNvPr id="16" name="start_578"/>
          <p:cNvSpPr txBox="1"/>
          <p:nvPr/>
        </p:nvSpPr>
        <p:spPr>
          <a:xfrm>
            <a:off x="8915400" y="2441448"/>
            <a:ext cx="2697480" cy="886968"/>
          </a:xfrm>
          <a:prstGeom prst="rect">
            <a:avLst/>
          </a:prstGeom>
          <a:noFill/>
          <a:ln/>
        </p:spPr>
        <p:txBody>
          <a:bodyPr wrap="square" lIns="0" tIns="0" rIns="0" bIns="0" rtlCol="0" anchor="ctr"/>
          <a:lstStyle/>
          <a:p>
            <a:pPr indent="0" marL="0">
              <a:buNone/>
            </a:pPr>
            <a:r>
              <a:rPr lang="en-US" sz="1600" b="1" dirty="0">
                <a:solidFill>
                  <a:schemeClr val="tx2"/>
                </a:solidFill>
              </a:rPr>
              <a:t>Start with dbxmetagen</a:t>
            </a:r>
            <a:endParaRPr lang="en-US" sz="1600" dirty="0"/>
          </a:p>
          <a:p>
            <a:pPr indent="0" marL="0">
              <a:buNone/>
            </a:pPr>
            <a:r>
              <a:rPr lang="en-US" sz="1300" dirty="0">
                <a:solidFill>
                  <a:schemeClr val="accent6"/>
                </a:solidFill>
              </a:rPr>
              <a:t>Review, then write back to UC</a:t>
            </a:r>
            <a:endParaRPr lang="en-US" sz="1600" dirty="0"/>
          </a:p>
        </p:txBody>
      </p:sp>
      <p:sp>
        <p:nvSpPr>
          <p:cNvPr id="17" name="card_579"/>
          <p:cNvSpPr/>
          <p:nvPr/>
        </p:nvSpPr>
        <p:spPr>
          <a:xfrm>
            <a:off x="548640" y="3465576"/>
            <a:ext cx="6675120" cy="886968"/>
          </a:xfrm>
          <a:prstGeom prst="roundRect">
            <a:avLst>
              <a:gd name="adj" fmla="val 8247"/>
            </a:avLst>
          </a:prstGeom>
          <a:solidFill>
            <a:schemeClr val="bg2"/>
          </a:solidFill>
          <a:ln w="12700">
            <a:solidFill>
              <a:schemeClr val="bg2"/>
            </a:solidFill>
            <a:prstDash val="solid"/>
          </a:ln>
        </p:spPr>
      </p:sp>
      <p:sp>
        <p:nvSpPr>
          <p:cNvPr id="18" name="txt_580"/>
          <p:cNvSpPr txBox="1"/>
          <p:nvPr/>
        </p:nvSpPr>
        <p:spPr>
          <a:xfrm>
            <a:off x="777240" y="3465576"/>
            <a:ext cx="365760" cy="886968"/>
          </a:xfrm>
          <a:prstGeom prst="rect">
            <a:avLst/>
          </a:prstGeom>
          <a:noFill/>
          <a:ln/>
        </p:spPr>
        <p:txBody>
          <a:bodyPr wrap="square" lIns="0" tIns="0" rIns="0" bIns="0" rtlCol="0" anchor="ctr"/>
          <a:lstStyle/>
          <a:p>
            <a:pPr indent="0" marL="0">
              <a:buNone/>
            </a:pPr>
            <a:r>
              <a:rPr lang="en-US" sz="1200" b="1" spc="100" kern="0" dirty="0">
                <a:solidFill>
                  <a:schemeClr val="accent6"/>
                </a:solidFill>
              </a:rPr>
              <a:t>IF</a:t>
            </a:r>
            <a:endParaRPr lang="en-US" sz="1200" dirty="0"/>
          </a:p>
        </p:txBody>
      </p:sp>
      <p:sp>
        <p:nvSpPr>
          <p:cNvPr id="19" name="txt_581"/>
          <p:cNvSpPr txBox="1"/>
          <p:nvPr/>
        </p:nvSpPr>
        <p:spPr>
          <a:xfrm>
            <a:off x="1188720" y="3465576"/>
            <a:ext cx="5897880" cy="886968"/>
          </a:xfrm>
          <a:prstGeom prst="rect">
            <a:avLst/>
          </a:prstGeom>
          <a:noFill/>
          <a:ln/>
        </p:spPr>
        <p:txBody>
          <a:bodyPr wrap="square" lIns="0" tIns="0" rIns="0" bIns="0" rtlCol="0" anchor="ctr"/>
          <a:lstStyle/>
          <a:p>
            <a:pPr indent="0" marL="0">
              <a:buNone/>
            </a:pPr>
            <a:r>
              <a:rPr lang="en-US" sz="1500" dirty="0">
                <a:solidFill>
                  <a:schemeClr val="tx1"/>
                </a:solidFill>
              </a:rPr>
              <a:t>A bounded domain needs a formal model, rules and validation (e.g. CDISC SDTM, ADaM), and a governed copy is acceptable</a:t>
            </a:r>
            <a:endParaRPr lang="en-US" sz="1500" dirty="0"/>
          </a:p>
        </p:txBody>
      </p:sp>
      <p:sp>
        <p:nvSpPr>
          <p:cNvPr id="20" name="arrow_582"/>
          <p:cNvSpPr/>
          <p:nvPr/>
        </p:nvSpPr>
        <p:spPr>
          <a:xfrm>
            <a:off x="7406640" y="3739896"/>
            <a:ext cx="502920" cy="338328"/>
          </a:xfrm>
          <a:prstGeom prst="rightArrow">
            <a:avLst/>
          </a:prstGeom>
          <a:solidFill>
            <a:schemeClr val="accent6"/>
          </a:solidFill>
          <a:ln w="12700">
            <a:solidFill>
              <a:schemeClr val="accent6"/>
            </a:solidFill>
            <a:prstDash val="solid"/>
          </a:ln>
        </p:spPr>
      </p:sp>
      <p:sp>
        <p:nvSpPr>
          <p:cNvPr id="21" name="node_583"/>
          <p:cNvSpPr/>
          <p:nvPr/>
        </p:nvSpPr>
        <p:spPr>
          <a:xfrm>
            <a:off x="8138160" y="3611880"/>
            <a:ext cx="594360" cy="594360"/>
          </a:xfrm>
          <a:prstGeom prst="ellipse">
            <a:avLst/>
          </a:prstGeom>
          <a:solidFill>
            <a:schemeClr val="accent3"/>
          </a:solidFill>
          <a:ln w="12700">
            <a:solidFill>
              <a:schemeClr val="accent3"/>
            </a:solidFill>
            <a:prstDash val="solid"/>
          </a:ln>
        </p:spPr>
      </p:sp>
      <p:pic>
        <p:nvPicPr>
          <p:cNvPr id="22" name="icon_584" descr="preencoded.png">    </p:cNvPr>
          <p:cNvPicPr>
            <a:picLocks noChangeAspect="1"/>
          </p:cNvPicPr>
          <p:nvPr/>
        </p:nvPicPr>
        <p:blipFill>
          <a:blip r:embed="rId3"/>
          <a:stretch>
            <a:fillRect/>
          </a:stretch>
        </p:blipFill>
        <p:spPr>
          <a:xfrm>
            <a:off x="8280806" y="3754526"/>
            <a:ext cx="309067" cy="309067"/>
          </a:xfrm>
          <a:prstGeom prst="rect">
            <a:avLst/>
          </a:prstGeom>
        </p:spPr>
      </p:pic>
      <p:sp>
        <p:nvSpPr>
          <p:cNvPr id="23" name="start_585"/>
          <p:cNvSpPr txBox="1"/>
          <p:nvPr/>
        </p:nvSpPr>
        <p:spPr>
          <a:xfrm>
            <a:off x="8915400" y="3465576"/>
            <a:ext cx="2697480" cy="886968"/>
          </a:xfrm>
          <a:prstGeom prst="rect">
            <a:avLst/>
          </a:prstGeom>
          <a:noFill/>
          <a:ln/>
        </p:spPr>
        <p:txBody>
          <a:bodyPr wrap="square" lIns="0" tIns="0" rIns="0" bIns="0" rtlCol="0" anchor="ctr"/>
          <a:lstStyle/>
          <a:p>
            <a:pPr indent="0" marL="0">
              <a:buNone/>
            </a:pPr>
            <a:r>
              <a:rPr lang="en-US" sz="1600" b="1" dirty="0">
                <a:solidFill>
                  <a:schemeClr val="tx2"/>
                </a:solidFill>
              </a:rPr>
              <a:t>Start with OntoBricks</a:t>
            </a:r>
            <a:endParaRPr lang="en-US" sz="1600" dirty="0"/>
          </a:p>
          <a:p>
            <a:pPr indent="0" marL="0">
              <a:buNone/>
            </a:pPr>
            <a:r>
              <a:rPr lang="en-US" sz="1300" dirty="0">
                <a:solidFill>
                  <a:schemeClr val="accent6"/>
                </a:solidFill>
              </a:rPr>
              <a:t>Scope the graph by sensitivity</a:t>
            </a:r>
            <a:endParaRPr lang="en-US" sz="1600" dirty="0"/>
          </a:p>
        </p:txBody>
      </p:sp>
      <p:sp>
        <p:nvSpPr>
          <p:cNvPr id="24" name="card_586"/>
          <p:cNvSpPr/>
          <p:nvPr/>
        </p:nvSpPr>
        <p:spPr>
          <a:xfrm>
            <a:off x="548640" y="4489704"/>
            <a:ext cx="6675120" cy="886968"/>
          </a:xfrm>
          <a:prstGeom prst="roundRect">
            <a:avLst>
              <a:gd name="adj" fmla="val 8247"/>
            </a:avLst>
          </a:prstGeom>
          <a:solidFill>
            <a:schemeClr val="bg2"/>
          </a:solidFill>
          <a:ln w="12700">
            <a:solidFill>
              <a:schemeClr val="bg2"/>
            </a:solidFill>
            <a:prstDash val="solid"/>
          </a:ln>
        </p:spPr>
      </p:sp>
      <p:sp>
        <p:nvSpPr>
          <p:cNvPr id="25" name="txt_587"/>
          <p:cNvSpPr txBox="1"/>
          <p:nvPr/>
        </p:nvSpPr>
        <p:spPr>
          <a:xfrm>
            <a:off x="777240" y="4489704"/>
            <a:ext cx="365760" cy="886968"/>
          </a:xfrm>
          <a:prstGeom prst="rect">
            <a:avLst/>
          </a:prstGeom>
          <a:noFill/>
          <a:ln/>
        </p:spPr>
        <p:txBody>
          <a:bodyPr wrap="square" lIns="0" tIns="0" rIns="0" bIns="0" rtlCol="0" anchor="ctr"/>
          <a:lstStyle/>
          <a:p>
            <a:pPr indent="0" marL="0">
              <a:buNone/>
            </a:pPr>
            <a:r>
              <a:rPr lang="en-US" sz="1200" b="1" spc="100" kern="0" dirty="0">
                <a:solidFill>
                  <a:schemeClr val="accent6"/>
                </a:solidFill>
              </a:rPr>
              <a:t>IF</a:t>
            </a:r>
            <a:endParaRPr lang="en-US" sz="1200" dirty="0"/>
          </a:p>
        </p:txBody>
      </p:sp>
      <p:sp>
        <p:nvSpPr>
          <p:cNvPr id="26" name="txt_588"/>
          <p:cNvSpPr txBox="1"/>
          <p:nvPr/>
        </p:nvSpPr>
        <p:spPr>
          <a:xfrm>
            <a:off x="1188720" y="4489704"/>
            <a:ext cx="5897880" cy="886968"/>
          </a:xfrm>
          <a:prstGeom prst="rect">
            <a:avLst/>
          </a:prstGeom>
          <a:noFill/>
          <a:ln/>
        </p:spPr>
        <p:txBody>
          <a:bodyPr wrap="square" lIns="0" tIns="0" rIns="0" bIns="0" rtlCol="0" anchor="ctr"/>
          <a:lstStyle/>
          <a:p>
            <a:pPr indent="0" marL="0">
              <a:buNone/>
            </a:pPr>
            <a:r>
              <a:rPr lang="en-US" sz="1500" dirty="0">
                <a:solidFill>
                  <a:schemeClr val="tx1"/>
                </a:solidFill>
              </a:rPr>
              <a:t>We need SPARQL over live tables with no copies, and can control identity at the endpoint</a:t>
            </a:r>
            <a:endParaRPr lang="en-US" sz="1500" dirty="0"/>
          </a:p>
        </p:txBody>
      </p:sp>
      <p:sp>
        <p:nvSpPr>
          <p:cNvPr id="27" name="arrow_589"/>
          <p:cNvSpPr/>
          <p:nvPr/>
        </p:nvSpPr>
        <p:spPr>
          <a:xfrm>
            <a:off x="7406640" y="4764024"/>
            <a:ext cx="502920" cy="338328"/>
          </a:xfrm>
          <a:prstGeom prst="rightArrow">
            <a:avLst/>
          </a:prstGeom>
          <a:solidFill>
            <a:schemeClr val="accent6"/>
          </a:solidFill>
          <a:ln w="12700">
            <a:solidFill>
              <a:schemeClr val="accent6"/>
            </a:solidFill>
            <a:prstDash val="solid"/>
          </a:ln>
        </p:spPr>
      </p:sp>
      <p:sp>
        <p:nvSpPr>
          <p:cNvPr id="28" name="node_590"/>
          <p:cNvSpPr/>
          <p:nvPr/>
        </p:nvSpPr>
        <p:spPr>
          <a:xfrm>
            <a:off x="8138160" y="4636008"/>
            <a:ext cx="594360" cy="594360"/>
          </a:xfrm>
          <a:prstGeom prst="ellipse">
            <a:avLst/>
          </a:prstGeom>
          <a:solidFill>
            <a:schemeClr val="accent4"/>
          </a:solidFill>
          <a:ln w="12700">
            <a:solidFill>
              <a:schemeClr val="accent4"/>
            </a:solidFill>
            <a:prstDash val="solid"/>
          </a:ln>
        </p:spPr>
      </p:sp>
      <p:pic>
        <p:nvPicPr>
          <p:cNvPr id="29" name="icon_591" descr="preencoded.png">    </p:cNvPr>
          <p:cNvPicPr>
            <a:picLocks noChangeAspect="1"/>
          </p:cNvPicPr>
          <p:nvPr/>
        </p:nvPicPr>
        <p:blipFill>
          <a:blip r:embed="rId4"/>
          <a:stretch>
            <a:fillRect/>
          </a:stretch>
        </p:blipFill>
        <p:spPr>
          <a:xfrm>
            <a:off x="8280806" y="4778654"/>
            <a:ext cx="309067" cy="309067"/>
          </a:xfrm>
          <a:prstGeom prst="rect">
            <a:avLst/>
          </a:prstGeom>
        </p:spPr>
      </p:pic>
      <p:sp>
        <p:nvSpPr>
          <p:cNvPr id="30" name="start_592"/>
          <p:cNvSpPr txBox="1"/>
          <p:nvPr/>
        </p:nvSpPr>
        <p:spPr>
          <a:xfrm>
            <a:off x="8915400" y="4489704"/>
            <a:ext cx="2697480" cy="886968"/>
          </a:xfrm>
          <a:prstGeom prst="rect">
            <a:avLst/>
          </a:prstGeom>
          <a:noFill/>
          <a:ln/>
        </p:spPr>
        <p:txBody>
          <a:bodyPr wrap="square" lIns="0" tIns="0" rIns="0" bIns="0" rtlCol="0" anchor="ctr"/>
          <a:lstStyle/>
          <a:p>
            <a:pPr indent="0" marL="0">
              <a:buNone/>
            </a:pPr>
            <a:r>
              <a:rPr lang="en-US" sz="1600" b="1" dirty="0">
                <a:solidFill>
                  <a:schemeClr val="tx2"/>
                </a:solidFill>
              </a:rPr>
              <a:t>Start with Ontop</a:t>
            </a:r>
            <a:endParaRPr lang="en-US" sz="1600" dirty="0"/>
          </a:p>
          <a:p>
            <a:pPr indent="0" marL="0">
              <a:buNone/>
            </a:pPr>
            <a:r>
              <a:rPr lang="en-US" sz="1300" dirty="0">
                <a:solidFill>
                  <a:schemeClr val="accent6"/>
                </a:solidFill>
              </a:rPr>
              <a:t>One endpoint per role or dataset</a:t>
            </a:r>
            <a:endParaRPr lang="en-US" sz="1600" dirty="0"/>
          </a:p>
        </p:txBody>
      </p:sp>
      <p:sp>
        <p:nvSpPr>
          <p:cNvPr id="31" name="callout_593"/>
          <p:cNvSpPr/>
          <p:nvPr/>
        </p:nvSpPr>
        <p:spPr>
          <a:xfrm>
            <a:off x="548640" y="5577840"/>
            <a:ext cx="11064240" cy="594360"/>
          </a:xfrm>
          <a:prstGeom prst="roundRect">
            <a:avLst>
              <a:gd name="adj" fmla="val 12308"/>
            </a:avLst>
          </a:prstGeom>
          <a:solidFill>
            <a:schemeClr val="accent5">
              <a:alpha val="20000"/>
            </a:schemeClr>
          </a:solidFill>
          <a:ln w="12700">
            <a:solidFill>
              <a:schemeClr val="accent5"/>
            </a:solidFill>
            <a:prstDash val="solid"/>
          </a:ln>
        </p:spPr>
      </p:sp>
      <p:pic>
        <p:nvPicPr>
          <p:cNvPr id="32" name="icon_594" descr="preencoded.png">    </p:cNvPr>
          <p:cNvPicPr>
            <a:picLocks noChangeAspect="1"/>
          </p:cNvPicPr>
          <p:nvPr/>
        </p:nvPicPr>
        <p:blipFill>
          <a:blip r:embed="rId5"/>
          <a:stretch>
            <a:fillRect/>
          </a:stretch>
        </p:blipFill>
        <p:spPr>
          <a:xfrm>
            <a:off x="777240" y="5733288"/>
            <a:ext cx="274320" cy="274320"/>
          </a:xfrm>
          <a:prstGeom prst="rect">
            <a:avLst/>
          </a:prstGeom>
        </p:spPr>
      </p:pic>
      <p:sp>
        <p:nvSpPr>
          <p:cNvPr id="33" name="txt_595"/>
          <p:cNvSpPr txBox="1"/>
          <p:nvPr/>
        </p:nvSpPr>
        <p:spPr>
          <a:xfrm>
            <a:off x="1188720" y="5577840"/>
            <a:ext cx="10241280" cy="594360"/>
          </a:xfrm>
          <a:prstGeom prst="rect">
            <a:avLst/>
          </a:prstGeom>
          <a:noFill/>
          <a:ln/>
        </p:spPr>
        <p:txBody>
          <a:bodyPr wrap="square" lIns="0" tIns="0" rIns="0" bIns="0" rtlCol="0" anchor="ctr"/>
          <a:lstStyle/>
          <a:p>
            <a:pPr indent="0" marL="0">
              <a:buNone/>
            </a:pPr>
            <a:r>
              <a:rPr lang="en-US" sz="1500" b="1" dirty="0">
                <a:solidFill>
                  <a:schemeClr val="tx2"/>
                </a:solidFill>
              </a:rPr>
              <a:t>Need formal semantics, live data and per-user governance together? No single option does that today; combine layers.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Layers, not rivals</a:t>
            </a:r>
            <a:endParaRPr lang="en-US" sz="3600" dirty="0"/>
          </a:p>
        </p:txBody>
      </p:sp>
      <p:sp>
        <p:nvSpPr>
          <p:cNvPr id="3" name="card_596"/>
          <p:cNvSpPr/>
          <p:nvPr/>
        </p:nvSpPr>
        <p:spPr>
          <a:xfrm>
            <a:off x="548640" y="1417320"/>
            <a:ext cx="7223760" cy="960120"/>
          </a:xfrm>
          <a:prstGeom prst="roundRect">
            <a:avLst>
              <a:gd name="adj" fmla="val 7619"/>
            </a:avLst>
          </a:prstGeom>
          <a:solidFill>
            <a:schemeClr val="bg2"/>
          </a:solidFill>
          <a:ln w="12700">
            <a:solidFill>
              <a:schemeClr val="bg2"/>
            </a:solidFill>
            <a:prstDash val="solid"/>
          </a:ln>
        </p:spPr>
      </p:sp>
      <p:sp>
        <p:nvSpPr>
          <p:cNvPr id="4" name="node_597"/>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5" name="icon_598" descr="preencoded.png">    </p:cNvPr>
          <p:cNvPicPr>
            <a:picLocks noChangeAspect="1"/>
          </p:cNvPicPr>
          <p:nvPr/>
        </p:nvPicPr>
        <p:blipFill>
          <a:blip r:embed="rId1"/>
          <a:stretch>
            <a:fillRect/>
          </a:stretch>
        </p:blipFill>
        <p:spPr>
          <a:xfrm>
            <a:off x="908914" y="1750162"/>
            <a:ext cx="285293" cy="285293"/>
          </a:xfrm>
          <a:prstGeom prst="rect">
            <a:avLst/>
          </a:prstGeom>
        </p:spPr>
      </p:pic>
      <p:sp>
        <p:nvSpPr>
          <p:cNvPr id="6" name="txt_599"/>
          <p:cNvSpPr txBox="1"/>
          <p:nvPr/>
        </p:nvSpPr>
        <p:spPr>
          <a:xfrm>
            <a:off x="1554480" y="1536192"/>
            <a:ext cx="60350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CONSUME</a:t>
            </a:r>
            <a:endParaRPr lang="en-US" sz="1100" dirty="0"/>
          </a:p>
        </p:txBody>
      </p:sp>
      <p:sp>
        <p:nvSpPr>
          <p:cNvPr id="7" name="txt_600"/>
          <p:cNvSpPr txBox="1"/>
          <p:nvPr/>
        </p:nvSpPr>
        <p:spPr>
          <a:xfrm>
            <a:off x="1554480" y="1801368"/>
            <a:ext cx="6035040" cy="502920"/>
          </a:xfrm>
          <a:prstGeom prst="rect">
            <a:avLst/>
          </a:prstGeom>
          <a:noFill/>
          <a:ln/>
        </p:spPr>
        <p:txBody>
          <a:bodyPr wrap="square" lIns="0" tIns="0" rIns="0" bIns="0" rtlCol="0" anchor="t"/>
          <a:lstStyle/>
          <a:p>
            <a:pPr indent="0" marL="0">
              <a:buNone/>
            </a:pPr>
            <a:r>
              <a:rPr lang="en-US" sz="1400" dirty="0">
                <a:solidFill>
                  <a:schemeClr val="tx1"/>
                </a:solidFill>
              </a:rPr>
              <a:t>Genie One and Genie Agents answer in natural language, with each user's UC permissions.</a:t>
            </a:r>
            <a:endParaRPr lang="en-US" sz="1400" dirty="0"/>
          </a:p>
        </p:txBody>
      </p:sp>
      <p:sp>
        <p:nvSpPr>
          <p:cNvPr id="8" name="card_601"/>
          <p:cNvSpPr/>
          <p:nvPr/>
        </p:nvSpPr>
        <p:spPr>
          <a:xfrm>
            <a:off x="548640" y="2542032"/>
            <a:ext cx="7223760" cy="960120"/>
          </a:xfrm>
          <a:prstGeom prst="roundRect">
            <a:avLst>
              <a:gd name="adj" fmla="val 7619"/>
            </a:avLst>
          </a:prstGeom>
          <a:solidFill>
            <a:schemeClr val="bg2"/>
          </a:solidFill>
          <a:ln w="12700">
            <a:solidFill>
              <a:schemeClr val="bg2"/>
            </a:solidFill>
            <a:prstDash val="solid"/>
          </a:ln>
        </p:spPr>
      </p:sp>
      <p:sp>
        <p:nvSpPr>
          <p:cNvPr id="9" name="node_602"/>
          <p:cNvSpPr/>
          <p:nvPr/>
        </p:nvSpPr>
        <p:spPr>
          <a:xfrm>
            <a:off x="777240" y="2743200"/>
            <a:ext cx="548640" cy="548640"/>
          </a:xfrm>
          <a:prstGeom prst="ellipse">
            <a:avLst/>
          </a:prstGeom>
          <a:solidFill>
            <a:schemeClr val="tx2"/>
          </a:solidFill>
          <a:ln w="12700">
            <a:solidFill>
              <a:schemeClr val="tx2"/>
            </a:solidFill>
            <a:prstDash val="solid"/>
          </a:ln>
        </p:spPr>
      </p:sp>
      <p:pic>
        <p:nvPicPr>
          <p:cNvPr id="10" name="icon_603" descr="preencoded.png">    </p:cNvPr>
          <p:cNvPicPr>
            <a:picLocks noChangeAspect="1"/>
          </p:cNvPicPr>
          <p:nvPr/>
        </p:nvPicPr>
        <p:blipFill>
          <a:blip r:embed="rId2"/>
          <a:stretch>
            <a:fillRect/>
          </a:stretch>
        </p:blipFill>
        <p:spPr>
          <a:xfrm>
            <a:off x="908914" y="2874874"/>
            <a:ext cx="285293" cy="285293"/>
          </a:xfrm>
          <a:prstGeom prst="rect">
            <a:avLst/>
          </a:prstGeom>
        </p:spPr>
      </p:pic>
      <p:sp>
        <p:nvSpPr>
          <p:cNvPr id="11" name="txt_604"/>
          <p:cNvSpPr txBox="1"/>
          <p:nvPr/>
        </p:nvSpPr>
        <p:spPr>
          <a:xfrm>
            <a:off x="1554480" y="2660904"/>
            <a:ext cx="6035040" cy="256032"/>
          </a:xfrm>
          <a:prstGeom prst="rect">
            <a:avLst/>
          </a:prstGeom>
          <a:noFill/>
          <a:ln/>
        </p:spPr>
        <p:txBody>
          <a:bodyPr wrap="square" lIns="0" tIns="0" rIns="0" bIns="0" rtlCol="0" anchor="t"/>
          <a:lstStyle/>
          <a:p>
            <a:pPr indent="0" marL="0">
              <a:buNone/>
            </a:pPr>
            <a:r>
              <a:rPr lang="en-US" sz="1100" b="1" spc="100" kern="0" dirty="0">
                <a:solidFill>
                  <a:schemeClr val="tx2"/>
                </a:solidFill>
              </a:rPr>
              <a:t>CURATE</a:t>
            </a:r>
            <a:endParaRPr lang="en-US" sz="1100" dirty="0"/>
          </a:p>
        </p:txBody>
      </p:sp>
      <p:sp>
        <p:nvSpPr>
          <p:cNvPr id="12" name="txt_605"/>
          <p:cNvSpPr txBox="1"/>
          <p:nvPr/>
        </p:nvSpPr>
        <p:spPr>
          <a:xfrm>
            <a:off x="1554480" y="2926080"/>
            <a:ext cx="6035040" cy="502920"/>
          </a:xfrm>
          <a:prstGeom prst="rect">
            <a:avLst/>
          </a:prstGeom>
          <a:noFill/>
          <a:ln/>
        </p:spPr>
        <p:txBody>
          <a:bodyPr wrap="square" lIns="0" tIns="0" rIns="0" bIns="0" rtlCol="0" anchor="t"/>
          <a:lstStyle/>
          <a:p>
            <a:pPr indent="0" marL="0">
              <a:buNone/>
            </a:pPr>
            <a:r>
              <a:rPr lang="en-US" sz="1400" dirty="0">
                <a:solidFill>
                  <a:schemeClr val="tx1"/>
                </a:solidFill>
              </a:rPr>
              <a:t>Unity Catalog semantics: metric views, domains, Pages and certification. The modeled part of Genie Ontology.</a:t>
            </a:r>
            <a:endParaRPr lang="en-US" sz="1400" dirty="0"/>
          </a:p>
        </p:txBody>
      </p:sp>
      <p:sp>
        <p:nvSpPr>
          <p:cNvPr id="13" name="card_606"/>
          <p:cNvSpPr/>
          <p:nvPr/>
        </p:nvSpPr>
        <p:spPr>
          <a:xfrm>
            <a:off x="548640" y="3666744"/>
            <a:ext cx="7223760" cy="960120"/>
          </a:xfrm>
          <a:prstGeom prst="roundRect">
            <a:avLst>
              <a:gd name="adj" fmla="val 7619"/>
            </a:avLst>
          </a:prstGeom>
          <a:solidFill>
            <a:schemeClr val="bg2"/>
          </a:solidFill>
          <a:ln w="12700">
            <a:solidFill>
              <a:schemeClr val="bg2"/>
            </a:solidFill>
            <a:prstDash val="solid"/>
          </a:ln>
        </p:spPr>
      </p:sp>
      <p:sp>
        <p:nvSpPr>
          <p:cNvPr id="14" name="node_607"/>
          <p:cNvSpPr/>
          <p:nvPr/>
        </p:nvSpPr>
        <p:spPr>
          <a:xfrm>
            <a:off x="777240" y="3867912"/>
            <a:ext cx="548640" cy="548640"/>
          </a:xfrm>
          <a:prstGeom prst="ellipse">
            <a:avLst/>
          </a:prstGeom>
          <a:solidFill>
            <a:schemeClr val="accent2"/>
          </a:solidFill>
          <a:ln w="12700">
            <a:solidFill>
              <a:schemeClr val="accent2"/>
            </a:solidFill>
            <a:prstDash val="solid"/>
          </a:ln>
        </p:spPr>
      </p:sp>
      <p:pic>
        <p:nvPicPr>
          <p:cNvPr id="15" name="icon_608" descr="preencoded.png">    </p:cNvPr>
          <p:cNvPicPr>
            <a:picLocks noChangeAspect="1"/>
          </p:cNvPicPr>
          <p:nvPr/>
        </p:nvPicPr>
        <p:blipFill>
          <a:blip r:embed="rId3"/>
          <a:stretch>
            <a:fillRect/>
          </a:stretch>
        </p:blipFill>
        <p:spPr>
          <a:xfrm>
            <a:off x="908914" y="3999586"/>
            <a:ext cx="285293" cy="285293"/>
          </a:xfrm>
          <a:prstGeom prst="rect">
            <a:avLst/>
          </a:prstGeom>
        </p:spPr>
      </p:pic>
      <p:sp>
        <p:nvSpPr>
          <p:cNvPr id="16" name="txt_609"/>
          <p:cNvSpPr txBox="1"/>
          <p:nvPr/>
        </p:nvSpPr>
        <p:spPr>
          <a:xfrm>
            <a:off x="1554480" y="3785616"/>
            <a:ext cx="6035040" cy="256032"/>
          </a:xfrm>
          <a:prstGeom prst="rect">
            <a:avLst/>
          </a:prstGeom>
          <a:noFill/>
          <a:ln/>
        </p:spPr>
        <p:txBody>
          <a:bodyPr wrap="square" lIns="0" tIns="0" rIns="0" bIns="0" rtlCol="0" anchor="t"/>
          <a:lstStyle/>
          <a:p>
            <a:pPr indent="0" marL="0">
              <a:buNone/>
            </a:pPr>
            <a:r>
              <a:rPr lang="en-US" sz="1100" b="1" spc="100" kern="0" dirty="0">
                <a:solidFill>
                  <a:schemeClr val="accent2"/>
                </a:solidFill>
              </a:rPr>
              <a:t>BOOTSTRAP</a:t>
            </a:r>
            <a:endParaRPr lang="en-US" sz="1100" dirty="0"/>
          </a:p>
        </p:txBody>
      </p:sp>
      <p:sp>
        <p:nvSpPr>
          <p:cNvPr id="17" name="txt_610"/>
          <p:cNvSpPr txBox="1"/>
          <p:nvPr/>
        </p:nvSpPr>
        <p:spPr>
          <a:xfrm>
            <a:off x="1554480" y="4050792"/>
            <a:ext cx="6035040" cy="502920"/>
          </a:xfrm>
          <a:prstGeom prst="rect">
            <a:avLst/>
          </a:prstGeom>
          <a:noFill/>
          <a:ln/>
        </p:spPr>
        <p:txBody>
          <a:bodyPr wrap="square" lIns="0" tIns="0" rIns="0" bIns="0" rtlCol="0" anchor="t"/>
          <a:lstStyle/>
          <a:p>
            <a:pPr indent="0" marL="0">
              <a:buNone/>
            </a:pPr>
            <a:r>
              <a:rPr lang="en-US" sz="1400" dirty="0">
                <a:solidFill>
                  <a:schemeClr val="tx1"/>
                </a:solidFill>
              </a:rPr>
              <a:t>dbxmetagen drafts descriptions, PHI tags, FHIR and OMOP bindings, and metric views. People review before write-back.</a:t>
            </a:r>
            <a:endParaRPr lang="en-US" sz="1400" dirty="0"/>
          </a:p>
        </p:txBody>
      </p:sp>
      <p:sp>
        <p:nvSpPr>
          <p:cNvPr id="18" name="card_611"/>
          <p:cNvSpPr/>
          <p:nvPr/>
        </p:nvSpPr>
        <p:spPr>
          <a:xfrm>
            <a:off x="548640" y="4791456"/>
            <a:ext cx="7223760" cy="960120"/>
          </a:xfrm>
          <a:prstGeom prst="roundRect">
            <a:avLst>
              <a:gd name="adj" fmla="val 7619"/>
            </a:avLst>
          </a:prstGeom>
          <a:solidFill>
            <a:schemeClr val="tx2"/>
          </a:solidFill>
          <a:ln w="12700">
            <a:solidFill>
              <a:schemeClr val="tx2"/>
            </a:solidFill>
            <a:prstDash val="solid"/>
          </a:ln>
        </p:spPr>
      </p:sp>
      <p:sp>
        <p:nvSpPr>
          <p:cNvPr id="19" name="node_612"/>
          <p:cNvSpPr/>
          <p:nvPr/>
        </p:nvSpPr>
        <p:spPr>
          <a:xfrm>
            <a:off x="777240" y="4992624"/>
            <a:ext cx="548640" cy="548640"/>
          </a:xfrm>
          <a:prstGeom prst="ellipse">
            <a:avLst/>
          </a:prstGeom>
          <a:solidFill>
            <a:schemeClr val="accent5"/>
          </a:solidFill>
          <a:ln w="12700">
            <a:solidFill>
              <a:schemeClr val="accent5"/>
            </a:solidFill>
            <a:prstDash val="solid"/>
          </a:ln>
        </p:spPr>
      </p:sp>
      <p:pic>
        <p:nvPicPr>
          <p:cNvPr id="20" name="icon_613" descr="preencoded.png">    </p:cNvPr>
          <p:cNvPicPr>
            <a:picLocks noChangeAspect="1"/>
          </p:cNvPicPr>
          <p:nvPr/>
        </p:nvPicPr>
        <p:blipFill>
          <a:blip r:embed="rId4"/>
          <a:stretch>
            <a:fillRect/>
          </a:stretch>
        </p:blipFill>
        <p:spPr>
          <a:xfrm>
            <a:off x="908914" y="5124298"/>
            <a:ext cx="285293" cy="285293"/>
          </a:xfrm>
          <a:prstGeom prst="rect">
            <a:avLst/>
          </a:prstGeom>
        </p:spPr>
      </p:pic>
      <p:sp>
        <p:nvSpPr>
          <p:cNvPr id="21" name="txt_614"/>
          <p:cNvSpPr txBox="1"/>
          <p:nvPr/>
        </p:nvSpPr>
        <p:spPr>
          <a:xfrm>
            <a:off x="1554480" y="4910328"/>
            <a:ext cx="603504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GOVERN</a:t>
            </a:r>
            <a:endParaRPr lang="en-US" sz="1100" dirty="0"/>
          </a:p>
        </p:txBody>
      </p:sp>
      <p:sp>
        <p:nvSpPr>
          <p:cNvPr id="22" name="txt_615"/>
          <p:cNvSpPr txBox="1"/>
          <p:nvPr/>
        </p:nvSpPr>
        <p:spPr>
          <a:xfrm>
            <a:off x="1554480" y="5175504"/>
            <a:ext cx="6035040" cy="502920"/>
          </a:xfrm>
          <a:prstGeom prst="rect">
            <a:avLst/>
          </a:prstGeom>
          <a:noFill/>
          <a:ln/>
        </p:spPr>
        <p:txBody>
          <a:bodyPr wrap="square" lIns="0" tIns="0" rIns="0" bIns="0" rtlCol="0" anchor="t"/>
          <a:lstStyle/>
          <a:p>
            <a:pPr indent="0" marL="0">
              <a:buNone/>
            </a:pPr>
            <a:r>
              <a:rPr lang="en-US" sz="1400" dirty="0">
                <a:solidFill>
                  <a:schemeClr val="bg1"/>
                </a:solidFill>
              </a:rPr>
              <a:t>Unity Catalog tables with ABAC row filters and column masks: the single point of enforcement.</a:t>
            </a:r>
            <a:endParaRPr lang="en-US" sz="1400" dirty="0"/>
          </a:p>
        </p:txBody>
      </p:sp>
      <p:sp>
        <p:nvSpPr>
          <p:cNvPr id="23" name="formal_616"/>
          <p:cNvSpPr/>
          <p:nvPr/>
        </p:nvSpPr>
        <p:spPr>
          <a:xfrm>
            <a:off x="8092440" y="1417320"/>
            <a:ext cx="3520440" cy="4334256"/>
          </a:xfrm>
          <a:prstGeom prst="roundRect">
            <a:avLst>
              <a:gd name="adj" fmla="val 2078"/>
            </a:avLst>
          </a:prstGeom>
          <a:solidFill>
            <a:schemeClr val="bg1"/>
          </a:solidFill>
          <a:ln w="19050">
            <a:solidFill>
              <a:schemeClr val="accent6"/>
            </a:solidFill>
            <a:prstDash val="dash"/>
          </a:ln>
        </p:spPr>
      </p:sp>
      <p:sp>
        <p:nvSpPr>
          <p:cNvPr id="24" name="txt_617"/>
          <p:cNvSpPr txBox="1"/>
          <p:nvPr/>
        </p:nvSpPr>
        <p:spPr>
          <a:xfrm>
            <a:off x="8366760" y="1645920"/>
            <a:ext cx="2971800" cy="384048"/>
          </a:xfrm>
          <a:prstGeom prst="rect">
            <a:avLst/>
          </a:prstGeom>
          <a:noFill/>
          <a:ln/>
        </p:spPr>
        <p:txBody>
          <a:bodyPr wrap="square" lIns="0" tIns="0" rIns="0" bIns="0" rtlCol="0" anchor="t"/>
          <a:lstStyle/>
          <a:p>
            <a:pPr indent="0" marL="0">
              <a:buNone/>
            </a:pPr>
            <a:r>
              <a:rPr lang="en-US" sz="2000" b="1" dirty="0">
                <a:solidFill>
                  <a:schemeClr val="tx2"/>
                </a:solidFill>
              </a:rPr>
              <a:t>Formal layer</a:t>
            </a:r>
            <a:endParaRPr lang="en-US" sz="2000" dirty="0"/>
          </a:p>
        </p:txBody>
      </p:sp>
      <p:sp>
        <p:nvSpPr>
          <p:cNvPr id="25" name="txt_618"/>
          <p:cNvSpPr txBox="1"/>
          <p:nvPr/>
        </p:nvSpPr>
        <p:spPr>
          <a:xfrm>
            <a:off x="8366760" y="2029968"/>
            <a:ext cx="2971800" cy="274320"/>
          </a:xfrm>
          <a:prstGeom prst="rect">
            <a:avLst/>
          </a:prstGeom>
          <a:noFill/>
          <a:ln/>
        </p:spPr>
        <p:txBody>
          <a:bodyPr wrap="square" lIns="0" tIns="0" rIns="0" bIns="0" rtlCol="0" anchor="t"/>
          <a:lstStyle/>
          <a:p>
            <a:pPr indent="0" marL="0">
              <a:buNone/>
            </a:pPr>
            <a:r>
              <a:rPr lang="en-US" sz="1300" i="1" dirty="0">
                <a:solidFill>
                  <a:schemeClr val="accent6"/>
                </a:solidFill>
              </a:rPr>
              <a:t>Only where rigour justifies it</a:t>
            </a:r>
            <a:endParaRPr lang="en-US" sz="1300" dirty="0"/>
          </a:p>
        </p:txBody>
      </p:sp>
      <p:sp>
        <p:nvSpPr>
          <p:cNvPr id="26" name="node_619"/>
          <p:cNvSpPr/>
          <p:nvPr/>
        </p:nvSpPr>
        <p:spPr>
          <a:xfrm>
            <a:off x="8366760" y="2468880"/>
            <a:ext cx="457200" cy="457200"/>
          </a:xfrm>
          <a:prstGeom prst="ellipse">
            <a:avLst/>
          </a:prstGeom>
          <a:solidFill>
            <a:schemeClr val="accent3"/>
          </a:solidFill>
          <a:ln w="12700">
            <a:solidFill>
              <a:schemeClr val="accent3"/>
            </a:solidFill>
            <a:prstDash val="solid"/>
          </a:ln>
        </p:spPr>
      </p:sp>
      <p:pic>
        <p:nvPicPr>
          <p:cNvPr id="27" name="icon_620" descr="preencoded.png">    </p:cNvPr>
          <p:cNvPicPr>
            <a:picLocks noChangeAspect="1"/>
          </p:cNvPicPr>
          <p:nvPr/>
        </p:nvPicPr>
        <p:blipFill>
          <a:blip r:embed="rId5"/>
          <a:stretch>
            <a:fillRect/>
          </a:stretch>
        </p:blipFill>
        <p:spPr>
          <a:xfrm>
            <a:off x="8476488" y="2578608"/>
            <a:ext cx="237744" cy="237744"/>
          </a:xfrm>
          <a:prstGeom prst="rect">
            <a:avLst/>
          </a:prstGeom>
        </p:spPr>
      </p:pic>
      <p:sp>
        <p:nvSpPr>
          <p:cNvPr id="28" name="txt_621"/>
          <p:cNvSpPr txBox="1"/>
          <p:nvPr/>
        </p:nvSpPr>
        <p:spPr>
          <a:xfrm>
            <a:off x="8961120" y="2468880"/>
            <a:ext cx="2423160" cy="457200"/>
          </a:xfrm>
          <a:prstGeom prst="rect">
            <a:avLst/>
          </a:prstGeom>
          <a:noFill/>
          <a:ln/>
        </p:spPr>
        <p:txBody>
          <a:bodyPr wrap="square" lIns="0" tIns="0" rIns="0" bIns="0" rtlCol="0" anchor="ctr"/>
          <a:lstStyle/>
          <a:p>
            <a:pPr indent="0" marL="0">
              <a:buNone/>
            </a:pPr>
            <a:r>
              <a:rPr lang="en-US" sz="1600" b="1" dirty="0">
                <a:solidFill>
                  <a:schemeClr val="accent3"/>
                </a:solidFill>
              </a:rPr>
              <a:t>OntoBricks</a:t>
            </a:r>
            <a:endParaRPr lang="en-US" sz="1600" dirty="0"/>
          </a:p>
        </p:txBody>
      </p:sp>
      <p:sp>
        <p:nvSpPr>
          <p:cNvPr id="29" name="txt_622"/>
          <p:cNvSpPr txBox="1"/>
          <p:nvPr/>
        </p:nvSpPr>
        <p:spPr>
          <a:xfrm>
            <a:off x="8366760" y="2999232"/>
            <a:ext cx="2971800" cy="640080"/>
          </a:xfrm>
          <a:prstGeom prst="rect">
            <a:avLst/>
          </a:prstGeom>
          <a:noFill/>
          <a:ln/>
        </p:spPr>
        <p:txBody>
          <a:bodyPr wrap="square" lIns="0" tIns="0" rIns="0" bIns="0" rtlCol="0" anchor="t"/>
          <a:lstStyle/>
          <a:p>
            <a:pPr indent="0" marL="0">
              <a:buNone/>
            </a:pPr>
            <a:r>
              <a:rPr lang="en-US" sz="1400" dirty="0">
                <a:solidFill>
                  <a:schemeClr val="tx1"/>
                </a:solidFill>
              </a:rPr>
              <a:t>Materialised. CDISC import, OWL 2 RL reasoning, SHACL validation.</a:t>
            </a:r>
            <a:endParaRPr lang="en-US" sz="1400" dirty="0"/>
          </a:p>
        </p:txBody>
      </p:sp>
      <p:sp>
        <p:nvSpPr>
          <p:cNvPr id="30" name="node_623"/>
          <p:cNvSpPr/>
          <p:nvPr/>
        </p:nvSpPr>
        <p:spPr>
          <a:xfrm>
            <a:off x="8366760" y="3730752"/>
            <a:ext cx="457200" cy="457200"/>
          </a:xfrm>
          <a:prstGeom prst="ellipse">
            <a:avLst/>
          </a:prstGeom>
          <a:solidFill>
            <a:schemeClr val="accent4"/>
          </a:solidFill>
          <a:ln w="12700">
            <a:solidFill>
              <a:schemeClr val="accent4"/>
            </a:solidFill>
            <a:prstDash val="solid"/>
          </a:ln>
        </p:spPr>
      </p:sp>
      <p:pic>
        <p:nvPicPr>
          <p:cNvPr id="31" name="icon_624" descr="preencoded.png">    </p:cNvPr>
          <p:cNvPicPr>
            <a:picLocks noChangeAspect="1"/>
          </p:cNvPicPr>
          <p:nvPr/>
        </p:nvPicPr>
        <p:blipFill>
          <a:blip r:embed="rId6"/>
          <a:stretch>
            <a:fillRect/>
          </a:stretch>
        </p:blipFill>
        <p:spPr>
          <a:xfrm>
            <a:off x="8476488" y="3840480"/>
            <a:ext cx="237744" cy="237744"/>
          </a:xfrm>
          <a:prstGeom prst="rect">
            <a:avLst/>
          </a:prstGeom>
        </p:spPr>
      </p:pic>
      <p:sp>
        <p:nvSpPr>
          <p:cNvPr id="32" name="txt_625"/>
          <p:cNvSpPr txBox="1"/>
          <p:nvPr/>
        </p:nvSpPr>
        <p:spPr>
          <a:xfrm>
            <a:off x="8961120" y="3730752"/>
            <a:ext cx="2423160" cy="457200"/>
          </a:xfrm>
          <a:prstGeom prst="rect">
            <a:avLst/>
          </a:prstGeom>
          <a:noFill/>
          <a:ln/>
        </p:spPr>
        <p:txBody>
          <a:bodyPr wrap="square" lIns="0" tIns="0" rIns="0" bIns="0" rtlCol="0" anchor="ctr"/>
          <a:lstStyle/>
          <a:p>
            <a:pPr indent="0" marL="0">
              <a:buNone/>
            </a:pPr>
            <a:r>
              <a:rPr lang="en-US" sz="1600" b="1" dirty="0">
                <a:solidFill>
                  <a:schemeClr val="accent4"/>
                </a:solidFill>
              </a:rPr>
              <a:t>Ontop</a:t>
            </a:r>
            <a:endParaRPr lang="en-US" sz="1600" dirty="0"/>
          </a:p>
        </p:txBody>
      </p:sp>
      <p:sp>
        <p:nvSpPr>
          <p:cNvPr id="33" name="txt_626"/>
          <p:cNvSpPr txBox="1"/>
          <p:nvPr/>
        </p:nvSpPr>
        <p:spPr>
          <a:xfrm>
            <a:off x="8366760" y="4261104"/>
            <a:ext cx="2971800" cy="640080"/>
          </a:xfrm>
          <a:prstGeom prst="rect">
            <a:avLst/>
          </a:prstGeom>
          <a:noFill/>
          <a:ln/>
        </p:spPr>
        <p:txBody>
          <a:bodyPr wrap="square" lIns="0" tIns="0" rIns="0" bIns="0" rtlCol="0" anchor="t"/>
          <a:lstStyle/>
          <a:p>
            <a:pPr indent="0" marL="0">
              <a:buNone/>
            </a:pPr>
            <a:r>
              <a:rPr lang="en-US" sz="1400" dirty="0">
                <a:solidFill>
                  <a:schemeClr val="tx1"/>
                </a:solidFill>
              </a:rPr>
              <a:t>Virtual. SPARQL over live tables, no copies.</a:t>
            </a:r>
            <a:endParaRPr lang="en-US" sz="1400" dirty="0"/>
          </a:p>
        </p:txBody>
      </p:sp>
      <p:sp>
        <p:nvSpPr>
          <p:cNvPr id="34" name="txt_627"/>
          <p:cNvSpPr txBox="1"/>
          <p:nvPr/>
        </p:nvSpPr>
        <p:spPr>
          <a:xfrm>
            <a:off x="8366760" y="5029200"/>
            <a:ext cx="2971800" cy="594360"/>
          </a:xfrm>
          <a:prstGeom prst="rect">
            <a:avLst/>
          </a:prstGeom>
          <a:noFill/>
          <a:ln/>
        </p:spPr>
        <p:txBody>
          <a:bodyPr wrap="square" lIns="0" tIns="0" rIns="0" bIns="0" rtlCol="0" anchor="t"/>
          <a:lstStyle/>
          <a:p>
            <a:pPr indent="0" marL="0">
              <a:buNone/>
            </a:pPr>
            <a:r>
              <a:rPr lang="en-US" sz="1300" b="1" dirty="0">
                <a:solidFill>
                  <a:schemeClr val="tx2"/>
                </a:solidFill>
              </a:rPr>
              <a:t>Serve via GraphQL, SPARQL or MCP. Scope to de-identified or role-segmented data.</a:t>
            </a:r>
            <a:endParaRPr lang="en-US" sz="1300" dirty="0"/>
          </a:p>
        </p:txBody>
      </p:sp>
      <p:sp>
        <p:nvSpPr>
          <p:cNvPr id="35" name="line_628"/>
          <p:cNvSpPr/>
          <p:nvPr/>
        </p:nvSpPr>
        <p:spPr>
          <a:xfrm>
            <a:off x="7772400" y="5276088"/>
            <a:ext cx="320040" cy="0"/>
          </a:xfrm>
          <a:prstGeom prst="line">
            <a:avLst/>
          </a:prstGeom>
          <a:noFill/>
          <a:ln w="22225">
            <a:solidFill>
              <a:schemeClr val="accent6"/>
            </a:solidFill>
            <a:prstDash val="solid"/>
            <a:tailEnd type="triangle"/>
          </a:ln>
        </p:spPr>
      </p:sp>
      <p:sp>
        <p:nvSpPr>
          <p:cNvPr id="36" name="txt_629"/>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The native path carries per-user governance end to end; the formal layer is added deliberately, domain by domain.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Where dbxmetagen's ontology goes</a:t>
            </a:r>
            <a:endParaRPr lang="en-US" sz="3600" dirty="0"/>
          </a:p>
        </p:txBody>
      </p:sp>
      <p:pic>
        <p:nvPicPr>
          <p:cNvPr id="3" name="secicon_630" descr="preencoded.png">    </p:cNvPr>
          <p:cNvPicPr>
            <a:picLocks noChangeAspect="1"/>
          </p:cNvPicPr>
          <p:nvPr/>
        </p:nvPicPr>
        <p:blipFill>
          <a:blip r:embed="rId1"/>
          <a:stretch>
            <a:fillRect/>
          </a:stretch>
        </p:blipFill>
        <p:spPr>
          <a:xfrm>
            <a:off x="548640" y="1435608"/>
            <a:ext cx="237744" cy="237744"/>
          </a:xfrm>
          <a:prstGeom prst="rect">
            <a:avLst/>
          </a:prstGeom>
        </p:spPr>
      </p:pic>
      <p:sp>
        <p:nvSpPr>
          <p:cNvPr id="4" name="txt_631"/>
          <p:cNvSpPr txBox="1"/>
          <p:nvPr/>
        </p:nvSpPr>
        <p:spPr>
          <a:xfrm>
            <a:off x="896112" y="141732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WHAT IT PRODUCES</a:t>
            </a:r>
            <a:endParaRPr lang="en-US" sz="1300" dirty="0"/>
          </a:p>
        </p:txBody>
      </p:sp>
      <p:sp>
        <p:nvSpPr>
          <p:cNvPr id="5" name="bullets_632"/>
          <p:cNvSpPr txBox="1"/>
          <p:nvPr/>
        </p:nvSpPr>
        <p:spPr>
          <a:xfrm>
            <a:off x="548640" y="1764792"/>
            <a:ext cx="4297680" cy="12527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ontology: a YAML bundle, standard (FHIR R4, OMOP, Schema.org) or our own</a:t>
            </a:r>
            <a:endParaRPr lang="en-US" sz="1400" dirty="0"/>
          </a:p>
          <a:p>
            <a:pPr marL="177800" indent="-177800">
              <a:spcAft>
                <a:spcPts val="500"/>
              </a:spcAft>
              <a:buSzPct val="100000"/>
              <a:buChar char="•"/>
            </a:pPr>
            <a:r>
              <a:rPr lang="en-US" sz="1400" dirty="0">
                <a:solidFill>
                  <a:schemeClr val="tx1"/>
                </a:solidFill>
              </a:rPr>
              <a:t>The bindings: table to concept, column roles and entity relationships, scored</a:t>
            </a:r>
            <a:endParaRPr lang="en-US" sz="1400" dirty="0"/>
          </a:p>
        </p:txBody>
      </p:sp>
      <p:pic>
        <p:nvPicPr>
          <p:cNvPr id="6" name="secicon_633" descr="preencoded.png">    </p:cNvPr>
          <p:cNvPicPr>
            <a:picLocks noChangeAspect="1"/>
          </p:cNvPicPr>
          <p:nvPr/>
        </p:nvPicPr>
        <p:blipFill>
          <a:blip r:embed="rId2"/>
          <a:stretch>
            <a:fillRect/>
          </a:stretch>
        </p:blipFill>
        <p:spPr>
          <a:xfrm>
            <a:off x="548640" y="3172968"/>
            <a:ext cx="237744" cy="237744"/>
          </a:xfrm>
          <a:prstGeom prst="rect">
            <a:avLst/>
          </a:prstGeom>
        </p:spPr>
      </p:pic>
      <p:sp>
        <p:nvSpPr>
          <p:cNvPr id="7" name="txt_634"/>
          <p:cNvSpPr txBox="1"/>
          <p:nvPr/>
        </p:nvSpPr>
        <p:spPr>
          <a:xfrm>
            <a:off x="896112" y="31546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WHERE IT LANDS TODAY</a:t>
            </a:r>
            <a:endParaRPr lang="en-US" sz="1300" dirty="0"/>
          </a:p>
        </p:txBody>
      </p:sp>
      <p:sp>
        <p:nvSpPr>
          <p:cNvPr id="8" name="bullets_635"/>
          <p:cNvSpPr txBox="1"/>
          <p:nvPr/>
        </p:nvSpPr>
        <p:spPr>
          <a:xfrm>
            <a:off x="548640" y="3502152"/>
            <a:ext cx="4297680" cy="11155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Delta tables in dbxmetagen's output schema, plus a vector index and Lakebase copy</a:t>
            </a:r>
            <a:endParaRPr lang="en-US" sz="1400" dirty="0"/>
          </a:p>
          <a:p>
            <a:pPr marL="177800" indent="-177800">
              <a:spcAft>
                <a:spcPts val="500"/>
              </a:spcAft>
              <a:buSzPct val="100000"/>
              <a:buChar char="•"/>
            </a:pPr>
            <a:r>
              <a:rPr lang="en-US" sz="1400" dirty="0">
                <a:solidFill>
                  <a:schemeClr val="tx1"/>
                </a:solidFill>
              </a:rPr>
              <a:t>Read only by dbxmetagen itself: its agent, FK prediction and metric views</a:t>
            </a:r>
            <a:endParaRPr lang="en-US" sz="1400" dirty="0"/>
          </a:p>
        </p:txBody>
      </p:sp>
      <p:pic>
        <p:nvPicPr>
          <p:cNvPr id="9" name="secicon_636" descr="preencoded.png">    </p:cNvPr>
          <p:cNvPicPr>
            <a:picLocks noChangeAspect="1"/>
          </p:cNvPicPr>
          <p:nvPr/>
        </p:nvPicPr>
        <p:blipFill>
          <a:blip r:embed="rId3"/>
          <a:stretch>
            <a:fillRect/>
          </a:stretch>
        </p:blipFill>
        <p:spPr>
          <a:xfrm>
            <a:off x="548640" y="4773168"/>
            <a:ext cx="237744" cy="237744"/>
          </a:xfrm>
          <a:prstGeom prst="rect">
            <a:avLst/>
          </a:prstGeom>
        </p:spPr>
      </p:pic>
      <p:sp>
        <p:nvSpPr>
          <p:cNvPr id="10" name="txt_637"/>
          <p:cNvSpPr txBox="1"/>
          <p:nvPr/>
        </p:nvSpPr>
        <p:spPr>
          <a:xfrm>
            <a:off x="896112" y="4754880"/>
            <a:ext cx="3950208" cy="274320"/>
          </a:xfrm>
          <a:prstGeom prst="rect">
            <a:avLst/>
          </a:prstGeom>
          <a:noFill/>
          <a:ln/>
        </p:spPr>
        <p:txBody>
          <a:bodyPr wrap="square" lIns="0" tIns="0" rIns="0" bIns="0" rtlCol="0" anchor="ctr"/>
          <a:lstStyle/>
          <a:p>
            <a:pPr indent="0" marL="0">
              <a:buNone/>
            </a:pPr>
            <a:r>
              <a:rPr lang="en-US" sz="1300" b="1" spc="100" kern="0" dirty="0">
                <a:solidFill>
                  <a:schemeClr val="tx2"/>
                </a:solidFill>
              </a:rPr>
              <a:t>KEEP IN MIND</a:t>
            </a:r>
            <a:endParaRPr lang="en-US" sz="1300" dirty="0"/>
          </a:p>
        </p:txBody>
      </p:sp>
      <p:sp>
        <p:nvSpPr>
          <p:cNvPr id="11" name="bullets_638"/>
          <p:cNvSpPr txBox="1"/>
          <p:nvPr/>
        </p:nvSpPr>
        <p:spPr>
          <a:xfrm>
            <a:off x="548640" y="5102352"/>
            <a:ext cx="4297680" cy="10698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One bundle per output schema; switching bundles leaves stale data behind</a:t>
            </a:r>
            <a:endParaRPr lang="en-US" sz="1400" dirty="0"/>
          </a:p>
          <a:p>
            <a:pPr marL="177800" indent="-177800">
              <a:spcAft>
                <a:spcPts val="500"/>
              </a:spcAft>
              <a:buSzPct val="100000"/>
              <a:buChar char="•"/>
            </a:pPr>
            <a:r>
              <a:rPr lang="en-US" sz="1400" dirty="0">
                <a:solidFill>
                  <a:schemeClr val="tx1"/>
                </a:solidFill>
              </a:rPr>
              <a:t>AI classifications against a standard: review anything below 0.6 confidence</a:t>
            </a:r>
            <a:endParaRPr lang="en-US" sz="1400" dirty="0"/>
          </a:p>
        </p:txBody>
      </p:sp>
      <p:sp>
        <p:nvSpPr>
          <p:cNvPr id="12" name="txt_639"/>
          <p:cNvSpPr txBox="1"/>
          <p:nvPr/>
        </p:nvSpPr>
        <p:spPr>
          <a:xfrm>
            <a:off x="5120640" y="1371600"/>
            <a:ext cx="201168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SOURCE</a:t>
            </a:r>
            <a:endParaRPr lang="en-US" sz="1100" dirty="0"/>
          </a:p>
        </p:txBody>
      </p:sp>
      <p:sp>
        <p:nvSpPr>
          <p:cNvPr id="13" name="txt_640"/>
          <p:cNvSpPr txBox="1"/>
          <p:nvPr/>
        </p:nvSpPr>
        <p:spPr>
          <a:xfrm>
            <a:off x="7452360" y="1371600"/>
            <a:ext cx="214884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ROUTE OUT</a:t>
            </a:r>
            <a:endParaRPr lang="en-US" sz="1100" dirty="0"/>
          </a:p>
        </p:txBody>
      </p:sp>
      <p:sp>
        <p:nvSpPr>
          <p:cNvPr id="14" name="txt_641"/>
          <p:cNvSpPr txBox="1"/>
          <p:nvPr/>
        </p:nvSpPr>
        <p:spPr>
          <a:xfrm>
            <a:off x="9966960" y="1371600"/>
            <a:ext cx="164592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WHO BENEFITS</a:t>
            </a:r>
            <a:endParaRPr lang="en-US" sz="1100" dirty="0"/>
          </a:p>
        </p:txBody>
      </p:sp>
      <p:sp>
        <p:nvSpPr>
          <p:cNvPr id="15" name="source_642"/>
          <p:cNvSpPr/>
          <p:nvPr/>
        </p:nvSpPr>
        <p:spPr>
          <a:xfrm>
            <a:off x="5120640" y="1783080"/>
            <a:ext cx="2011680" cy="3794760"/>
          </a:xfrm>
          <a:prstGeom prst="roundRect">
            <a:avLst>
              <a:gd name="adj" fmla="val 2727"/>
            </a:avLst>
          </a:prstGeom>
          <a:solidFill>
            <a:schemeClr val="accent2"/>
          </a:solidFill>
          <a:ln w="12700">
            <a:solidFill>
              <a:schemeClr val="accent2"/>
            </a:solidFill>
            <a:prstDash val="solid"/>
          </a:ln>
        </p:spPr>
      </p:sp>
      <p:sp>
        <p:nvSpPr>
          <p:cNvPr id="16" name="node_643"/>
          <p:cNvSpPr/>
          <p:nvPr/>
        </p:nvSpPr>
        <p:spPr>
          <a:xfrm>
            <a:off x="5257800" y="1920240"/>
            <a:ext cx="384048" cy="384048"/>
          </a:xfrm>
          <a:prstGeom prst="ellipse">
            <a:avLst/>
          </a:prstGeom>
          <a:solidFill>
            <a:schemeClr val="bg1"/>
          </a:solidFill>
          <a:ln w="12700">
            <a:solidFill>
              <a:schemeClr val="bg1"/>
            </a:solidFill>
            <a:prstDash val="solid"/>
          </a:ln>
        </p:spPr>
      </p:sp>
      <p:pic>
        <p:nvPicPr>
          <p:cNvPr id="17" name="icon_644" descr="preencoded.png">    </p:cNvPr>
          <p:cNvPicPr>
            <a:picLocks noChangeAspect="1"/>
          </p:cNvPicPr>
          <p:nvPr/>
        </p:nvPicPr>
        <p:blipFill>
          <a:blip r:embed="rId4"/>
          <a:stretch>
            <a:fillRect/>
          </a:stretch>
        </p:blipFill>
        <p:spPr>
          <a:xfrm>
            <a:off x="5349972" y="2012412"/>
            <a:ext cx="199705" cy="199705"/>
          </a:xfrm>
          <a:prstGeom prst="rect">
            <a:avLst/>
          </a:prstGeom>
        </p:spPr>
      </p:pic>
      <p:sp>
        <p:nvSpPr>
          <p:cNvPr id="18" name="txt_645"/>
          <p:cNvSpPr txBox="1"/>
          <p:nvPr/>
        </p:nvSpPr>
        <p:spPr>
          <a:xfrm>
            <a:off x="5715000" y="1874520"/>
            <a:ext cx="1325880" cy="475488"/>
          </a:xfrm>
          <a:prstGeom prst="rect">
            <a:avLst/>
          </a:prstGeom>
          <a:noFill/>
          <a:ln/>
        </p:spPr>
        <p:txBody>
          <a:bodyPr wrap="square" lIns="0" tIns="0" rIns="0" bIns="0" rtlCol="0" anchor="ctr"/>
          <a:lstStyle/>
          <a:p>
            <a:pPr indent="0" marL="0">
              <a:buNone/>
            </a:pPr>
            <a:r>
              <a:rPr lang="en-US" sz="1200" b="1" dirty="0">
                <a:solidFill>
                  <a:schemeClr val="bg1"/>
                </a:solidFill>
              </a:rPr>
              <a:t>dbxmetagen output schema</a:t>
            </a:r>
            <a:endParaRPr lang="en-US" sz="1200" dirty="0"/>
          </a:p>
        </p:txBody>
      </p:sp>
      <p:sp>
        <p:nvSpPr>
          <p:cNvPr id="19" name="tbl_646"/>
          <p:cNvSpPr/>
          <p:nvPr/>
        </p:nvSpPr>
        <p:spPr>
          <a:xfrm>
            <a:off x="5257800" y="2514600"/>
            <a:ext cx="1737360" cy="603504"/>
          </a:xfrm>
          <a:prstGeom prst="roundRect">
            <a:avLst>
              <a:gd name="adj" fmla="val 7576"/>
            </a:avLst>
          </a:prstGeom>
          <a:solidFill>
            <a:schemeClr val="bg1"/>
          </a:solidFill>
          <a:ln w="12700">
            <a:solidFill>
              <a:schemeClr val="bg1"/>
            </a:solidFill>
            <a:prstDash val="solid"/>
          </a:ln>
        </p:spPr>
      </p:sp>
      <p:sp>
        <p:nvSpPr>
          <p:cNvPr id="20" name="tbltxt_647"/>
          <p:cNvSpPr txBox="1"/>
          <p:nvPr/>
        </p:nvSpPr>
        <p:spPr>
          <a:xfrm>
            <a:off x="5330952" y="2514600"/>
            <a:ext cx="1591056" cy="603504"/>
          </a:xfrm>
          <a:prstGeom prst="rect">
            <a:avLst/>
          </a:prstGeom>
          <a:noFill/>
          <a:ln/>
        </p:spPr>
        <p:txBody>
          <a:bodyPr wrap="square" lIns="0" tIns="0" rIns="0" bIns="0" rtlCol="0" anchor="ctr"/>
          <a:lstStyle/>
          <a:p>
            <a:pPr indent="0" marL="0">
              <a:buNone/>
            </a:pPr>
            <a:r>
              <a:rPr lang="en-US" sz="1000" b="1" dirty="0">
                <a:solidFill>
                  <a:schemeClr val="tx2"/>
                </a:solidFill>
              </a:rPr>
              <a:t>ontology_entities</a:t>
            </a:r>
            <a:endParaRPr lang="en-US" sz="1000" dirty="0"/>
          </a:p>
          <a:p>
            <a:pPr indent="0" marL="0">
              <a:buNone/>
            </a:pPr>
            <a:r>
              <a:rPr lang="en-US" sz="1000" dirty="0">
                <a:solidFill>
                  <a:schemeClr val="accent6"/>
                </a:solidFill>
              </a:rPr>
              <a:t>table to concept</a:t>
            </a:r>
            <a:endParaRPr lang="en-US" sz="1000" dirty="0"/>
          </a:p>
        </p:txBody>
      </p:sp>
      <p:sp>
        <p:nvSpPr>
          <p:cNvPr id="21" name="tbl_648"/>
          <p:cNvSpPr/>
          <p:nvPr/>
        </p:nvSpPr>
        <p:spPr>
          <a:xfrm>
            <a:off x="5257800" y="3246120"/>
            <a:ext cx="1737360" cy="603504"/>
          </a:xfrm>
          <a:prstGeom prst="roundRect">
            <a:avLst>
              <a:gd name="adj" fmla="val 7576"/>
            </a:avLst>
          </a:prstGeom>
          <a:solidFill>
            <a:schemeClr val="bg1"/>
          </a:solidFill>
          <a:ln w="12700">
            <a:solidFill>
              <a:schemeClr val="bg1"/>
            </a:solidFill>
            <a:prstDash val="solid"/>
          </a:ln>
        </p:spPr>
      </p:sp>
      <p:sp>
        <p:nvSpPr>
          <p:cNvPr id="22" name="tbltxt_649"/>
          <p:cNvSpPr txBox="1"/>
          <p:nvPr/>
        </p:nvSpPr>
        <p:spPr>
          <a:xfrm>
            <a:off x="5330952" y="3246120"/>
            <a:ext cx="1591056" cy="603504"/>
          </a:xfrm>
          <a:prstGeom prst="rect">
            <a:avLst/>
          </a:prstGeom>
          <a:noFill/>
          <a:ln/>
        </p:spPr>
        <p:txBody>
          <a:bodyPr wrap="square" lIns="0" tIns="0" rIns="0" bIns="0" rtlCol="0" anchor="ctr"/>
          <a:lstStyle/>
          <a:p>
            <a:pPr indent="0" marL="0">
              <a:buNone/>
            </a:pPr>
            <a:r>
              <a:rPr lang="en-US" sz="1000" b="1" dirty="0">
                <a:solidFill>
                  <a:schemeClr val="tx2"/>
                </a:solidFill>
              </a:rPr>
              <a:t>ontology_column_properties</a:t>
            </a:r>
            <a:endParaRPr lang="en-US" sz="1000" dirty="0"/>
          </a:p>
          <a:p>
            <a:pPr indent="0" marL="0">
              <a:buNone/>
            </a:pPr>
            <a:r>
              <a:rPr lang="en-US" sz="1000" dirty="0">
                <a:solidFill>
                  <a:schemeClr val="accent6"/>
                </a:solidFill>
              </a:rPr>
              <a:t>column roles</a:t>
            </a:r>
            <a:endParaRPr lang="en-US" sz="1000" dirty="0"/>
          </a:p>
        </p:txBody>
      </p:sp>
      <p:sp>
        <p:nvSpPr>
          <p:cNvPr id="23" name="tbl_650"/>
          <p:cNvSpPr/>
          <p:nvPr/>
        </p:nvSpPr>
        <p:spPr>
          <a:xfrm>
            <a:off x="5257800" y="3977640"/>
            <a:ext cx="1737360" cy="603504"/>
          </a:xfrm>
          <a:prstGeom prst="roundRect">
            <a:avLst>
              <a:gd name="adj" fmla="val 7576"/>
            </a:avLst>
          </a:prstGeom>
          <a:solidFill>
            <a:schemeClr val="bg1"/>
          </a:solidFill>
          <a:ln w="12700">
            <a:solidFill>
              <a:schemeClr val="bg1"/>
            </a:solidFill>
            <a:prstDash val="solid"/>
          </a:ln>
        </p:spPr>
      </p:sp>
      <p:sp>
        <p:nvSpPr>
          <p:cNvPr id="24" name="tbltxt_651"/>
          <p:cNvSpPr txBox="1"/>
          <p:nvPr/>
        </p:nvSpPr>
        <p:spPr>
          <a:xfrm>
            <a:off x="5330952" y="3977640"/>
            <a:ext cx="1591056" cy="603504"/>
          </a:xfrm>
          <a:prstGeom prst="rect">
            <a:avLst/>
          </a:prstGeom>
          <a:noFill/>
          <a:ln/>
        </p:spPr>
        <p:txBody>
          <a:bodyPr wrap="square" lIns="0" tIns="0" rIns="0" bIns="0" rtlCol="0" anchor="ctr"/>
          <a:lstStyle/>
          <a:p>
            <a:pPr indent="0" marL="0">
              <a:buNone/>
            </a:pPr>
            <a:r>
              <a:rPr lang="en-US" sz="1000" b="1" dirty="0">
                <a:solidFill>
                  <a:schemeClr val="tx2"/>
                </a:solidFill>
              </a:rPr>
              <a:t>ontology_relationships</a:t>
            </a:r>
            <a:endParaRPr lang="en-US" sz="1000" dirty="0"/>
          </a:p>
          <a:p>
            <a:pPr indent="0" marL="0">
              <a:buNone/>
            </a:pPr>
            <a:r>
              <a:rPr lang="en-US" sz="1000" dirty="0">
                <a:solidFill>
                  <a:schemeClr val="accent6"/>
                </a:solidFill>
              </a:rPr>
              <a:t>entity links</a:t>
            </a:r>
            <a:endParaRPr lang="en-US" sz="1000" dirty="0"/>
          </a:p>
        </p:txBody>
      </p:sp>
      <p:sp>
        <p:nvSpPr>
          <p:cNvPr id="25" name="txt_652"/>
          <p:cNvSpPr txBox="1"/>
          <p:nvPr/>
        </p:nvSpPr>
        <p:spPr>
          <a:xfrm>
            <a:off x="5257800" y="4754880"/>
            <a:ext cx="1737360" cy="640080"/>
          </a:xfrm>
          <a:prstGeom prst="rect">
            <a:avLst/>
          </a:prstGeom>
          <a:noFill/>
          <a:ln/>
        </p:spPr>
        <p:txBody>
          <a:bodyPr wrap="square" lIns="0" tIns="0" rIns="0" bIns="0" rtlCol="0" anchor="t"/>
          <a:lstStyle/>
          <a:p>
            <a:pPr indent="0" marL="0">
              <a:buNone/>
            </a:pPr>
            <a:r>
              <a:rPr lang="en-US" sz="1100" i="1" dirty="0">
                <a:solidFill>
                  <a:schemeClr val="bg1"/>
                </a:solidFill>
              </a:rPr>
              <a:t>Also: ontology vector index, Lakebase graph copy</a:t>
            </a:r>
            <a:endParaRPr lang="en-US" sz="1100" dirty="0"/>
          </a:p>
        </p:txBody>
      </p:sp>
      <p:sp>
        <p:nvSpPr>
          <p:cNvPr id="26" name="line_653"/>
          <p:cNvSpPr/>
          <p:nvPr/>
        </p:nvSpPr>
        <p:spPr>
          <a:xfrm>
            <a:off x="7132320" y="2308860"/>
            <a:ext cx="320040" cy="0"/>
          </a:xfrm>
          <a:prstGeom prst="line">
            <a:avLst/>
          </a:prstGeom>
          <a:noFill/>
          <a:ln w="19050">
            <a:solidFill>
              <a:schemeClr val="accent6"/>
            </a:solidFill>
            <a:prstDash val="solid"/>
            <a:tailEnd type="triangle"/>
          </a:ln>
        </p:spPr>
      </p:sp>
      <p:sp>
        <p:nvSpPr>
          <p:cNvPr id="27" name="route_654"/>
          <p:cNvSpPr/>
          <p:nvPr/>
        </p:nvSpPr>
        <p:spPr>
          <a:xfrm>
            <a:off x="7452360" y="1783080"/>
            <a:ext cx="2148840" cy="1051560"/>
          </a:xfrm>
          <a:prstGeom prst="roundRect">
            <a:avLst>
              <a:gd name="adj" fmla="val 5217"/>
            </a:avLst>
          </a:prstGeom>
          <a:solidFill>
            <a:schemeClr val="bg1"/>
          </a:solidFill>
          <a:ln w="12700">
            <a:solidFill>
              <a:schemeClr val="accent6"/>
            </a:solidFill>
            <a:prstDash val="solid"/>
          </a:ln>
        </p:spPr>
      </p:sp>
      <p:sp>
        <p:nvSpPr>
          <p:cNvPr id="28" name="num_655"/>
          <p:cNvSpPr/>
          <p:nvPr/>
        </p:nvSpPr>
        <p:spPr>
          <a:xfrm>
            <a:off x="7562088" y="1911096"/>
            <a:ext cx="329184" cy="329184"/>
          </a:xfrm>
          <a:prstGeom prst="ellipse">
            <a:avLst/>
          </a:prstGeom>
          <a:solidFill>
            <a:schemeClr val="tx2"/>
          </a:solidFill>
          <a:ln w="12700">
            <a:solidFill>
              <a:schemeClr val="tx2"/>
            </a:solidFill>
            <a:prstDash val="solid"/>
          </a:ln>
        </p:spPr>
      </p:sp>
      <p:sp>
        <p:nvSpPr>
          <p:cNvPr id="29" name="numtxt_656"/>
          <p:cNvSpPr txBox="1"/>
          <p:nvPr/>
        </p:nvSpPr>
        <p:spPr>
          <a:xfrm>
            <a:off x="7562088" y="19110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0" name="txt_657"/>
          <p:cNvSpPr txBox="1"/>
          <p:nvPr/>
        </p:nvSpPr>
        <p:spPr>
          <a:xfrm>
            <a:off x="7982712" y="1856232"/>
            <a:ext cx="1508760" cy="502920"/>
          </a:xfrm>
          <a:prstGeom prst="rect">
            <a:avLst/>
          </a:prstGeom>
          <a:noFill/>
          <a:ln/>
        </p:spPr>
        <p:txBody>
          <a:bodyPr wrap="square" lIns="0" tIns="0" rIns="0" bIns="0" rtlCol="0" anchor="ctr"/>
          <a:lstStyle/>
          <a:p>
            <a:pPr indent="0" marL="0">
              <a:buNone/>
            </a:pPr>
            <a:r>
              <a:rPr lang="en-US" sz="1300" b="1" dirty="0">
                <a:solidFill>
                  <a:schemeClr val="tx2"/>
                </a:solidFill>
              </a:rPr>
              <a:t>UC tags and FK constraints</a:t>
            </a:r>
            <a:endParaRPr lang="en-US" sz="1300" dirty="0"/>
          </a:p>
        </p:txBody>
      </p:sp>
      <p:sp>
        <p:nvSpPr>
          <p:cNvPr id="31" name="pill_658"/>
          <p:cNvSpPr/>
          <p:nvPr/>
        </p:nvSpPr>
        <p:spPr>
          <a:xfrm>
            <a:off x="7982712" y="2441448"/>
            <a:ext cx="1234440" cy="274320"/>
          </a:xfrm>
          <a:prstGeom prst="roundRect">
            <a:avLst>
              <a:gd name="adj" fmla="val 50000"/>
            </a:avLst>
          </a:prstGeom>
          <a:solidFill>
            <a:schemeClr val="accent1">
              <a:alpha val="22000"/>
            </a:schemeClr>
          </a:solidFill>
          <a:ln w="12700">
            <a:solidFill>
              <a:schemeClr val="accent1"/>
            </a:solidFill>
            <a:prstDash val="solid"/>
          </a:ln>
        </p:spPr>
      </p:sp>
      <p:sp>
        <p:nvSpPr>
          <p:cNvPr id="32" name="txt_659"/>
          <p:cNvSpPr txBox="1"/>
          <p:nvPr/>
        </p:nvSpPr>
        <p:spPr>
          <a:xfrm>
            <a:off x="7982712" y="2441448"/>
            <a:ext cx="1234440" cy="274320"/>
          </a:xfrm>
          <a:prstGeom prst="rect">
            <a:avLst/>
          </a:prstGeom>
          <a:noFill/>
          <a:ln/>
        </p:spPr>
        <p:txBody>
          <a:bodyPr wrap="square" lIns="0" tIns="0" rIns="0" bIns="0" rtlCol="0" anchor="ctr"/>
          <a:lstStyle/>
          <a:p>
            <a:pPr algn="ctr" indent="0" marL="0">
              <a:buNone/>
            </a:pPr>
            <a:r>
              <a:rPr lang="en-US" sz="1100" b="1" dirty="0">
                <a:solidFill>
                  <a:schemeClr val="tx2"/>
                </a:solidFill>
              </a:rPr>
              <a:t>Partly today</a:t>
            </a:r>
            <a:endParaRPr lang="en-US" sz="1100" dirty="0"/>
          </a:p>
        </p:txBody>
      </p:sp>
      <p:sp>
        <p:nvSpPr>
          <p:cNvPr id="33" name="line_660"/>
          <p:cNvSpPr/>
          <p:nvPr/>
        </p:nvSpPr>
        <p:spPr>
          <a:xfrm>
            <a:off x="9601200" y="2308860"/>
            <a:ext cx="365760" cy="0"/>
          </a:xfrm>
          <a:prstGeom prst="line">
            <a:avLst/>
          </a:prstGeom>
          <a:noFill/>
          <a:ln w="19050">
            <a:solidFill>
              <a:schemeClr val="accent6"/>
            </a:solidFill>
            <a:prstDash val="solid"/>
            <a:tailEnd type="triangle"/>
          </a:ln>
        </p:spPr>
      </p:sp>
      <p:sp>
        <p:nvSpPr>
          <p:cNvPr id="34" name="card_661"/>
          <p:cNvSpPr/>
          <p:nvPr/>
        </p:nvSpPr>
        <p:spPr>
          <a:xfrm>
            <a:off x="9966960" y="1783080"/>
            <a:ext cx="1645920" cy="1051560"/>
          </a:xfrm>
          <a:prstGeom prst="roundRect">
            <a:avLst>
              <a:gd name="adj" fmla="val 6957"/>
            </a:avLst>
          </a:prstGeom>
          <a:solidFill>
            <a:schemeClr val="bg2"/>
          </a:solidFill>
          <a:ln w="12700">
            <a:solidFill>
              <a:schemeClr val="bg2"/>
            </a:solidFill>
            <a:prstDash val="solid"/>
          </a:ln>
        </p:spPr>
      </p:sp>
      <p:sp>
        <p:nvSpPr>
          <p:cNvPr id="35" name="txt_662"/>
          <p:cNvSpPr txBox="1"/>
          <p:nvPr/>
        </p:nvSpPr>
        <p:spPr>
          <a:xfrm>
            <a:off x="10104120" y="1783080"/>
            <a:ext cx="1371600" cy="1051560"/>
          </a:xfrm>
          <a:prstGeom prst="rect">
            <a:avLst/>
          </a:prstGeom>
          <a:noFill/>
          <a:ln/>
        </p:spPr>
        <p:txBody>
          <a:bodyPr wrap="square" lIns="0" tIns="0" rIns="0" bIns="0" rtlCol="0" anchor="ctr"/>
          <a:lstStyle/>
          <a:p>
            <a:pPr indent="0" marL="0">
              <a:buNone/>
            </a:pPr>
            <a:r>
              <a:rPr lang="en-US" sz="1300" dirty="0">
                <a:solidFill>
                  <a:schemeClr val="tx1"/>
                </a:solidFill>
              </a:rPr>
              <a:t>Genie, Catalog Explorer, ABAC policies</a:t>
            </a:r>
            <a:endParaRPr lang="en-US" sz="1300" dirty="0"/>
          </a:p>
        </p:txBody>
      </p:sp>
      <p:sp>
        <p:nvSpPr>
          <p:cNvPr id="36" name="line_663"/>
          <p:cNvSpPr/>
          <p:nvPr/>
        </p:nvSpPr>
        <p:spPr>
          <a:xfrm>
            <a:off x="7132320" y="3680460"/>
            <a:ext cx="320040" cy="0"/>
          </a:xfrm>
          <a:prstGeom prst="line">
            <a:avLst/>
          </a:prstGeom>
          <a:noFill/>
          <a:ln w="19050">
            <a:solidFill>
              <a:schemeClr val="accent6"/>
            </a:solidFill>
            <a:prstDash val="solid"/>
            <a:tailEnd type="triangle"/>
          </a:ln>
        </p:spPr>
      </p:sp>
      <p:sp>
        <p:nvSpPr>
          <p:cNvPr id="37" name="route_664"/>
          <p:cNvSpPr/>
          <p:nvPr/>
        </p:nvSpPr>
        <p:spPr>
          <a:xfrm>
            <a:off x="7452360" y="3154680"/>
            <a:ext cx="2148840" cy="1051560"/>
          </a:xfrm>
          <a:prstGeom prst="roundRect">
            <a:avLst>
              <a:gd name="adj" fmla="val 5217"/>
            </a:avLst>
          </a:prstGeom>
          <a:solidFill>
            <a:schemeClr val="bg1"/>
          </a:solidFill>
          <a:ln w="12700">
            <a:solidFill>
              <a:schemeClr val="accent6"/>
            </a:solidFill>
            <a:prstDash val="solid"/>
          </a:ln>
        </p:spPr>
      </p:sp>
      <p:sp>
        <p:nvSpPr>
          <p:cNvPr id="38" name="num_665"/>
          <p:cNvSpPr/>
          <p:nvPr/>
        </p:nvSpPr>
        <p:spPr>
          <a:xfrm>
            <a:off x="7562088" y="3282696"/>
            <a:ext cx="329184" cy="329184"/>
          </a:xfrm>
          <a:prstGeom prst="ellipse">
            <a:avLst/>
          </a:prstGeom>
          <a:solidFill>
            <a:schemeClr val="tx2"/>
          </a:solidFill>
          <a:ln w="12700">
            <a:solidFill>
              <a:schemeClr val="tx2"/>
            </a:solidFill>
            <a:prstDash val="solid"/>
          </a:ln>
        </p:spPr>
      </p:sp>
      <p:sp>
        <p:nvSpPr>
          <p:cNvPr id="39" name="numtxt_666"/>
          <p:cNvSpPr txBox="1"/>
          <p:nvPr/>
        </p:nvSpPr>
        <p:spPr>
          <a:xfrm>
            <a:off x="7562088" y="32826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0" name="txt_667"/>
          <p:cNvSpPr txBox="1"/>
          <p:nvPr/>
        </p:nvSpPr>
        <p:spPr>
          <a:xfrm>
            <a:off x="7982712" y="3227832"/>
            <a:ext cx="1508760" cy="502920"/>
          </a:xfrm>
          <a:prstGeom prst="rect">
            <a:avLst/>
          </a:prstGeom>
          <a:noFill/>
          <a:ln/>
        </p:spPr>
        <p:txBody>
          <a:bodyPr wrap="square" lIns="0" tIns="0" rIns="0" bIns="0" rtlCol="0" anchor="ctr"/>
          <a:lstStyle/>
          <a:p>
            <a:pPr indent="0" marL="0">
              <a:buNone/>
            </a:pPr>
            <a:r>
              <a:rPr lang="en-US" sz="1300" b="1" dirty="0">
                <a:solidFill>
                  <a:schemeClr val="tx2"/>
                </a:solidFill>
              </a:rPr>
              <a:t>One UC Page per core entity</a:t>
            </a:r>
            <a:endParaRPr lang="en-US" sz="1300" dirty="0"/>
          </a:p>
        </p:txBody>
      </p:sp>
      <p:sp>
        <p:nvSpPr>
          <p:cNvPr id="41" name="pill_668"/>
          <p:cNvSpPr/>
          <p:nvPr/>
        </p:nvSpPr>
        <p:spPr>
          <a:xfrm>
            <a:off x="7982712" y="3813048"/>
            <a:ext cx="1234440" cy="274320"/>
          </a:xfrm>
          <a:prstGeom prst="roundRect">
            <a:avLst>
              <a:gd name="adj" fmla="val 50000"/>
            </a:avLst>
          </a:prstGeom>
          <a:solidFill>
            <a:schemeClr val="accent5">
              <a:alpha val="22000"/>
            </a:schemeClr>
          </a:solidFill>
          <a:ln w="12700">
            <a:solidFill>
              <a:schemeClr val="accent5"/>
            </a:solidFill>
            <a:prstDash val="solid"/>
          </a:ln>
        </p:spPr>
      </p:sp>
      <p:sp>
        <p:nvSpPr>
          <p:cNvPr id="42" name="txt_669"/>
          <p:cNvSpPr txBox="1"/>
          <p:nvPr/>
        </p:nvSpPr>
        <p:spPr>
          <a:xfrm>
            <a:off x="7982712" y="3813048"/>
            <a:ext cx="1234440" cy="274320"/>
          </a:xfrm>
          <a:prstGeom prst="rect">
            <a:avLst/>
          </a:prstGeom>
          <a:noFill/>
          <a:ln/>
        </p:spPr>
        <p:txBody>
          <a:bodyPr wrap="square" lIns="0" tIns="0" rIns="0" bIns="0" rtlCol="0" anchor="ctr"/>
          <a:lstStyle/>
          <a:p>
            <a:pPr algn="ctr" indent="0" marL="0">
              <a:buNone/>
            </a:pPr>
            <a:r>
              <a:rPr lang="en-US" sz="1100" b="1" dirty="0">
                <a:solidFill>
                  <a:schemeClr val="tx2"/>
                </a:solidFill>
              </a:rPr>
              <a:t>We build it</a:t>
            </a:r>
            <a:endParaRPr lang="en-US" sz="1100" dirty="0"/>
          </a:p>
        </p:txBody>
      </p:sp>
      <p:sp>
        <p:nvSpPr>
          <p:cNvPr id="43" name="line_670"/>
          <p:cNvSpPr/>
          <p:nvPr/>
        </p:nvSpPr>
        <p:spPr>
          <a:xfrm>
            <a:off x="9601200" y="3680460"/>
            <a:ext cx="365760" cy="0"/>
          </a:xfrm>
          <a:prstGeom prst="line">
            <a:avLst/>
          </a:prstGeom>
          <a:noFill/>
          <a:ln w="19050">
            <a:solidFill>
              <a:schemeClr val="accent6"/>
            </a:solidFill>
            <a:prstDash val="solid"/>
            <a:tailEnd type="triangle"/>
          </a:ln>
        </p:spPr>
      </p:sp>
      <p:sp>
        <p:nvSpPr>
          <p:cNvPr id="44" name="card_671"/>
          <p:cNvSpPr/>
          <p:nvPr/>
        </p:nvSpPr>
        <p:spPr>
          <a:xfrm>
            <a:off x="9966960" y="3154680"/>
            <a:ext cx="1645920" cy="1051560"/>
          </a:xfrm>
          <a:prstGeom prst="roundRect">
            <a:avLst>
              <a:gd name="adj" fmla="val 6957"/>
            </a:avLst>
          </a:prstGeom>
          <a:solidFill>
            <a:schemeClr val="bg2"/>
          </a:solidFill>
          <a:ln w="12700">
            <a:solidFill>
              <a:schemeClr val="bg2"/>
            </a:solidFill>
            <a:prstDash val="solid"/>
          </a:ln>
        </p:spPr>
      </p:sp>
      <p:sp>
        <p:nvSpPr>
          <p:cNvPr id="45" name="txt_672"/>
          <p:cNvSpPr txBox="1"/>
          <p:nvPr/>
        </p:nvSpPr>
        <p:spPr>
          <a:xfrm>
            <a:off x="10104120" y="3154680"/>
            <a:ext cx="1371600" cy="1051560"/>
          </a:xfrm>
          <a:prstGeom prst="rect">
            <a:avLst/>
          </a:prstGeom>
          <a:noFill/>
          <a:ln/>
        </p:spPr>
        <p:txBody>
          <a:bodyPr wrap="square" lIns="0" tIns="0" rIns="0" bIns="0" rtlCol="0" anchor="ctr"/>
          <a:lstStyle/>
          <a:p>
            <a:pPr indent="0" marL="0">
              <a:buNone/>
            </a:pPr>
            <a:r>
              <a:rPr lang="en-US" sz="1300" dirty="0">
                <a:solidFill>
                  <a:schemeClr val="tx1"/>
                </a:solidFill>
              </a:rPr>
              <a:t>Genie Ontology's modeled context</a:t>
            </a:r>
            <a:endParaRPr lang="en-US" sz="1300" dirty="0"/>
          </a:p>
        </p:txBody>
      </p:sp>
      <p:sp>
        <p:nvSpPr>
          <p:cNvPr id="46" name="line_673"/>
          <p:cNvSpPr/>
          <p:nvPr/>
        </p:nvSpPr>
        <p:spPr>
          <a:xfrm>
            <a:off x="7132320" y="5052060"/>
            <a:ext cx="320040" cy="0"/>
          </a:xfrm>
          <a:prstGeom prst="line">
            <a:avLst/>
          </a:prstGeom>
          <a:noFill/>
          <a:ln w="19050">
            <a:solidFill>
              <a:schemeClr val="accent6"/>
            </a:solidFill>
            <a:prstDash val="solid"/>
            <a:tailEnd type="triangle"/>
          </a:ln>
        </p:spPr>
      </p:sp>
      <p:sp>
        <p:nvSpPr>
          <p:cNvPr id="47" name="route_674"/>
          <p:cNvSpPr/>
          <p:nvPr/>
        </p:nvSpPr>
        <p:spPr>
          <a:xfrm>
            <a:off x="7452360" y="4526280"/>
            <a:ext cx="2148840" cy="1051560"/>
          </a:xfrm>
          <a:prstGeom prst="roundRect">
            <a:avLst>
              <a:gd name="adj" fmla="val 5217"/>
            </a:avLst>
          </a:prstGeom>
          <a:solidFill>
            <a:schemeClr val="bg1"/>
          </a:solidFill>
          <a:ln w="12700">
            <a:solidFill>
              <a:schemeClr val="accent6"/>
            </a:solidFill>
            <a:prstDash val="solid"/>
          </a:ln>
        </p:spPr>
      </p:sp>
      <p:sp>
        <p:nvSpPr>
          <p:cNvPr id="48" name="num_675"/>
          <p:cNvSpPr/>
          <p:nvPr/>
        </p:nvSpPr>
        <p:spPr>
          <a:xfrm>
            <a:off x="7562088" y="4654296"/>
            <a:ext cx="329184" cy="329184"/>
          </a:xfrm>
          <a:prstGeom prst="ellipse">
            <a:avLst/>
          </a:prstGeom>
          <a:solidFill>
            <a:schemeClr val="tx2"/>
          </a:solidFill>
          <a:ln w="12700">
            <a:solidFill>
              <a:schemeClr val="tx2"/>
            </a:solidFill>
            <a:prstDash val="solid"/>
          </a:ln>
        </p:spPr>
      </p:sp>
      <p:sp>
        <p:nvSpPr>
          <p:cNvPr id="49" name="numtxt_676"/>
          <p:cNvSpPr txBox="1"/>
          <p:nvPr/>
        </p:nvSpPr>
        <p:spPr>
          <a:xfrm>
            <a:off x="7562088" y="46542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0" name="txt_677"/>
          <p:cNvSpPr txBox="1"/>
          <p:nvPr/>
        </p:nvSpPr>
        <p:spPr>
          <a:xfrm>
            <a:off x="7982712" y="4599432"/>
            <a:ext cx="1508760" cy="502920"/>
          </a:xfrm>
          <a:prstGeom prst="rect">
            <a:avLst/>
          </a:prstGeom>
          <a:noFill/>
          <a:ln/>
        </p:spPr>
        <p:txBody>
          <a:bodyPr wrap="square" lIns="0" tIns="0" rIns="0" bIns="0" rtlCol="0" anchor="ctr"/>
          <a:lstStyle/>
          <a:p>
            <a:pPr indent="0" marL="0">
              <a:buNone/>
            </a:pPr>
            <a:r>
              <a:rPr lang="en-US" sz="1300" b="1" dirty="0">
                <a:solidFill>
                  <a:schemeClr val="tx2"/>
                </a:solidFill>
              </a:rPr>
              <a:t>OWL + R2RML seed</a:t>
            </a:r>
            <a:endParaRPr lang="en-US" sz="1300" dirty="0"/>
          </a:p>
        </p:txBody>
      </p:sp>
      <p:sp>
        <p:nvSpPr>
          <p:cNvPr id="51" name="pill_678"/>
          <p:cNvSpPr/>
          <p:nvPr/>
        </p:nvSpPr>
        <p:spPr>
          <a:xfrm>
            <a:off x="7982712" y="5184648"/>
            <a:ext cx="1234440" cy="274320"/>
          </a:xfrm>
          <a:prstGeom prst="roundRect">
            <a:avLst>
              <a:gd name="adj" fmla="val 50000"/>
            </a:avLst>
          </a:prstGeom>
          <a:solidFill>
            <a:schemeClr val="accent5">
              <a:alpha val="22000"/>
            </a:schemeClr>
          </a:solidFill>
          <a:ln w="12700">
            <a:solidFill>
              <a:schemeClr val="accent5"/>
            </a:solidFill>
            <a:prstDash val="solid"/>
          </a:ln>
        </p:spPr>
      </p:sp>
      <p:sp>
        <p:nvSpPr>
          <p:cNvPr id="52" name="txt_679"/>
          <p:cNvSpPr txBox="1"/>
          <p:nvPr/>
        </p:nvSpPr>
        <p:spPr>
          <a:xfrm>
            <a:off x="7982712" y="5184648"/>
            <a:ext cx="1234440" cy="274320"/>
          </a:xfrm>
          <a:prstGeom prst="rect">
            <a:avLst/>
          </a:prstGeom>
          <a:noFill/>
          <a:ln/>
        </p:spPr>
        <p:txBody>
          <a:bodyPr wrap="square" lIns="0" tIns="0" rIns="0" bIns="0" rtlCol="0" anchor="ctr"/>
          <a:lstStyle/>
          <a:p>
            <a:pPr algn="ctr" indent="0" marL="0">
              <a:buNone/>
            </a:pPr>
            <a:r>
              <a:rPr lang="en-US" sz="1100" b="1" dirty="0">
                <a:solidFill>
                  <a:schemeClr val="tx2"/>
                </a:solidFill>
              </a:rPr>
              <a:t>We build it</a:t>
            </a:r>
            <a:endParaRPr lang="en-US" sz="1100" dirty="0"/>
          </a:p>
        </p:txBody>
      </p:sp>
      <p:sp>
        <p:nvSpPr>
          <p:cNvPr id="53" name="line_680"/>
          <p:cNvSpPr/>
          <p:nvPr/>
        </p:nvSpPr>
        <p:spPr>
          <a:xfrm>
            <a:off x="9601200" y="5052060"/>
            <a:ext cx="365760" cy="0"/>
          </a:xfrm>
          <a:prstGeom prst="line">
            <a:avLst/>
          </a:prstGeom>
          <a:noFill/>
          <a:ln w="19050">
            <a:solidFill>
              <a:schemeClr val="accent6"/>
            </a:solidFill>
            <a:prstDash val="solid"/>
            <a:tailEnd type="triangle"/>
          </a:ln>
        </p:spPr>
      </p:sp>
      <p:sp>
        <p:nvSpPr>
          <p:cNvPr id="54" name="card_681"/>
          <p:cNvSpPr/>
          <p:nvPr/>
        </p:nvSpPr>
        <p:spPr>
          <a:xfrm>
            <a:off x="9966960" y="4526280"/>
            <a:ext cx="1645920" cy="1051560"/>
          </a:xfrm>
          <a:prstGeom prst="roundRect">
            <a:avLst>
              <a:gd name="adj" fmla="val 6957"/>
            </a:avLst>
          </a:prstGeom>
          <a:solidFill>
            <a:schemeClr val="bg2"/>
          </a:solidFill>
          <a:ln w="12700">
            <a:solidFill>
              <a:schemeClr val="bg2"/>
            </a:solidFill>
            <a:prstDash val="solid"/>
          </a:ln>
        </p:spPr>
      </p:sp>
      <p:sp>
        <p:nvSpPr>
          <p:cNvPr id="55" name="txt_682"/>
          <p:cNvSpPr txBox="1"/>
          <p:nvPr/>
        </p:nvSpPr>
        <p:spPr>
          <a:xfrm>
            <a:off x="10104120" y="4526280"/>
            <a:ext cx="1371600" cy="1051560"/>
          </a:xfrm>
          <a:prstGeom prst="rect">
            <a:avLst/>
          </a:prstGeom>
          <a:noFill/>
          <a:ln/>
        </p:spPr>
        <p:txBody>
          <a:bodyPr wrap="square" lIns="0" tIns="0" rIns="0" bIns="0" rtlCol="0" anchor="ctr"/>
          <a:lstStyle/>
          <a:p>
            <a:pPr indent="0" marL="0">
              <a:buNone/>
            </a:pPr>
            <a:r>
              <a:rPr lang="en-US" sz="1300" dirty="0">
                <a:solidFill>
                  <a:schemeClr val="tx1"/>
                </a:solidFill>
              </a:rPr>
              <a:t>OntoBricks or Ontop formal layer</a:t>
            </a:r>
            <a:endParaRPr lang="en-US" sz="1300" dirty="0"/>
          </a:p>
        </p:txBody>
      </p:sp>
      <p:sp>
        <p:nvSpPr>
          <p:cNvPr id="56" name="txt_683"/>
          <p:cNvSpPr txBox="1"/>
          <p:nvPr/>
        </p:nvSpPr>
        <p:spPr>
          <a:xfrm>
            <a:off x="5120640" y="5760720"/>
            <a:ext cx="6492240" cy="411480"/>
          </a:xfrm>
          <a:prstGeom prst="rect">
            <a:avLst/>
          </a:prstGeom>
          <a:noFill/>
          <a:ln/>
        </p:spPr>
        <p:txBody>
          <a:bodyPr wrap="square" lIns="0" tIns="0" rIns="0" bIns="0" rtlCol="0" anchor="t"/>
          <a:lstStyle/>
          <a:p>
            <a:pPr indent="0" marL="0">
              <a:buNone/>
            </a:pPr>
            <a:r>
              <a:rPr lang="en-US" sz="1100" i="1" dirty="0">
                <a:solidFill>
                  <a:schemeClr val="accent6"/>
                </a:solidFill>
              </a:rPr>
              <a:t>Partly today: approved foreign keys already write back to UC; entity tags need verifying. We build it: our own code or curation.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to prove before we commit</a:t>
            </a:r>
            <a:endParaRPr lang="en-US" sz="3600" dirty="0"/>
          </a:p>
        </p:txBody>
      </p:sp>
      <p:sp>
        <p:nvSpPr>
          <p:cNvPr id="3" name="card_684"/>
          <p:cNvSpPr/>
          <p:nvPr/>
        </p:nvSpPr>
        <p:spPr>
          <a:xfrm>
            <a:off x="548640" y="1554480"/>
            <a:ext cx="2560320" cy="1920240"/>
          </a:xfrm>
          <a:prstGeom prst="roundRect">
            <a:avLst>
              <a:gd name="adj" fmla="val 3810"/>
            </a:avLst>
          </a:prstGeom>
          <a:solidFill>
            <a:schemeClr val="bg2"/>
          </a:solidFill>
          <a:ln w="12700">
            <a:solidFill>
              <a:schemeClr val="bg2"/>
            </a:solidFill>
            <a:prstDash val="solid"/>
          </a:ln>
        </p:spPr>
      </p:sp>
      <p:sp>
        <p:nvSpPr>
          <p:cNvPr id="4" name="node_685"/>
          <p:cNvSpPr/>
          <p:nvPr/>
        </p:nvSpPr>
        <p:spPr>
          <a:xfrm>
            <a:off x="749808" y="1755648"/>
            <a:ext cx="502920" cy="502920"/>
          </a:xfrm>
          <a:prstGeom prst="ellipse">
            <a:avLst/>
          </a:prstGeom>
          <a:solidFill>
            <a:schemeClr val="tx2"/>
          </a:solidFill>
          <a:ln w="12700">
            <a:solidFill>
              <a:schemeClr val="tx2"/>
            </a:solidFill>
            <a:prstDash val="solid"/>
          </a:ln>
        </p:spPr>
      </p:sp>
      <p:pic>
        <p:nvPicPr>
          <p:cNvPr id="5" name="icon_686" descr="preencoded.png">    </p:cNvPr>
          <p:cNvPicPr>
            <a:picLocks noChangeAspect="1"/>
          </p:cNvPicPr>
          <p:nvPr/>
        </p:nvPicPr>
        <p:blipFill>
          <a:blip r:embed="rId1"/>
          <a:stretch>
            <a:fillRect/>
          </a:stretch>
        </p:blipFill>
        <p:spPr>
          <a:xfrm>
            <a:off x="870509" y="1876349"/>
            <a:ext cx="261518" cy="261518"/>
          </a:xfrm>
          <a:prstGeom prst="rect">
            <a:avLst/>
          </a:prstGeom>
        </p:spPr>
      </p:pic>
      <p:sp>
        <p:nvSpPr>
          <p:cNvPr id="6" name="txt_687"/>
          <p:cNvSpPr txBox="1"/>
          <p:nvPr/>
        </p:nvSpPr>
        <p:spPr>
          <a:xfrm>
            <a:off x="1371600" y="171907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ABAC end to end</a:t>
            </a:r>
            <a:endParaRPr lang="en-US" sz="1600" dirty="0"/>
          </a:p>
        </p:txBody>
      </p:sp>
      <p:sp>
        <p:nvSpPr>
          <p:cNvPr id="7" name="txt_688"/>
          <p:cNvSpPr txBox="1"/>
          <p:nvPr/>
        </p:nvSpPr>
        <p:spPr>
          <a:xfrm>
            <a:off x="749808" y="2450592"/>
            <a:ext cx="2157984" cy="1234440"/>
          </a:xfrm>
          <a:prstGeom prst="rect">
            <a:avLst/>
          </a:prstGeom>
          <a:noFill/>
          <a:ln/>
        </p:spPr>
        <p:txBody>
          <a:bodyPr wrap="square" lIns="0" tIns="0" rIns="0" bIns="0" rtlCol="0" anchor="t"/>
          <a:lstStyle/>
          <a:p>
            <a:pPr indent="0" marL="0">
              <a:buNone/>
            </a:pPr>
            <a:r>
              <a:rPr lang="en-US" sz="1400" dirty="0">
                <a:solidFill>
                  <a:schemeClr val="tx1"/>
                </a:solidFill>
              </a:rPr>
              <a:t>Prove row filters and masks hold on every path: Genie, OntoBricks' build and copy, the Ontop endpoint.</a:t>
            </a:r>
            <a:endParaRPr lang="en-US" sz="1400" dirty="0"/>
          </a:p>
        </p:txBody>
      </p:sp>
      <p:sp>
        <p:nvSpPr>
          <p:cNvPr id="8" name="card_689"/>
          <p:cNvSpPr/>
          <p:nvPr/>
        </p:nvSpPr>
        <p:spPr>
          <a:xfrm>
            <a:off x="3383280" y="1554480"/>
            <a:ext cx="2560320" cy="1920240"/>
          </a:xfrm>
          <a:prstGeom prst="roundRect">
            <a:avLst>
              <a:gd name="adj" fmla="val 3810"/>
            </a:avLst>
          </a:prstGeom>
          <a:solidFill>
            <a:schemeClr val="bg2"/>
          </a:solidFill>
          <a:ln w="12700">
            <a:solidFill>
              <a:schemeClr val="bg2"/>
            </a:solidFill>
            <a:prstDash val="solid"/>
          </a:ln>
        </p:spPr>
      </p:sp>
      <p:sp>
        <p:nvSpPr>
          <p:cNvPr id="9" name="node_690"/>
          <p:cNvSpPr/>
          <p:nvPr/>
        </p:nvSpPr>
        <p:spPr>
          <a:xfrm>
            <a:off x="3584448" y="1755648"/>
            <a:ext cx="502920" cy="502920"/>
          </a:xfrm>
          <a:prstGeom prst="ellipse">
            <a:avLst/>
          </a:prstGeom>
          <a:solidFill>
            <a:schemeClr val="tx2"/>
          </a:solidFill>
          <a:ln w="12700">
            <a:solidFill>
              <a:schemeClr val="tx2"/>
            </a:solidFill>
            <a:prstDash val="solid"/>
          </a:ln>
        </p:spPr>
      </p:sp>
      <p:pic>
        <p:nvPicPr>
          <p:cNvPr id="10" name="icon_691" descr="preencoded.png">    </p:cNvPr>
          <p:cNvPicPr>
            <a:picLocks noChangeAspect="1"/>
          </p:cNvPicPr>
          <p:nvPr/>
        </p:nvPicPr>
        <p:blipFill>
          <a:blip r:embed="rId2"/>
          <a:stretch>
            <a:fillRect/>
          </a:stretch>
        </p:blipFill>
        <p:spPr>
          <a:xfrm>
            <a:off x="3705149" y="1876349"/>
            <a:ext cx="261518" cy="261518"/>
          </a:xfrm>
          <a:prstGeom prst="rect">
            <a:avLst/>
          </a:prstGeom>
        </p:spPr>
      </p:pic>
      <p:sp>
        <p:nvSpPr>
          <p:cNvPr id="11" name="txt_692"/>
          <p:cNvSpPr txBox="1"/>
          <p:nvPr/>
        </p:nvSpPr>
        <p:spPr>
          <a:xfrm>
            <a:off x="4206240" y="171907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PHI and the LLM</a:t>
            </a:r>
            <a:endParaRPr lang="en-US" sz="1600" dirty="0"/>
          </a:p>
        </p:txBody>
      </p:sp>
      <p:sp>
        <p:nvSpPr>
          <p:cNvPr id="12" name="txt_693"/>
          <p:cNvSpPr txBox="1"/>
          <p:nvPr/>
        </p:nvSpPr>
        <p:spPr>
          <a:xfrm>
            <a:off x="3584448" y="2450592"/>
            <a:ext cx="2157984" cy="1234440"/>
          </a:xfrm>
          <a:prstGeom prst="rect">
            <a:avLst/>
          </a:prstGeom>
          <a:noFill/>
          <a:ln/>
        </p:spPr>
        <p:txBody>
          <a:bodyPr wrap="square" lIns="0" tIns="0" rIns="0" bIns="0" rtlCol="0" anchor="t"/>
          <a:lstStyle/>
          <a:p>
            <a:pPr indent="0" marL="0">
              <a:buNone/>
            </a:pPr>
            <a:r>
              <a:rPr lang="en-US" sz="1400" dirty="0">
                <a:solidFill>
                  <a:schemeClr val="tx1"/>
                </a:solidFill>
              </a:rPr>
              <a:t>dbxmetagen sends sample rows to the model by default. Test allow_data=false and its quality cost.</a:t>
            </a:r>
            <a:endParaRPr lang="en-US" sz="1400" dirty="0"/>
          </a:p>
        </p:txBody>
      </p:sp>
      <p:sp>
        <p:nvSpPr>
          <p:cNvPr id="13" name="card_694"/>
          <p:cNvSpPr/>
          <p:nvPr/>
        </p:nvSpPr>
        <p:spPr>
          <a:xfrm>
            <a:off x="6217920" y="1554480"/>
            <a:ext cx="2560320" cy="1920240"/>
          </a:xfrm>
          <a:prstGeom prst="roundRect">
            <a:avLst>
              <a:gd name="adj" fmla="val 3810"/>
            </a:avLst>
          </a:prstGeom>
          <a:solidFill>
            <a:schemeClr val="bg2"/>
          </a:solidFill>
          <a:ln w="12700">
            <a:solidFill>
              <a:schemeClr val="bg2"/>
            </a:solidFill>
            <a:prstDash val="solid"/>
          </a:ln>
        </p:spPr>
      </p:sp>
      <p:sp>
        <p:nvSpPr>
          <p:cNvPr id="14" name="node_695"/>
          <p:cNvSpPr/>
          <p:nvPr/>
        </p:nvSpPr>
        <p:spPr>
          <a:xfrm>
            <a:off x="6419088" y="1755648"/>
            <a:ext cx="502920" cy="502920"/>
          </a:xfrm>
          <a:prstGeom prst="ellipse">
            <a:avLst/>
          </a:prstGeom>
          <a:solidFill>
            <a:schemeClr val="tx2"/>
          </a:solidFill>
          <a:ln w="12700">
            <a:solidFill>
              <a:schemeClr val="tx2"/>
            </a:solidFill>
            <a:prstDash val="solid"/>
          </a:ln>
        </p:spPr>
      </p:sp>
      <p:pic>
        <p:nvPicPr>
          <p:cNvPr id="15" name="icon_696" descr="preencoded.png">    </p:cNvPr>
          <p:cNvPicPr>
            <a:picLocks noChangeAspect="1"/>
          </p:cNvPicPr>
          <p:nvPr/>
        </p:nvPicPr>
        <p:blipFill>
          <a:blip r:embed="rId3"/>
          <a:stretch>
            <a:fillRect/>
          </a:stretch>
        </p:blipFill>
        <p:spPr>
          <a:xfrm>
            <a:off x="6539789" y="1876349"/>
            <a:ext cx="261518" cy="261518"/>
          </a:xfrm>
          <a:prstGeom prst="rect">
            <a:avLst/>
          </a:prstGeom>
        </p:spPr>
      </p:pic>
      <p:sp>
        <p:nvSpPr>
          <p:cNvPr id="16" name="txt_697"/>
          <p:cNvSpPr txBox="1"/>
          <p:nvPr/>
        </p:nvSpPr>
        <p:spPr>
          <a:xfrm>
            <a:off x="7040880" y="171907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dbxmetagen projection</a:t>
            </a:r>
            <a:endParaRPr lang="en-US" sz="1600" dirty="0"/>
          </a:p>
        </p:txBody>
      </p:sp>
      <p:sp>
        <p:nvSpPr>
          <p:cNvPr id="17" name="txt_698"/>
          <p:cNvSpPr txBox="1"/>
          <p:nvPr/>
        </p:nvSpPr>
        <p:spPr>
          <a:xfrm>
            <a:off x="6419088" y="2450592"/>
            <a:ext cx="2157984" cy="1234440"/>
          </a:xfrm>
          <a:prstGeom prst="rect">
            <a:avLst/>
          </a:prstGeom>
          <a:noFill/>
          <a:ln/>
        </p:spPr>
        <p:txBody>
          <a:bodyPr wrap="square" lIns="0" tIns="0" rIns="0" bIns="0" rtlCol="0" anchor="t"/>
          <a:lstStyle/>
          <a:p>
            <a:pPr indent="0" marL="0">
              <a:buNone/>
            </a:pPr>
            <a:r>
              <a:rPr lang="en-US" sz="1400" dirty="0">
                <a:solidFill>
                  <a:schemeClr val="tx1"/>
                </a:solidFill>
              </a:rPr>
              <a:t>Prove its entity bindings can become UC tags and FK constraints that Genie and ABAC can use.</a:t>
            </a:r>
            <a:endParaRPr lang="en-US" sz="1400" dirty="0"/>
          </a:p>
        </p:txBody>
      </p:sp>
      <p:sp>
        <p:nvSpPr>
          <p:cNvPr id="18" name="card_699"/>
          <p:cNvSpPr/>
          <p:nvPr/>
        </p:nvSpPr>
        <p:spPr>
          <a:xfrm>
            <a:off x="9052560" y="1554480"/>
            <a:ext cx="2560320" cy="1920240"/>
          </a:xfrm>
          <a:prstGeom prst="roundRect">
            <a:avLst>
              <a:gd name="adj" fmla="val 3810"/>
            </a:avLst>
          </a:prstGeom>
          <a:solidFill>
            <a:schemeClr val="bg2"/>
          </a:solidFill>
          <a:ln w="12700">
            <a:solidFill>
              <a:schemeClr val="bg2"/>
            </a:solidFill>
            <a:prstDash val="solid"/>
          </a:ln>
        </p:spPr>
      </p:sp>
      <p:sp>
        <p:nvSpPr>
          <p:cNvPr id="19" name="node_700"/>
          <p:cNvSpPr/>
          <p:nvPr/>
        </p:nvSpPr>
        <p:spPr>
          <a:xfrm>
            <a:off x="9253728" y="1755648"/>
            <a:ext cx="502920" cy="502920"/>
          </a:xfrm>
          <a:prstGeom prst="ellipse">
            <a:avLst/>
          </a:prstGeom>
          <a:solidFill>
            <a:schemeClr val="tx2"/>
          </a:solidFill>
          <a:ln w="12700">
            <a:solidFill>
              <a:schemeClr val="tx2"/>
            </a:solidFill>
            <a:prstDash val="solid"/>
          </a:ln>
        </p:spPr>
      </p:sp>
      <p:pic>
        <p:nvPicPr>
          <p:cNvPr id="20" name="icon_701" descr="preencoded.png">    </p:cNvPr>
          <p:cNvPicPr>
            <a:picLocks noChangeAspect="1"/>
          </p:cNvPicPr>
          <p:nvPr/>
        </p:nvPicPr>
        <p:blipFill>
          <a:blip r:embed="rId4"/>
          <a:stretch>
            <a:fillRect/>
          </a:stretch>
        </p:blipFill>
        <p:spPr>
          <a:xfrm>
            <a:off x="9374429" y="1876349"/>
            <a:ext cx="261518" cy="261518"/>
          </a:xfrm>
          <a:prstGeom prst="rect">
            <a:avLst/>
          </a:prstGeom>
        </p:spPr>
      </p:pic>
      <p:sp>
        <p:nvSpPr>
          <p:cNvPr id="21" name="txt_702"/>
          <p:cNvSpPr txBox="1"/>
          <p:nvPr/>
        </p:nvSpPr>
        <p:spPr>
          <a:xfrm>
            <a:off x="9875520" y="171907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Ontop performance</a:t>
            </a:r>
            <a:endParaRPr lang="en-US" sz="1600" dirty="0"/>
          </a:p>
        </p:txBody>
      </p:sp>
      <p:sp>
        <p:nvSpPr>
          <p:cNvPr id="22" name="txt_703"/>
          <p:cNvSpPr txBox="1"/>
          <p:nvPr/>
        </p:nvSpPr>
        <p:spPr>
          <a:xfrm>
            <a:off x="9253728" y="2450592"/>
            <a:ext cx="2157984" cy="1234440"/>
          </a:xfrm>
          <a:prstGeom prst="rect">
            <a:avLst/>
          </a:prstGeom>
          <a:noFill/>
          <a:ln/>
        </p:spPr>
        <p:txBody>
          <a:bodyPr wrap="square" lIns="0" tIns="0" rIns="0" bIns="0" rtlCol="0" anchor="t"/>
          <a:lstStyle/>
          <a:p>
            <a:pPr indent="0" marL="0">
              <a:buNone/>
            </a:pPr>
            <a:r>
              <a:rPr lang="en-US" sz="1400" dirty="0">
                <a:solidFill>
                  <a:schemeClr val="tx1"/>
                </a:solidFill>
              </a:rPr>
              <a:t>Databricks doesn't expose constraints to Ontop. Declare them via lenses; benchmark realistic joins.</a:t>
            </a:r>
            <a:endParaRPr lang="en-US" sz="1400" dirty="0"/>
          </a:p>
        </p:txBody>
      </p:sp>
      <p:sp>
        <p:nvSpPr>
          <p:cNvPr id="23" name="card_704"/>
          <p:cNvSpPr/>
          <p:nvPr/>
        </p:nvSpPr>
        <p:spPr>
          <a:xfrm>
            <a:off x="1965960" y="3794760"/>
            <a:ext cx="2560320" cy="1920240"/>
          </a:xfrm>
          <a:prstGeom prst="roundRect">
            <a:avLst>
              <a:gd name="adj" fmla="val 3810"/>
            </a:avLst>
          </a:prstGeom>
          <a:solidFill>
            <a:schemeClr val="bg2"/>
          </a:solidFill>
          <a:ln w="12700">
            <a:solidFill>
              <a:schemeClr val="bg2"/>
            </a:solidFill>
            <a:prstDash val="solid"/>
          </a:ln>
        </p:spPr>
      </p:sp>
      <p:sp>
        <p:nvSpPr>
          <p:cNvPr id="24" name="node_705"/>
          <p:cNvSpPr/>
          <p:nvPr/>
        </p:nvSpPr>
        <p:spPr>
          <a:xfrm>
            <a:off x="2167128" y="3995928"/>
            <a:ext cx="502920" cy="502920"/>
          </a:xfrm>
          <a:prstGeom prst="ellipse">
            <a:avLst/>
          </a:prstGeom>
          <a:solidFill>
            <a:schemeClr val="tx2"/>
          </a:solidFill>
          <a:ln w="12700">
            <a:solidFill>
              <a:schemeClr val="tx2"/>
            </a:solidFill>
            <a:prstDash val="solid"/>
          </a:ln>
        </p:spPr>
      </p:sp>
      <p:pic>
        <p:nvPicPr>
          <p:cNvPr id="25" name="icon_706" descr="preencoded.png">    </p:cNvPr>
          <p:cNvPicPr>
            <a:picLocks noChangeAspect="1"/>
          </p:cNvPicPr>
          <p:nvPr/>
        </p:nvPicPr>
        <p:blipFill>
          <a:blip r:embed="rId5"/>
          <a:stretch>
            <a:fillRect/>
          </a:stretch>
        </p:blipFill>
        <p:spPr>
          <a:xfrm>
            <a:off x="2287829" y="4116629"/>
            <a:ext cx="261518" cy="261518"/>
          </a:xfrm>
          <a:prstGeom prst="rect">
            <a:avLst/>
          </a:prstGeom>
        </p:spPr>
      </p:pic>
      <p:sp>
        <p:nvSpPr>
          <p:cNvPr id="26" name="txt_707"/>
          <p:cNvSpPr txBox="1"/>
          <p:nvPr/>
        </p:nvSpPr>
        <p:spPr>
          <a:xfrm>
            <a:off x="2788920" y="395935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Genie on our questions</a:t>
            </a:r>
            <a:endParaRPr lang="en-US" sz="1600" dirty="0"/>
          </a:p>
        </p:txBody>
      </p:sp>
      <p:sp>
        <p:nvSpPr>
          <p:cNvPr id="27" name="txt_708"/>
          <p:cNvSpPr txBox="1"/>
          <p:nvPr/>
        </p:nvSpPr>
        <p:spPr>
          <a:xfrm>
            <a:off x="2167128" y="4690872"/>
            <a:ext cx="2157984" cy="1234440"/>
          </a:xfrm>
          <a:prstGeom prst="rect">
            <a:avLst/>
          </a:prstGeom>
          <a:noFill/>
          <a:ln/>
        </p:spPr>
        <p:txBody>
          <a:bodyPr wrap="square" lIns="0" tIns="0" rIns="0" bIns="0" rtlCol="0" anchor="t"/>
          <a:lstStyle/>
          <a:p>
            <a:pPr indent="0" marL="0">
              <a:buNone/>
            </a:pPr>
            <a:r>
              <a:rPr lang="en-US" sz="1400" dirty="0">
                <a:solidFill>
                  <a:schemeClr val="tx1"/>
                </a:solidFill>
              </a:rPr>
              <a:t>Genie Ontology is in Public Preview. Benchmark it on our clinical questions against current Genie spaces.</a:t>
            </a:r>
            <a:endParaRPr lang="en-US" sz="1400" dirty="0"/>
          </a:p>
        </p:txBody>
      </p:sp>
      <p:sp>
        <p:nvSpPr>
          <p:cNvPr id="28" name="card_709"/>
          <p:cNvSpPr/>
          <p:nvPr/>
        </p:nvSpPr>
        <p:spPr>
          <a:xfrm>
            <a:off x="4800600" y="3794760"/>
            <a:ext cx="2560320" cy="1920240"/>
          </a:xfrm>
          <a:prstGeom prst="roundRect">
            <a:avLst>
              <a:gd name="adj" fmla="val 3810"/>
            </a:avLst>
          </a:prstGeom>
          <a:solidFill>
            <a:schemeClr val="bg2"/>
          </a:solidFill>
          <a:ln w="12700">
            <a:solidFill>
              <a:schemeClr val="bg2"/>
            </a:solidFill>
            <a:prstDash val="solid"/>
          </a:ln>
        </p:spPr>
      </p:sp>
      <p:sp>
        <p:nvSpPr>
          <p:cNvPr id="29" name="node_710"/>
          <p:cNvSpPr/>
          <p:nvPr/>
        </p:nvSpPr>
        <p:spPr>
          <a:xfrm>
            <a:off x="5001768" y="3995928"/>
            <a:ext cx="502920" cy="502920"/>
          </a:xfrm>
          <a:prstGeom prst="ellipse">
            <a:avLst/>
          </a:prstGeom>
          <a:solidFill>
            <a:schemeClr val="tx2"/>
          </a:solidFill>
          <a:ln w="12700">
            <a:solidFill>
              <a:schemeClr val="tx2"/>
            </a:solidFill>
            <a:prstDash val="solid"/>
          </a:ln>
        </p:spPr>
      </p:sp>
      <p:pic>
        <p:nvPicPr>
          <p:cNvPr id="30" name="icon_711" descr="preencoded.png">    </p:cNvPr>
          <p:cNvPicPr>
            <a:picLocks noChangeAspect="1"/>
          </p:cNvPicPr>
          <p:nvPr/>
        </p:nvPicPr>
        <p:blipFill>
          <a:blip r:embed="rId6"/>
          <a:stretch>
            <a:fillRect/>
          </a:stretch>
        </p:blipFill>
        <p:spPr>
          <a:xfrm>
            <a:off x="5122469" y="4116629"/>
            <a:ext cx="261518" cy="261518"/>
          </a:xfrm>
          <a:prstGeom prst="rect">
            <a:avLst/>
          </a:prstGeom>
        </p:spPr>
      </p:pic>
      <p:sp>
        <p:nvSpPr>
          <p:cNvPr id="31" name="txt_712"/>
          <p:cNvSpPr txBox="1"/>
          <p:nvPr/>
        </p:nvSpPr>
        <p:spPr>
          <a:xfrm>
            <a:off x="5623560" y="395935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CDISC fidelity and scale</a:t>
            </a:r>
            <a:endParaRPr lang="en-US" sz="1600" dirty="0"/>
          </a:p>
        </p:txBody>
      </p:sp>
      <p:sp>
        <p:nvSpPr>
          <p:cNvPr id="32" name="txt_713"/>
          <p:cNvSpPr txBox="1"/>
          <p:nvPr/>
        </p:nvSpPr>
        <p:spPr>
          <a:xfrm>
            <a:off x="5001768" y="4690872"/>
            <a:ext cx="2157984" cy="1234440"/>
          </a:xfrm>
          <a:prstGeom prst="rect">
            <a:avLst/>
          </a:prstGeom>
          <a:noFill/>
          <a:ln/>
        </p:spPr>
        <p:txBody>
          <a:bodyPr wrap="square" lIns="0" tIns="0" rIns="0" bIns="0" rtlCol="0" anchor="t"/>
          <a:lstStyle/>
          <a:p>
            <a:pPr indent="0" marL="0">
              <a:buNone/>
            </a:pPr>
            <a:r>
              <a:rPr lang="en-US" sz="1400" dirty="0">
                <a:solidFill>
                  <a:schemeClr val="tx1"/>
                </a:solidFill>
              </a:rPr>
              <a:t>Check OntoBricks' SDTM and ADaM import, and limits like the 500k-triple analytics default.</a:t>
            </a:r>
            <a:endParaRPr lang="en-US" sz="1400" dirty="0"/>
          </a:p>
        </p:txBody>
      </p:sp>
      <p:sp>
        <p:nvSpPr>
          <p:cNvPr id="33" name="card_714"/>
          <p:cNvSpPr/>
          <p:nvPr/>
        </p:nvSpPr>
        <p:spPr>
          <a:xfrm>
            <a:off x="7635240" y="3794760"/>
            <a:ext cx="2560320" cy="1920240"/>
          </a:xfrm>
          <a:prstGeom prst="roundRect">
            <a:avLst>
              <a:gd name="adj" fmla="val 3810"/>
            </a:avLst>
          </a:prstGeom>
          <a:solidFill>
            <a:schemeClr val="bg2"/>
          </a:solidFill>
          <a:ln w="12700">
            <a:solidFill>
              <a:schemeClr val="bg2"/>
            </a:solidFill>
            <a:prstDash val="solid"/>
          </a:ln>
        </p:spPr>
      </p:sp>
      <p:sp>
        <p:nvSpPr>
          <p:cNvPr id="34" name="node_715"/>
          <p:cNvSpPr/>
          <p:nvPr/>
        </p:nvSpPr>
        <p:spPr>
          <a:xfrm>
            <a:off x="7836408" y="3995928"/>
            <a:ext cx="502920" cy="502920"/>
          </a:xfrm>
          <a:prstGeom prst="ellipse">
            <a:avLst/>
          </a:prstGeom>
          <a:solidFill>
            <a:schemeClr val="tx2"/>
          </a:solidFill>
          <a:ln w="12700">
            <a:solidFill>
              <a:schemeClr val="tx2"/>
            </a:solidFill>
            <a:prstDash val="solid"/>
          </a:ln>
        </p:spPr>
      </p:sp>
      <p:pic>
        <p:nvPicPr>
          <p:cNvPr id="35" name="icon_716" descr="preencoded.png">    </p:cNvPr>
          <p:cNvPicPr>
            <a:picLocks noChangeAspect="1"/>
          </p:cNvPicPr>
          <p:nvPr/>
        </p:nvPicPr>
        <p:blipFill>
          <a:blip r:embed="rId7"/>
          <a:stretch>
            <a:fillRect/>
          </a:stretch>
        </p:blipFill>
        <p:spPr>
          <a:xfrm>
            <a:off x="7957109" y="4116629"/>
            <a:ext cx="261518" cy="261518"/>
          </a:xfrm>
          <a:prstGeom prst="rect">
            <a:avLst/>
          </a:prstGeom>
        </p:spPr>
      </p:pic>
      <p:sp>
        <p:nvSpPr>
          <p:cNvPr id="36" name="txt_717"/>
          <p:cNvSpPr txBox="1"/>
          <p:nvPr/>
        </p:nvSpPr>
        <p:spPr>
          <a:xfrm>
            <a:off x="8458200" y="3959352"/>
            <a:ext cx="1600200" cy="594360"/>
          </a:xfrm>
          <a:prstGeom prst="rect">
            <a:avLst/>
          </a:prstGeom>
          <a:noFill/>
          <a:ln/>
        </p:spPr>
        <p:txBody>
          <a:bodyPr wrap="square" lIns="0" tIns="0" rIns="0" bIns="0" rtlCol="0" anchor="ctr"/>
          <a:lstStyle/>
          <a:p>
            <a:pPr indent="0" marL="0">
              <a:buNone/>
            </a:pPr>
            <a:r>
              <a:rPr lang="en-US" sz="1600" b="1" dirty="0">
                <a:solidFill>
                  <a:schemeClr val="tx2"/>
                </a:solidFill>
              </a:rPr>
              <a:t>Ownership and support</a:t>
            </a:r>
            <a:endParaRPr lang="en-US" sz="1600" dirty="0"/>
          </a:p>
        </p:txBody>
      </p:sp>
      <p:sp>
        <p:nvSpPr>
          <p:cNvPr id="37" name="txt_718"/>
          <p:cNvSpPr txBox="1"/>
          <p:nvPr/>
        </p:nvSpPr>
        <p:spPr>
          <a:xfrm>
            <a:off x="7836408" y="4690872"/>
            <a:ext cx="2157984" cy="1234440"/>
          </a:xfrm>
          <a:prstGeom prst="rect">
            <a:avLst/>
          </a:prstGeom>
          <a:noFill/>
          <a:ln/>
        </p:spPr>
        <p:txBody>
          <a:bodyPr wrap="square" lIns="0" tIns="0" rIns="0" bIns="0" rtlCol="0" anchor="t"/>
          <a:lstStyle/>
          <a:p>
            <a:pPr indent="0" marL="0">
              <a:buNone/>
            </a:pPr>
            <a:r>
              <a:rPr lang="en-US" sz="1400" dirty="0">
                <a:solidFill>
                  <a:schemeClr val="tx1"/>
                </a:solidFill>
              </a:rPr>
              <a:t>Labs and accelerator code has no SLA. Agree who owns upgrades, fixes and security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Decisions for this group</a:t>
            </a:r>
            <a:endParaRPr lang="en-US" sz="3600" dirty="0"/>
          </a:p>
        </p:txBody>
      </p:sp>
      <p:sp>
        <p:nvSpPr>
          <p:cNvPr id="3" name="txt_719"/>
          <p:cNvSpPr txBox="1"/>
          <p:nvPr/>
        </p:nvSpPr>
        <p:spPr>
          <a:xfrm>
            <a:off x="548640" y="1463040"/>
            <a:ext cx="6217920" cy="274320"/>
          </a:xfrm>
          <a:prstGeom prst="rect">
            <a:avLst/>
          </a:prstGeom>
          <a:noFill/>
          <a:ln/>
        </p:spPr>
        <p:txBody>
          <a:bodyPr wrap="square" lIns="0" tIns="0" rIns="0" bIns="0" rtlCol="0" anchor="t"/>
          <a:lstStyle/>
          <a:p>
            <a:pPr indent="0" marL="0">
              <a:buNone/>
            </a:pPr>
            <a:r>
              <a:rPr lang="en-US" sz="1300" b="1" spc="100" kern="0" dirty="0">
                <a:solidFill>
                  <a:schemeClr val="accent5"/>
                </a:solidFill>
              </a:rPr>
              <a:t>DECISIONS NEEDED</a:t>
            </a:r>
            <a:endParaRPr lang="en-US" sz="1300" dirty="0"/>
          </a:p>
        </p:txBody>
      </p:sp>
      <p:sp>
        <p:nvSpPr>
          <p:cNvPr id="4" name="num_720"/>
          <p:cNvSpPr/>
          <p:nvPr/>
        </p:nvSpPr>
        <p:spPr>
          <a:xfrm>
            <a:off x="548640" y="2011680"/>
            <a:ext cx="502920" cy="502920"/>
          </a:xfrm>
          <a:prstGeom prst="ellipse">
            <a:avLst/>
          </a:prstGeom>
          <a:solidFill>
            <a:schemeClr val="accent5"/>
          </a:solidFill>
          <a:ln w="12700">
            <a:solidFill>
              <a:schemeClr val="accent5"/>
            </a:solidFill>
            <a:prstDash val="solid"/>
          </a:ln>
        </p:spPr>
      </p:sp>
      <p:sp>
        <p:nvSpPr>
          <p:cNvPr id="5" name="numtxt_721"/>
          <p:cNvSpPr txBox="1"/>
          <p:nvPr/>
        </p:nvSpPr>
        <p:spPr>
          <a:xfrm>
            <a:off x="548640" y="20116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xt_722"/>
          <p:cNvSpPr txBox="1"/>
          <p:nvPr/>
        </p:nvSpPr>
        <p:spPr>
          <a:xfrm>
            <a:off x="1280160" y="1920240"/>
            <a:ext cx="5486400" cy="731520"/>
          </a:xfrm>
          <a:prstGeom prst="rect">
            <a:avLst/>
          </a:prstGeom>
          <a:noFill/>
          <a:ln/>
        </p:spPr>
        <p:txBody>
          <a:bodyPr wrap="square" lIns="0" tIns="0" rIns="0" bIns="0" rtlCol="0" anchor="ctr"/>
          <a:lstStyle/>
          <a:p>
            <a:pPr indent="0" marL="0">
              <a:buNone/>
            </a:pPr>
            <a:r>
              <a:rPr lang="en-US" sz="1800" dirty="0">
                <a:solidFill>
                  <a:schemeClr val="bg1"/>
                </a:solidFill>
              </a:rPr>
              <a:t>Which use case and consumer anchor phase one?</a:t>
            </a:r>
            <a:endParaRPr lang="en-US" sz="1800" dirty="0"/>
          </a:p>
        </p:txBody>
      </p:sp>
      <p:sp>
        <p:nvSpPr>
          <p:cNvPr id="7" name="num_723"/>
          <p:cNvSpPr/>
          <p:nvPr/>
        </p:nvSpPr>
        <p:spPr>
          <a:xfrm>
            <a:off x="548640" y="2971800"/>
            <a:ext cx="502920" cy="502920"/>
          </a:xfrm>
          <a:prstGeom prst="ellipse">
            <a:avLst/>
          </a:prstGeom>
          <a:solidFill>
            <a:schemeClr val="accent5"/>
          </a:solidFill>
          <a:ln w="12700">
            <a:solidFill>
              <a:schemeClr val="accent5"/>
            </a:solidFill>
            <a:prstDash val="solid"/>
          </a:ln>
        </p:spPr>
      </p:sp>
      <p:sp>
        <p:nvSpPr>
          <p:cNvPr id="8" name="numtxt_724"/>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xt_725"/>
          <p:cNvSpPr txBox="1"/>
          <p:nvPr/>
        </p:nvSpPr>
        <p:spPr>
          <a:xfrm>
            <a:off x="1280160" y="2880360"/>
            <a:ext cx="5486400" cy="731520"/>
          </a:xfrm>
          <a:prstGeom prst="rect">
            <a:avLst/>
          </a:prstGeom>
          <a:noFill/>
          <a:ln/>
        </p:spPr>
        <p:txBody>
          <a:bodyPr wrap="square" lIns="0" tIns="0" rIns="0" bIns="0" rtlCol="0" anchor="ctr"/>
          <a:lstStyle/>
          <a:p>
            <a:pPr indent="0" marL="0">
              <a:buNone/>
            </a:pPr>
            <a:r>
              <a:rPr lang="en-US" sz="1800" dirty="0">
                <a:solidFill>
                  <a:schemeClr val="bg1"/>
                </a:solidFill>
              </a:rPr>
              <a:t>Is per-user ABAC at query time non-negotiable for ontology queries?</a:t>
            </a:r>
            <a:endParaRPr lang="en-US" sz="1800" dirty="0"/>
          </a:p>
        </p:txBody>
      </p:sp>
      <p:sp>
        <p:nvSpPr>
          <p:cNvPr id="10" name="num_726"/>
          <p:cNvSpPr/>
          <p:nvPr/>
        </p:nvSpPr>
        <p:spPr>
          <a:xfrm>
            <a:off x="548640" y="3931920"/>
            <a:ext cx="502920" cy="502920"/>
          </a:xfrm>
          <a:prstGeom prst="ellipse">
            <a:avLst/>
          </a:prstGeom>
          <a:solidFill>
            <a:schemeClr val="accent5"/>
          </a:solidFill>
          <a:ln w="12700">
            <a:solidFill>
              <a:schemeClr val="accent5"/>
            </a:solidFill>
            <a:prstDash val="solid"/>
          </a:ln>
        </p:spPr>
      </p:sp>
      <p:sp>
        <p:nvSpPr>
          <p:cNvPr id="11" name="numtxt_727"/>
          <p:cNvSpPr txBox="1"/>
          <p:nvPr/>
        </p:nvSpPr>
        <p:spPr>
          <a:xfrm>
            <a:off x="548640" y="393192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2" name="txt_728"/>
          <p:cNvSpPr txBox="1"/>
          <p:nvPr/>
        </p:nvSpPr>
        <p:spPr>
          <a:xfrm>
            <a:off x="1280160" y="3840480"/>
            <a:ext cx="5486400" cy="731520"/>
          </a:xfrm>
          <a:prstGeom prst="rect">
            <a:avLst/>
          </a:prstGeom>
          <a:noFill/>
          <a:ln/>
        </p:spPr>
        <p:txBody>
          <a:bodyPr wrap="square" lIns="0" tIns="0" rIns="0" bIns="0" rtlCol="0" anchor="ctr"/>
          <a:lstStyle/>
          <a:p>
            <a:pPr indent="0" marL="0">
              <a:buNone/>
            </a:pPr>
            <a:r>
              <a:rPr lang="en-US" sz="1800" dirty="0">
                <a:solidFill>
                  <a:schemeClr val="bg1"/>
                </a:solidFill>
              </a:rPr>
              <a:t>Is a governed copy of clinical data in a graph store acceptable, and where?</a:t>
            </a:r>
            <a:endParaRPr lang="en-US" sz="1800" dirty="0"/>
          </a:p>
        </p:txBody>
      </p:sp>
      <p:sp>
        <p:nvSpPr>
          <p:cNvPr id="13" name="num_729"/>
          <p:cNvSpPr/>
          <p:nvPr/>
        </p:nvSpPr>
        <p:spPr>
          <a:xfrm>
            <a:off x="548640" y="4892040"/>
            <a:ext cx="502920" cy="502920"/>
          </a:xfrm>
          <a:prstGeom prst="ellipse">
            <a:avLst/>
          </a:prstGeom>
          <a:solidFill>
            <a:schemeClr val="accent5"/>
          </a:solidFill>
          <a:ln w="12700">
            <a:solidFill>
              <a:schemeClr val="accent5"/>
            </a:solidFill>
            <a:prstDash val="solid"/>
          </a:ln>
        </p:spPr>
      </p:sp>
      <p:sp>
        <p:nvSpPr>
          <p:cNvPr id="14" name="numtxt_730"/>
          <p:cNvSpPr txBox="1"/>
          <p:nvPr/>
        </p:nvSpPr>
        <p:spPr>
          <a:xfrm>
            <a:off x="548640" y="4892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5" name="txt_731"/>
          <p:cNvSpPr txBox="1"/>
          <p:nvPr/>
        </p:nvSpPr>
        <p:spPr>
          <a:xfrm>
            <a:off x="1280160" y="4800600"/>
            <a:ext cx="5486400" cy="731520"/>
          </a:xfrm>
          <a:prstGeom prst="rect">
            <a:avLst/>
          </a:prstGeom>
          <a:noFill/>
          <a:ln/>
        </p:spPr>
        <p:txBody>
          <a:bodyPr wrap="square" lIns="0" tIns="0" rIns="0" bIns="0" rtlCol="0" anchor="ctr"/>
          <a:lstStyle/>
          <a:p>
            <a:pPr indent="0" marL="0">
              <a:buNone/>
            </a:pPr>
            <a:r>
              <a:rPr lang="en-US" sz="1800" dirty="0">
                <a:solidFill>
                  <a:schemeClr val="bg1"/>
                </a:solidFill>
              </a:rPr>
              <a:t>What is our appetite for Preview, accelerator and Labs components?</a:t>
            </a:r>
            <a:endParaRPr lang="en-US" sz="1800" dirty="0"/>
          </a:p>
        </p:txBody>
      </p:sp>
      <p:sp>
        <p:nvSpPr>
          <p:cNvPr id="16" name="nextstep_732"/>
          <p:cNvSpPr/>
          <p:nvPr/>
        </p:nvSpPr>
        <p:spPr>
          <a:xfrm>
            <a:off x="7223760" y="1463040"/>
            <a:ext cx="4389120" cy="4343400"/>
          </a:xfrm>
          <a:prstGeom prst="roundRect">
            <a:avLst>
              <a:gd name="adj" fmla="val 1684"/>
            </a:avLst>
          </a:prstGeom>
          <a:solidFill>
            <a:schemeClr val="bg1">
              <a:alpha val="12000"/>
            </a:schemeClr>
          </a:solidFill>
          <a:ln w="12700">
            <a:solidFill>
              <a:schemeClr val="bg2"/>
            </a:solidFill>
            <a:prstDash val="solid"/>
          </a:ln>
        </p:spPr>
      </p:sp>
      <p:sp>
        <p:nvSpPr>
          <p:cNvPr id="17" name="txt_733"/>
          <p:cNvSpPr txBox="1"/>
          <p:nvPr/>
        </p:nvSpPr>
        <p:spPr>
          <a:xfrm>
            <a:off x="7543800" y="1737360"/>
            <a:ext cx="3749040" cy="274320"/>
          </a:xfrm>
          <a:prstGeom prst="rect">
            <a:avLst/>
          </a:prstGeom>
          <a:noFill/>
          <a:ln/>
        </p:spPr>
        <p:txBody>
          <a:bodyPr wrap="square" lIns="0" tIns="0" rIns="0" bIns="0" rtlCol="0" anchor="t"/>
          <a:lstStyle/>
          <a:p>
            <a:pPr indent="0" marL="0">
              <a:buNone/>
            </a:pPr>
            <a:r>
              <a:rPr lang="en-US" sz="1300" b="1" spc="100" kern="0" dirty="0">
                <a:solidFill>
                  <a:schemeClr val="accent5"/>
                </a:solidFill>
              </a:rPr>
              <a:t>PROPOSED NEXT STEP</a:t>
            </a:r>
            <a:endParaRPr lang="en-US" sz="1300" dirty="0"/>
          </a:p>
        </p:txBody>
      </p:sp>
      <p:sp>
        <p:nvSpPr>
          <p:cNvPr id="18" name="txt_734"/>
          <p:cNvSpPr txBox="1"/>
          <p:nvPr/>
        </p:nvSpPr>
        <p:spPr>
          <a:xfrm>
            <a:off x="7543800" y="2148840"/>
            <a:ext cx="3749040" cy="777240"/>
          </a:xfrm>
          <a:prstGeom prst="rect">
            <a:avLst/>
          </a:prstGeom>
          <a:noFill/>
          <a:ln/>
        </p:spPr>
        <p:txBody>
          <a:bodyPr wrap="square" lIns="0" tIns="0" rIns="0" bIns="0" rtlCol="0" anchor="t"/>
          <a:lstStyle/>
          <a:p>
            <a:pPr indent="0" marL="0">
              <a:buNone/>
            </a:pPr>
            <a:r>
              <a:rPr lang="en-US" sz="1800" dirty="0">
                <a:solidFill>
                  <a:schemeClr val="bg1"/>
                </a:solidFill>
              </a:rPr>
              <a:t>A time-boxed POC on one bounded clinical domain, comparing:</a:t>
            </a:r>
            <a:endParaRPr lang="en-US" sz="1800" dirty="0"/>
          </a:p>
        </p:txBody>
      </p:sp>
      <p:sp>
        <p:nvSpPr>
          <p:cNvPr id="19" name="poc_735"/>
          <p:cNvSpPr txBox="1"/>
          <p:nvPr/>
        </p:nvSpPr>
        <p:spPr>
          <a:xfrm>
            <a:off x="7543800" y="3017520"/>
            <a:ext cx="3749040" cy="1188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Native path: dbxmetagen, UC semantics, Genie</a:t>
            </a:r>
            <a:endParaRPr lang="en-US" sz="1600" dirty="0"/>
          </a:p>
          <a:p>
            <a:pPr marL="342900" indent="-342900">
              <a:spcAft>
                <a:spcPts val="800"/>
              </a:spcAft>
              <a:buSzPct val="100000"/>
              <a:buChar char="•"/>
            </a:pPr>
            <a:r>
              <a:rPr lang="en-US" sz="1600" dirty="0">
                <a:solidFill>
                  <a:schemeClr val="bg1"/>
                </a:solidFill>
              </a:rPr>
              <a:t>One formal path: OntoBricks or Ontop</a:t>
            </a:r>
            <a:endParaRPr lang="en-US" sz="1600" dirty="0"/>
          </a:p>
        </p:txBody>
      </p:sp>
      <p:sp>
        <p:nvSpPr>
          <p:cNvPr id="20" name="txt_736"/>
          <p:cNvSpPr txBox="1"/>
          <p:nvPr/>
        </p:nvSpPr>
        <p:spPr>
          <a:xfrm>
            <a:off x="7543800" y="4572000"/>
            <a:ext cx="3749040" cy="822960"/>
          </a:xfrm>
          <a:prstGeom prst="rect">
            <a:avLst/>
          </a:prstGeom>
          <a:noFill/>
          <a:ln/>
        </p:spPr>
        <p:txBody>
          <a:bodyPr wrap="square" lIns="0" tIns="0" rIns="0" bIns="0" rtlCol="0" anchor="t"/>
          <a:lstStyle/>
          <a:p>
            <a:pPr indent="0" marL="0">
              <a:buNone/>
            </a:pPr>
            <a:r>
              <a:rPr lang="en-US" sz="1600" b="1" dirty="0">
                <a:solidFill>
                  <a:schemeClr val="accent5"/>
                </a:solidFill>
              </a:rPr>
              <a:t>Scored on the six parameters, with ABAC tested end to end.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Glossary: semantics and clinical data</a:t>
            </a:r>
            <a:endParaRPr lang="en-US" sz="3600" dirty="0"/>
          </a:p>
        </p:txBody>
      </p:sp>
      <p:sp>
        <p:nvSpPr>
          <p:cNvPr id="3" name="node_737"/>
          <p:cNvSpPr/>
          <p:nvPr/>
        </p:nvSpPr>
        <p:spPr>
          <a:xfrm>
            <a:off x="548640" y="1417320"/>
            <a:ext cx="365760" cy="365760"/>
          </a:xfrm>
          <a:prstGeom prst="ellipse">
            <a:avLst/>
          </a:prstGeom>
          <a:solidFill>
            <a:schemeClr val="tx2"/>
          </a:solidFill>
          <a:ln w="12700">
            <a:solidFill>
              <a:schemeClr val="tx2"/>
            </a:solidFill>
            <a:prstDash val="solid"/>
          </a:ln>
        </p:spPr>
      </p:sp>
      <p:pic>
        <p:nvPicPr>
          <p:cNvPr id="4" name="icon_738" descr="preencoded.png">    </p:cNvPr>
          <p:cNvPicPr>
            <a:picLocks noChangeAspect="1"/>
          </p:cNvPicPr>
          <p:nvPr/>
        </p:nvPicPr>
        <p:blipFill>
          <a:blip r:embed="rId1"/>
          <a:stretch>
            <a:fillRect/>
          </a:stretch>
        </p:blipFill>
        <p:spPr>
          <a:xfrm>
            <a:off x="636422" y="1505102"/>
            <a:ext cx="190195" cy="190195"/>
          </a:xfrm>
          <a:prstGeom prst="rect">
            <a:avLst/>
          </a:prstGeom>
        </p:spPr>
      </p:pic>
      <p:sp>
        <p:nvSpPr>
          <p:cNvPr id="5" name="txt_739"/>
          <p:cNvSpPr txBox="1"/>
          <p:nvPr/>
        </p:nvSpPr>
        <p:spPr>
          <a:xfrm>
            <a:off x="1051560" y="1417320"/>
            <a:ext cx="4892040" cy="365760"/>
          </a:xfrm>
          <a:prstGeom prst="rect">
            <a:avLst/>
          </a:prstGeom>
          <a:noFill/>
          <a:ln/>
        </p:spPr>
        <p:txBody>
          <a:bodyPr wrap="square" lIns="0" tIns="0" rIns="0" bIns="0" rtlCol="0" anchor="ctr"/>
          <a:lstStyle/>
          <a:p>
            <a:pPr indent="0" marL="0">
              <a:buNone/>
            </a:pPr>
            <a:r>
              <a:rPr lang="en-US" sz="1200" b="1" spc="100" kern="0" dirty="0">
                <a:solidFill>
                  <a:schemeClr val="tx2"/>
                </a:solidFill>
              </a:rPr>
              <a:t>SEMANTIC-WEB CONCEPTS AND STANDARDS</a:t>
            </a:r>
            <a:endParaRPr lang="en-US" sz="1200" dirty="0"/>
          </a:p>
        </p:txBody>
      </p:sp>
      <p:sp>
        <p:nvSpPr>
          <p:cNvPr id="6" name="glossary_740"/>
          <p:cNvSpPr txBox="1"/>
          <p:nvPr/>
        </p:nvSpPr>
        <p:spPr>
          <a:xfrm>
            <a:off x="548640" y="1920240"/>
            <a:ext cx="5394960" cy="4343400"/>
          </a:xfrm>
          <a:prstGeom prst="rect">
            <a:avLst/>
          </a:prstGeom>
          <a:noFill/>
          <a:ln/>
        </p:spPr>
        <p:txBody>
          <a:bodyPr wrap="square" lIns="0" tIns="0" rIns="0" bIns="0" rtlCol="0" anchor="t"/>
          <a:lstStyle/>
          <a:p>
            <a:pPr indent="0" marL="0">
              <a:spcAft>
                <a:spcPts val="900"/>
              </a:spcAft>
              <a:buNone/>
            </a:pPr>
            <a:r>
              <a:rPr lang="en-US" sz="1400" b="1" dirty="0">
                <a:solidFill>
                  <a:schemeClr val="tx2"/>
                </a:solidFill>
              </a:rPr>
              <a:t>Ontology</a:t>
            </a:r>
            <a:pPr indent="0" marL="0">
              <a:spcAft>
                <a:spcPts val="900"/>
              </a:spcAft>
              <a:buNone/>
            </a:pPr>
            <a:r>
              <a:rPr lang="en-US" sz="1400" dirty="0">
                <a:solidFill>
                  <a:schemeClr val="tx1"/>
                </a:solidFill>
              </a:rPr>
              <a:t>  business concepts and how they relate</a:t>
            </a:r>
            <a:endParaRPr lang="en-US" sz="1400" dirty="0"/>
          </a:p>
          <a:p>
            <a:pPr indent="0" marL="0">
              <a:spcAft>
                <a:spcPts val="900"/>
              </a:spcAft>
              <a:buNone/>
            </a:pPr>
            <a:r>
              <a:rPr lang="en-US" sz="1400" b="1" dirty="0">
                <a:solidFill>
                  <a:schemeClr val="tx2"/>
                </a:solidFill>
              </a:rPr>
              <a:t>Knowledge graph</a:t>
            </a:r>
            <a:pPr indent="0" marL="0">
              <a:spcAft>
                <a:spcPts val="900"/>
              </a:spcAft>
              <a:buNone/>
            </a:pPr>
            <a:r>
              <a:rPr lang="en-US" sz="1400" dirty="0">
                <a:solidFill>
                  <a:schemeClr val="tx1"/>
                </a:solidFill>
              </a:rPr>
              <a:t>  data stored as connected facts</a:t>
            </a:r>
            <a:endParaRPr lang="en-US" sz="1400" dirty="0"/>
          </a:p>
          <a:p>
            <a:pPr indent="0" marL="0">
              <a:spcAft>
                <a:spcPts val="900"/>
              </a:spcAft>
              <a:buNone/>
            </a:pPr>
            <a:r>
              <a:rPr lang="en-US" sz="1400" b="1" dirty="0">
                <a:solidFill>
                  <a:schemeClr val="tx2"/>
                </a:solidFill>
              </a:rPr>
              <a:t>Triple</a:t>
            </a:r>
            <a:pPr indent="0" marL="0">
              <a:spcAft>
                <a:spcPts val="900"/>
              </a:spcAft>
              <a:buNone/>
            </a:pPr>
            <a:r>
              <a:rPr lang="en-US" sz="1400" dirty="0">
                <a:solidFill>
                  <a:schemeClr val="tx1"/>
                </a:solidFill>
              </a:rPr>
              <a:t>  one fact: subject, predicate, object</a:t>
            </a:r>
            <a:endParaRPr lang="en-US" sz="1400" dirty="0"/>
          </a:p>
          <a:p>
            <a:pPr indent="0" marL="0">
              <a:spcAft>
                <a:spcPts val="900"/>
              </a:spcAft>
              <a:buNone/>
            </a:pPr>
            <a:r>
              <a:rPr lang="en-US" sz="1400" b="1" dirty="0">
                <a:solidFill>
                  <a:schemeClr val="tx2"/>
                </a:solidFill>
              </a:rPr>
              <a:t>Triple store</a:t>
            </a:r>
            <a:pPr indent="0" marL="0">
              <a:spcAft>
                <a:spcPts val="900"/>
              </a:spcAft>
              <a:buNone/>
            </a:pPr>
            <a:r>
              <a:rPr lang="en-US" sz="1400" dirty="0">
                <a:solidFill>
                  <a:schemeClr val="tx1"/>
                </a:solidFill>
              </a:rPr>
              <a:t>  a database built to hold triples</a:t>
            </a:r>
            <a:endParaRPr lang="en-US" sz="1400" dirty="0"/>
          </a:p>
          <a:p>
            <a:pPr indent="0" marL="0">
              <a:spcAft>
                <a:spcPts val="900"/>
              </a:spcAft>
              <a:buNone/>
            </a:pPr>
            <a:r>
              <a:rPr lang="en-US" sz="1400" b="1" dirty="0">
                <a:solidFill>
                  <a:schemeClr val="tx2"/>
                </a:solidFill>
              </a:rPr>
              <a:t>RDF</a:t>
            </a:r>
            <a:pPr indent="0" marL="0">
              <a:spcAft>
                <a:spcPts val="900"/>
              </a:spcAft>
              <a:buNone/>
            </a:pPr>
            <a:r>
              <a:rPr lang="en-US" sz="1400" dirty="0">
                <a:solidFill>
                  <a:schemeClr val="tx1"/>
                </a:solidFill>
              </a:rPr>
              <a:t>  the W3C standard format for triples</a:t>
            </a:r>
            <a:endParaRPr lang="en-US" sz="1400" dirty="0"/>
          </a:p>
          <a:p>
            <a:pPr indent="0" marL="0">
              <a:spcAft>
                <a:spcPts val="900"/>
              </a:spcAft>
              <a:buNone/>
            </a:pPr>
            <a:r>
              <a:rPr lang="en-US" sz="1400" b="1" dirty="0">
                <a:solidFill>
                  <a:schemeClr val="tx2"/>
                </a:solidFill>
              </a:rPr>
              <a:t>OWL</a:t>
            </a:r>
            <a:pPr indent="0" marL="0">
              <a:spcAft>
                <a:spcPts val="900"/>
              </a:spcAft>
              <a:buNone/>
            </a:pPr>
            <a:r>
              <a:rPr lang="en-US" sz="1400" dirty="0">
                <a:solidFill>
                  <a:schemeClr val="tx1"/>
                </a:solidFill>
              </a:rPr>
              <a:t>  language for an ontology's classes and rules</a:t>
            </a:r>
            <a:endParaRPr lang="en-US" sz="1400" dirty="0"/>
          </a:p>
          <a:p>
            <a:pPr indent="0" marL="0">
              <a:spcAft>
                <a:spcPts val="900"/>
              </a:spcAft>
              <a:buNone/>
            </a:pPr>
            <a:r>
              <a:rPr lang="en-US" sz="1400" b="1" dirty="0">
                <a:solidFill>
                  <a:schemeClr val="tx2"/>
                </a:solidFill>
              </a:rPr>
              <a:t>OWL 2 QL / RL</a:t>
            </a:r>
            <a:pPr indent="0" marL="0">
              <a:spcAft>
                <a:spcPts val="900"/>
              </a:spcAft>
              <a:buNone/>
            </a:pPr>
            <a:r>
              <a:rPr lang="en-US" sz="1400" dirty="0">
                <a:solidFill>
                  <a:schemeClr val="tx1"/>
                </a:solidFill>
              </a:rPr>
              <a:t>  OWL subsets for query rewriting / rules</a:t>
            </a:r>
            <a:endParaRPr lang="en-US" sz="1400" dirty="0"/>
          </a:p>
          <a:p>
            <a:pPr indent="0" marL="0">
              <a:spcAft>
                <a:spcPts val="900"/>
              </a:spcAft>
              <a:buNone/>
            </a:pPr>
            <a:r>
              <a:rPr lang="en-US" sz="1400" b="1" dirty="0">
                <a:solidFill>
                  <a:schemeClr val="tx2"/>
                </a:solidFill>
              </a:rPr>
              <a:t>SPARQL</a:t>
            </a:r>
            <a:pPr indent="0" marL="0">
              <a:spcAft>
                <a:spcPts val="900"/>
              </a:spcAft>
              <a:buNone/>
            </a:pPr>
            <a:r>
              <a:rPr lang="en-US" sz="1400" dirty="0">
                <a:solidFill>
                  <a:schemeClr val="tx1"/>
                </a:solidFill>
              </a:rPr>
              <a:t>  the query language for RDF graphs</a:t>
            </a:r>
            <a:endParaRPr lang="en-US" sz="1400" dirty="0"/>
          </a:p>
          <a:p>
            <a:pPr indent="0" marL="0">
              <a:spcAft>
                <a:spcPts val="900"/>
              </a:spcAft>
              <a:buNone/>
            </a:pPr>
            <a:r>
              <a:rPr lang="en-US" sz="1400" b="1" dirty="0">
                <a:solidFill>
                  <a:schemeClr val="tx2"/>
                </a:solidFill>
              </a:rPr>
              <a:t>R2RML</a:t>
            </a:r>
            <a:pPr indent="0" marL="0">
              <a:spcAft>
                <a:spcPts val="900"/>
              </a:spcAft>
              <a:buNone/>
            </a:pPr>
            <a:r>
              <a:rPr lang="en-US" sz="1400" dirty="0">
                <a:solidFill>
                  <a:schemeClr val="tx1"/>
                </a:solidFill>
              </a:rPr>
              <a:t>  W3C standard for mapping tables to RDF</a:t>
            </a:r>
            <a:endParaRPr lang="en-US" sz="1400" dirty="0"/>
          </a:p>
          <a:p>
            <a:pPr indent="0" marL="0">
              <a:spcAft>
                <a:spcPts val="900"/>
              </a:spcAft>
              <a:buNone/>
            </a:pPr>
            <a:r>
              <a:rPr lang="en-US" sz="1400" b="1" dirty="0">
                <a:solidFill>
                  <a:schemeClr val="tx2"/>
                </a:solidFill>
              </a:rPr>
              <a:t>SHACL</a:t>
            </a:r>
            <a:pPr indent="0" marL="0">
              <a:spcAft>
                <a:spcPts val="900"/>
              </a:spcAft>
              <a:buNone/>
            </a:pPr>
            <a:r>
              <a:rPr lang="en-US" sz="1400" dirty="0">
                <a:solidFill>
                  <a:schemeClr val="tx1"/>
                </a:solidFill>
              </a:rPr>
              <a:t>  rules that check a graph's data quality</a:t>
            </a:r>
            <a:endParaRPr lang="en-US" sz="1400" dirty="0"/>
          </a:p>
          <a:p>
            <a:pPr indent="0" marL="0">
              <a:spcAft>
                <a:spcPts val="900"/>
              </a:spcAft>
              <a:buNone/>
            </a:pPr>
            <a:r>
              <a:rPr lang="en-US" sz="1400" b="1" dirty="0">
                <a:solidFill>
                  <a:schemeClr val="tx2"/>
                </a:solidFill>
              </a:rPr>
              <a:t>SWRL</a:t>
            </a:r>
            <a:pPr indent="0" marL="0">
              <a:spcAft>
                <a:spcPts val="900"/>
              </a:spcAft>
              <a:buNone/>
            </a:pPr>
            <a:r>
              <a:rPr lang="en-US" sz="1400" dirty="0">
                <a:solidFill>
                  <a:schemeClr val="tx1"/>
                </a:solidFill>
              </a:rPr>
              <a:t>  if-then rules that infer new facts</a:t>
            </a:r>
            <a:endParaRPr lang="en-US" sz="1400" dirty="0"/>
          </a:p>
          <a:p>
            <a:pPr indent="0" marL="0">
              <a:spcAft>
                <a:spcPts val="900"/>
              </a:spcAft>
              <a:buNone/>
            </a:pPr>
            <a:r>
              <a:rPr lang="en-US" sz="1400" b="1" dirty="0">
                <a:solidFill>
                  <a:schemeClr val="tx2"/>
                </a:solidFill>
              </a:rPr>
              <a:t>OBDA / VKG</a:t>
            </a:r>
            <a:pPr indent="0" marL="0">
              <a:spcAft>
                <a:spcPts val="900"/>
              </a:spcAft>
              <a:buNone/>
            </a:pPr>
            <a:r>
              <a:rPr lang="en-US" sz="1400" dirty="0">
                <a:solidFill>
                  <a:schemeClr val="tx1"/>
                </a:solidFill>
              </a:rPr>
              <a:t>  querying tables through an ontology, no copy</a:t>
            </a:r>
            <a:endParaRPr lang="en-US" sz="1400" dirty="0"/>
          </a:p>
          <a:p>
            <a:pPr indent="0" marL="0">
              <a:spcAft>
                <a:spcPts val="900"/>
              </a:spcAft>
              <a:buNone/>
            </a:pPr>
            <a:r>
              <a:rPr lang="en-US" sz="1400" b="1" dirty="0">
                <a:solidFill>
                  <a:schemeClr val="tx2"/>
                </a:solidFill>
              </a:rPr>
              <a:t>Protégé</a:t>
            </a:r>
            <a:pPr indent="0" marL="0">
              <a:spcAft>
                <a:spcPts val="900"/>
              </a:spcAft>
              <a:buNone/>
            </a:pPr>
            <a:r>
              <a:rPr lang="en-US" sz="1400" dirty="0">
                <a:solidFill>
                  <a:schemeClr val="tx1"/>
                </a:solidFill>
              </a:rPr>
              <a:t>  the standard open-source ontology editor</a:t>
            </a:r>
            <a:endParaRPr lang="en-US" sz="1400" dirty="0"/>
          </a:p>
        </p:txBody>
      </p:sp>
      <p:sp>
        <p:nvSpPr>
          <p:cNvPr id="7" name="node_741"/>
          <p:cNvSpPr/>
          <p:nvPr/>
        </p:nvSpPr>
        <p:spPr>
          <a:xfrm>
            <a:off x="6217920" y="1417320"/>
            <a:ext cx="365760" cy="365760"/>
          </a:xfrm>
          <a:prstGeom prst="ellipse">
            <a:avLst/>
          </a:prstGeom>
          <a:solidFill>
            <a:schemeClr val="tx2"/>
          </a:solidFill>
          <a:ln w="12700">
            <a:solidFill>
              <a:schemeClr val="tx2"/>
            </a:solidFill>
            <a:prstDash val="solid"/>
          </a:ln>
        </p:spPr>
      </p:sp>
      <p:pic>
        <p:nvPicPr>
          <p:cNvPr id="8" name="icon_742" descr="preencoded.png">    </p:cNvPr>
          <p:cNvPicPr>
            <a:picLocks noChangeAspect="1"/>
          </p:cNvPicPr>
          <p:nvPr/>
        </p:nvPicPr>
        <p:blipFill>
          <a:blip r:embed="rId2"/>
          <a:stretch>
            <a:fillRect/>
          </a:stretch>
        </p:blipFill>
        <p:spPr>
          <a:xfrm>
            <a:off x="6305702" y="1505102"/>
            <a:ext cx="190195" cy="190195"/>
          </a:xfrm>
          <a:prstGeom prst="rect">
            <a:avLst/>
          </a:prstGeom>
        </p:spPr>
      </p:pic>
      <p:sp>
        <p:nvSpPr>
          <p:cNvPr id="9" name="txt_743"/>
          <p:cNvSpPr txBox="1"/>
          <p:nvPr/>
        </p:nvSpPr>
        <p:spPr>
          <a:xfrm>
            <a:off x="6720840" y="1417320"/>
            <a:ext cx="4892040" cy="365760"/>
          </a:xfrm>
          <a:prstGeom prst="rect">
            <a:avLst/>
          </a:prstGeom>
          <a:noFill/>
          <a:ln/>
        </p:spPr>
        <p:txBody>
          <a:bodyPr wrap="square" lIns="0" tIns="0" rIns="0" bIns="0" rtlCol="0" anchor="ctr"/>
          <a:lstStyle/>
          <a:p>
            <a:pPr indent="0" marL="0">
              <a:buNone/>
            </a:pPr>
            <a:r>
              <a:rPr lang="en-US" sz="1200" b="1" spc="100" kern="0" dirty="0">
                <a:solidFill>
                  <a:schemeClr val="tx2"/>
                </a:solidFill>
              </a:rPr>
              <a:t>CLINICAL DATA STANDARDS</a:t>
            </a:r>
            <a:endParaRPr lang="en-US" sz="1200" dirty="0"/>
          </a:p>
        </p:txBody>
      </p:sp>
      <p:sp>
        <p:nvSpPr>
          <p:cNvPr id="10" name="glossary_744"/>
          <p:cNvSpPr txBox="1"/>
          <p:nvPr/>
        </p:nvSpPr>
        <p:spPr>
          <a:xfrm>
            <a:off x="6217920" y="1920240"/>
            <a:ext cx="5394960" cy="4343400"/>
          </a:xfrm>
          <a:prstGeom prst="rect">
            <a:avLst/>
          </a:prstGeom>
          <a:noFill/>
          <a:ln/>
        </p:spPr>
        <p:txBody>
          <a:bodyPr wrap="square" lIns="0" tIns="0" rIns="0" bIns="0" rtlCol="0" anchor="t"/>
          <a:lstStyle/>
          <a:p>
            <a:pPr indent="0" marL="0">
              <a:spcAft>
                <a:spcPts val="900"/>
              </a:spcAft>
              <a:buNone/>
            </a:pPr>
            <a:r>
              <a:rPr lang="en-US" sz="1400" b="1" dirty="0">
                <a:solidFill>
                  <a:schemeClr val="tx2"/>
                </a:solidFill>
              </a:rPr>
              <a:t>CDISC</a:t>
            </a:r>
            <a:pPr indent="0" marL="0">
              <a:spcAft>
                <a:spcPts val="900"/>
              </a:spcAft>
              <a:buNone/>
            </a:pPr>
            <a:r>
              <a:rPr lang="en-US" sz="1400" dirty="0">
                <a:solidFill>
                  <a:schemeClr val="tx1"/>
                </a:solidFill>
              </a:rPr>
              <a:t>  standards body for clinical research data</a:t>
            </a:r>
            <a:endParaRPr lang="en-US" sz="1400" dirty="0"/>
          </a:p>
          <a:p>
            <a:pPr indent="0" marL="0">
              <a:spcAft>
                <a:spcPts val="900"/>
              </a:spcAft>
              <a:buNone/>
            </a:pPr>
            <a:r>
              <a:rPr lang="en-US" sz="1400" b="1" dirty="0">
                <a:solidFill>
                  <a:schemeClr val="tx2"/>
                </a:solidFill>
              </a:rPr>
              <a:t>SDTM</a:t>
            </a:r>
            <a:pPr indent="0" marL="0">
              <a:spcAft>
                <a:spcPts val="900"/>
              </a:spcAft>
              <a:buNone/>
            </a:pPr>
            <a:r>
              <a:rPr lang="en-US" sz="1400" dirty="0">
                <a:solidFill>
                  <a:schemeClr val="tx1"/>
                </a:solidFill>
              </a:rPr>
              <a:t>  standard tabulation of collected study data</a:t>
            </a:r>
            <a:endParaRPr lang="en-US" sz="1400" dirty="0"/>
          </a:p>
          <a:p>
            <a:pPr indent="0" marL="0">
              <a:spcAft>
                <a:spcPts val="900"/>
              </a:spcAft>
              <a:buNone/>
            </a:pPr>
            <a:r>
              <a:rPr lang="en-US" sz="1400" b="1" dirty="0">
                <a:solidFill>
                  <a:schemeClr val="tx2"/>
                </a:solidFill>
              </a:rPr>
              <a:t>ADaM</a:t>
            </a:r>
            <a:pPr indent="0" marL="0">
              <a:spcAft>
                <a:spcPts val="900"/>
              </a:spcAft>
              <a:buNone/>
            </a:pPr>
            <a:r>
              <a:rPr lang="en-US" sz="1400" dirty="0">
                <a:solidFill>
                  <a:schemeClr val="tx1"/>
                </a:solidFill>
              </a:rPr>
              <a:t>  standard datasets for statistical analysis</a:t>
            </a:r>
            <a:endParaRPr lang="en-US" sz="1400" dirty="0"/>
          </a:p>
          <a:p>
            <a:pPr indent="0" marL="0">
              <a:spcAft>
                <a:spcPts val="900"/>
              </a:spcAft>
              <a:buNone/>
            </a:pPr>
            <a:r>
              <a:rPr lang="en-US" sz="1400" b="1" dirty="0">
                <a:solidFill>
                  <a:schemeClr val="tx2"/>
                </a:solidFill>
              </a:rPr>
              <a:t>CDASH</a:t>
            </a:r>
            <a:pPr indent="0" marL="0">
              <a:spcAft>
                <a:spcPts val="900"/>
              </a:spcAft>
              <a:buNone/>
            </a:pPr>
            <a:r>
              <a:rPr lang="en-US" sz="1400" dirty="0">
                <a:solidFill>
                  <a:schemeClr val="tx1"/>
                </a:solidFill>
              </a:rPr>
              <a:t>  standard for clinical data collection</a:t>
            </a:r>
            <a:endParaRPr lang="en-US" sz="1400" dirty="0"/>
          </a:p>
          <a:p>
            <a:pPr indent="0" marL="0">
              <a:spcAft>
                <a:spcPts val="900"/>
              </a:spcAft>
              <a:buNone/>
            </a:pPr>
            <a:r>
              <a:rPr lang="en-US" sz="1400" b="1" dirty="0">
                <a:solidFill>
                  <a:schemeClr val="tx2"/>
                </a:solidFill>
              </a:rPr>
              <a:t>SEND</a:t>
            </a:r>
            <a:pPr indent="0" marL="0">
              <a:spcAft>
                <a:spcPts val="900"/>
              </a:spcAft>
              <a:buNone/>
            </a:pPr>
            <a:r>
              <a:rPr lang="en-US" sz="1400" dirty="0">
                <a:solidFill>
                  <a:schemeClr val="tx1"/>
                </a:solidFill>
              </a:rPr>
              <a:t>  SDTM's counterpart for nonclinical studies</a:t>
            </a:r>
            <a:endParaRPr lang="en-US" sz="1400" dirty="0"/>
          </a:p>
          <a:p>
            <a:pPr indent="0" marL="0">
              <a:spcAft>
                <a:spcPts val="900"/>
              </a:spcAft>
              <a:buNone/>
            </a:pPr>
            <a:r>
              <a:rPr lang="en-US" sz="1400" b="1" dirty="0">
                <a:solidFill>
                  <a:schemeClr val="tx2"/>
                </a:solidFill>
              </a:rPr>
              <a:t>OMOP CDM</a:t>
            </a:r>
            <a:pPr indent="0" marL="0">
              <a:spcAft>
                <a:spcPts val="900"/>
              </a:spcAft>
              <a:buNone/>
            </a:pPr>
            <a:r>
              <a:rPr lang="en-US" sz="1400" dirty="0">
                <a:solidFill>
                  <a:schemeClr val="tx1"/>
                </a:solidFill>
              </a:rPr>
              <a:t>  common model for observational health data</a:t>
            </a:r>
            <a:endParaRPr lang="en-US" sz="1400" dirty="0"/>
          </a:p>
          <a:p>
            <a:pPr indent="0" marL="0">
              <a:spcAft>
                <a:spcPts val="900"/>
              </a:spcAft>
              <a:buNone/>
            </a:pPr>
            <a:r>
              <a:rPr lang="en-US" sz="1400" b="1" dirty="0">
                <a:solidFill>
                  <a:schemeClr val="tx2"/>
                </a:solidFill>
              </a:rPr>
              <a:t>FHIR R4</a:t>
            </a:r>
            <a:pPr indent="0" marL="0">
              <a:spcAft>
                <a:spcPts val="900"/>
              </a:spcAft>
              <a:buNone/>
            </a:pPr>
            <a:r>
              <a:rPr lang="en-US" sz="1400" dirty="0">
                <a:solidFill>
                  <a:schemeClr val="tx1"/>
                </a:solidFill>
              </a:rPr>
              <a:t>  HL7 standard for exchanging health data</a:t>
            </a:r>
            <a:endParaRPr lang="en-US" sz="1400" dirty="0"/>
          </a:p>
          <a:p>
            <a:pPr indent="0" marL="0">
              <a:spcAft>
                <a:spcPts val="900"/>
              </a:spcAft>
              <a:buNone/>
            </a:pPr>
            <a:r>
              <a:rPr lang="en-US" sz="1400" b="1" dirty="0">
                <a:solidFill>
                  <a:schemeClr val="tx2"/>
                </a:solidFill>
              </a:rPr>
              <a:t>MedDRA</a:t>
            </a:r>
            <a:pPr indent="0" marL="0">
              <a:spcAft>
                <a:spcPts val="900"/>
              </a:spcAft>
              <a:buNone/>
            </a:pPr>
            <a:r>
              <a:rPr lang="en-US" sz="1400" dirty="0">
                <a:solidFill>
                  <a:schemeClr val="tx1"/>
                </a:solidFill>
              </a:rPr>
              <a:t>  dictionary for coding adverse events</a:t>
            </a:r>
            <a:endParaRPr lang="en-US" sz="1400" dirty="0"/>
          </a:p>
          <a:p>
            <a:pPr indent="0" marL="0">
              <a:spcAft>
                <a:spcPts val="900"/>
              </a:spcAft>
              <a:buNone/>
            </a:pPr>
            <a:r>
              <a:rPr lang="en-US" sz="1400" b="1" dirty="0">
                <a:solidFill>
                  <a:schemeClr val="tx2"/>
                </a:solidFill>
              </a:rPr>
              <a:t>PHI</a:t>
            </a:r>
            <a:pPr indent="0" marL="0">
              <a:spcAft>
                <a:spcPts val="900"/>
              </a:spcAft>
              <a:buNone/>
            </a:pPr>
            <a:r>
              <a:rPr lang="en-US" sz="1400" dirty="0">
                <a:solidFill>
                  <a:schemeClr val="tx1"/>
                </a:solidFill>
              </a:rPr>
              <a:t>  protected health information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Glossary: Databricks and AI interfaces</a:t>
            </a:r>
            <a:endParaRPr lang="en-US" sz="3600" dirty="0"/>
          </a:p>
        </p:txBody>
      </p:sp>
      <p:sp>
        <p:nvSpPr>
          <p:cNvPr id="3" name="node_745"/>
          <p:cNvSpPr/>
          <p:nvPr/>
        </p:nvSpPr>
        <p:spPr>
          <a:xfrm>
            <a:off x="548640" y="1417320"/>
            <a:ext cx="365760" cy="365760"/>
          </a:xfrm>
          <a:prstGeom prst="ellipse">
            <a:avLst/>
          </a:prstGeom>
          <a:solidFill>
            <a:schemeClr val="tx2"/>
          </a:solidFill>
          <a:ln w="12700">
            <a:solidFill>
              <a:schemeClr val="tx2"/>
            </a:solidFill>
            <a:prstDash val="solid"/>
          </a:ln>
        </p:spPr>
      </p:sp>
      <p:pic>
        <p:nvPicPr>
          <p:cNvPr id="4" name="icon_746" descr="preencoded.png">    </p:cNvPr>
          <p:cNvPicPr>
            <a:picLocks noChangeAspect="1"/>
          </p:cNvPicPr>
          <p:nvPr/>
        </p:nvPicPr>
        <p:blipFill>
          <a:blip r:embed="rId1"/>
          <a:stretch>
            <a:fillRect/>
          </a:stretch>
        </p:blipFill>
        <p:spPr>
          <a:xfrm>
            <a:off x="636422" y="1505102"/>
            <a:ext cx="190195" cy="190195"/>
          </a:xfrm>
          <a:prstGeom prst="rect">
            <a:avLst/>
          </a:prstGeom>
        </p:spPr>
      </p:pic>
      <p:sp>
        <p:nvSpPr>
          <p:cNvPr id="5" name="txt_747"/>
          <p:cNvSpPr txBox="1"/>
          <p:nvPr/>
        </p:nvSpPr>
        <p:spPr>
          <a:xfrm>
            <a:off x="1051560" y="1417320"/>
            <a:ext cx="4892040" cy="365760"/>
          </a:xfrm>
          <a:prstGeom prst="rect">
            <a:avLst/>
          </a:prstGeom>
          <a:noFill/>
          <a:ln/>
        </p:spPr>
        <p:txBody>
          <a:bodyPr wrap="square" lIns="0" tIns="0" rIns="0" bIns="0" rtlCol="0" anchor="ctr"/>
          <a:lstStyle/>
          <a:p>
            <a:pPr indent="0" marL="0">
              <a:buNone/>
            </a:pPr>
            <a:r>
              <a:rPr lang="en-US" sz="1200" b="1" spc="100" kern="0" dirty="0">
                <a:solidFill>
                  <a:schemeClr val="tx2"/>
                </a:solidFill>
              </a:rPr>
              <a:t>DATABRICKS</a:t>
            </a:r>
            <a:endParaRPr lang="en-US" sz="1200" dirty="0"/>
          </a:p>
        </p:txBody>
      </p:sp>
      <p:sp>
        <p:nvSpPr>
          <p:cNvPr id="6" name="glossary_748"/>
          <p:cNvSpPr txBox="1"/>
          <p:nvPr/>
        </p:nvSpPr>
        <p:spPr>
          <a:xfrm>
            <a:off x="548640" y="1920240"/>
            <a:ext cx="5394960" cy="4343400"/>
          </a:xfrm>
          <a:prstGeom prst="rect">
            <a:avLst/>
          </a:prstGeom>
          <a:noFill/>
          <a:ln/>
        </p:spPr>
        <p:txBody>
          <a:bodyPr wrap="square" lIns="0" tIns="0" rIns="0" bIns="0" rtlCol="0" anchor="t"/>
          <a:lstStyle/>
          <a:p>
            <a:pPr indent="0" marL="0">
              <a:spcAft>
                <a:spcPts val="900"/>
              </a:spcAft>
              <a:buNone/>
            </a:pPr>
            <a:r>
              <a:rPr lang="en-US" sz="1400" b="1" dirty="0">
                <a:solidFill>
                  <a:schemeClr val="tx2"/>
                </a:solidFill>
              </a:rPr>
              <a:t>Unity Catalog (UC)</a:t>
            </a:r>
            <a:pPr indent="0" marL="0">
              <a:spcAft>
                <a:spcPts val="900"/>
              </a:spcAft>
              <a:buNone/>
            </a:pPr>
            <a:r>
              <a:rPr lang="en-US" sz="1400" dirty="0">
                <a:solidFill>
                  <a:schemeClr val="tx1"/>
                </a:solidFill>
              </a:rPr>
              <a:t>  governance for Databricks data and AI</a:t>
            </a:r>
            <a:endParaRPr lang="en-US" sz="1400" dirty="0"/>
          </a:p>
          <a:p>
            <a:pPr indent="0" marL="0">
              <a:spcAft>
                <a:spcPts val="900"/>
              </a:spcAft>
              <a:buNone/>
            </a:pPr>
            <a:r>
              <a:rPr lang="en-US" sz="1400" b="1" dirty="0">
                <a:solidFill>
                  <a:schemeClr val="tx2"/>
                </a:solidFill>
              </a:rPr>
              <a:t>ABAC</a:t>
            </a:r>
            <a:pPr indent="0" marL="0">
              <a:spcAft>
                <a:spcPts val="900"/>
              </a:spcAft>
              <a:buNone/>
            </a:pPr>
            <a:r>
              <a:rPr lang="en-US" sz="1400" dirty="0">
                <a:solidFill>
                  <a:schemeClr val="tx1"/>
                </a:solidFill>
              </a:rPr>
              <a:t>  attribute-based access: row filters, column masks</a:t>
            </a:r>
            <a:endParaRPr lang="en-US" sz="1400" dirty="0"/>
          </a:p>
          <a:p>
            <a:pPr indent="0" marL="0">
              <a:spcAft>
                <a:spcPts val="900"/>
              </a:spcAft>
              <a:buNone/>
            </a:pPr>
            <a:r>
              <a:rPr lang="en-US" sz="1400" b="1" dirty="0">
                <a:solidFill>
                  <a:schemeClr val="tx2"/>
                </a:solidFill>
              </a:rPr>
              <a:t>Service principal</a:t>
            </a:r>
            <a:pPr indent="0" marL="0">
              <a:spcAft>
                <a:spcPts val="900"/>
              </a:spcAft>
              <a:buNone/>
            </a:pPr>
            <a:r>
              <a:rPr lang="en-US" sz="1400" dirty="0">
                <a:solidFill>
                  <a:schemeClr val="tx1"/>
                </a:solidFill>
              </a:rPr>
              <a:t>  a non-human identity for apps and jobs</a:t>
            </a:r>
            <a:endParaRPr lang="en-US" sz="1400" dirty="0"/>
          </a:p>
          <a:p>
            <a:pPr indent="0" marL="0">
              <a:spcAft>
                <a:spcPts val="900"/>
              </a:spcAft>
              <a:buNone/>
            </a:pPr>
            <a:r>
              <a:rPr lang="en-US" sz="1400" b="1" dirty="0">
                <a:solidFill>
                  <a:schemeClr val="tx2"/>
                </a:solidFill>
              </a:rPr>
              <a:t>Metric view</a:t>
            </a:r>
            <a:pPr indent="0" marL="0">
              <a:spcAft>
                <a:spcPts val="900"/>
              </a:spcAft>
              <a:buNone/>
            </a:pPr>
            <a:r>
              <a:rPr lang="en-US" sz="1400" dirty="0">
                <a:solidFill>
                  <a:schemeClr val="tx1"/>
                </a:solidFill>
              </a:rPr>
              <a:t>  a governed, reusable KPI definition</a:t>
            </a:r>
            <a:endParaRPr lang="en-US" sz="1400" dirty="0"/>
          </a:p>
          <a:p>
            <a:pPr indent="0" marL="0">
              <a:spcAft>
                <a:spcPts val="900"/>
              </a:spcAft>
              <a:buNone/>
            </a:pPr>
            <a:r>
              <a:rPr lang="en-US" sz="1400" b="1" dirty="0">
                <a:solidFill>
                  <a:schemeClr val="tx2"/>
                </a:solidFill>
              </a:rPr>
              <a:t>Domain</a:t>
            </a:r>
            <a:pPr indent="0" marL="0">
              <a:spcAft>
                <a:spcPts val="900"/>
              </a:spcAft>
              <a:buNone/>
            </a:pPr>
            <a:r>
              <a:rPr lang="en-US" sz="1400" dirty="0">
                <a:solidFill>
                  <a:schemeClr val="tx1"/>
                </a:solidFill>
              </a:rPr>
              <a:t>  business-aligned grouping of UC assets</a:t>
            </a:r>
            <a:endParaRPr lang="en-US" sz="1400" dirty="0"/>
          </a:p>
          <a:p>
            <a:pPr indent="0" marL="0">
              <a:spcAft>
                <a:spcPts val="900"/>
              </a:spcAft>
              <a:buNone/>
            </a:pPr>
            <a:r>
              <a:rPr lang="en-US" sz="1400" b="1" dirty="0">
                <a:solidFill>
                  <a:schemeClr val="tx2"/>
                </a:solidFill>
              </a:rPr>
              <a:t>Page</a:t>
            </a:r>
            <a:pPr indent="0" marL="0">
              <a:spcAft>
                <a:spcPts val="900"/>
              </a:spcAft>
              <a:buNone/>
            </a:pPr>
            <a:r>
              <a:rPr lang="en-US" sz="1400" dirty="0">
                <a:solidFill>
                  <a:schemeClr val="tx1"/>
                </a:solidFill>
              </a:rPr>
              <a:t>  a governed definition of a business concept</a:t>
            </a:r>
            <a:endParaRPr lang="en-US" sz="1400" dirty="0"/>
          </a:p>
          <a:p>
            <a:pPr indent="0" marL="0">
              <a:spcAft>
                <a:spcPts val="900"/>
              </a:spcAft>
              <a:buNone/>
            </a:pPr>
            <a:r>
              <a:rPr lang="en-US" sz="1400" b="1" dirty="0">
                <a:solidFill>
                  <a:schemeClr val="tx2"/>
                </a:solidFill>
              </a:rPr>
              <a:t>Genie One / Genie Code</a:t>
            </a:r>
            <a:pPr indent="0" marL="0">
              <a:spcAft>
                <a:spcPts val="900"/>
              </a:spcAft>
              <a:buNone/>
            </a:pPr>
            <a:r>
              <a:rPr lang="en-US" sz="1400" dirty="0">
                <a:solidFill>
                  <a:schemeClr val="tx1"/>
                </a:solidFill>
              </a:rPr>
              <a:t>  Databricks' AI assistants</a:t>
            </a:r>
            <a:endParaRPr lang="en-US" sz="1400" dirty="0"/>
          </a:p>
          <a:p>
            <a:pPr indent="0" marL="0">
              <a:spcAft>
                <a:spcPts val="900"/>
              </a:spcAft>
              <a:buNone/>
            </a:pPr>
            <a:r>
              <a:rPr lang="en-US" sz="1400" b="1" dirty="0">
                <a:solidFill>
                  <a:schemeClr val="tx2"/>
                </a:solidFill>
              </a:rPr>
              <a:t>Genie Agents</a:t>
            </a:r>
            <a:pPr indent="0" marL="0">
              <a:spcAft>
                <a:spcPts val="900"/>
              </a:spcAft>
              <a:buNone/>
            </a:pPr>
            <a:r>
              <a:rPr lang="en-US" sz="1400" dirty="0">
                <a:solidFill>
                  <a:schemeClr val="tx1"/>
                </a:solidFill>
              </a:rPr>
              <a:t>  domain agents, formerly Genie spaces</a:t>
            </a:r>
            <a:endParaRPr lang="en-US" sz="1400" dirty="0"/>
          </a:p>
          <a:p>
            <a:pPr indent="0" marL="0">
              <a:spcAft>
                <a:spcPts val="900"/>
              </a:spcAft>
              <a:buNone/>
            </a:pPr>
            <a:r>
              <a:rPr lang="en-US" sz="1400" b="1" dirty="0">
                <a:solidFill>
                  <a:schemeClr val="tx2"/>
                </a:solidFill>
              </a:rPr>
              <a:t>Lakebase</a:t>
            </a:r>
            <a:pPr indent="0" marL="0">
              <a:spcAft>
                <a:spcPts val="900"/>
              </a:spcAft>
              <a:buNone/>
            </a:pPr>
            <a:r>
              <a:rPr lang="en-US" sz="1400" dirty="0">
                <a:solidFill>
                  <a:schemeClr val="tx1"/>
                </a:solidFill>
              </a:rPr>
              <a:t>  Databricks' managed Postgres database</a:t>
            </a:r>
            <a:endParaRPr lang="en-US" sz="1400" dirty="0"/>
          </a:p>
          <a:p>
            <a:pPr indent="0" marL="0">
              <a:spcAft>
                <a:spcPts val="900"/>
              </a:spcAft>
              <a:buNone/>
            </a:pPr>
            <a:r>
              <a:rPr lang="en-US" sz="1400" b="1" dirty="0">
                <a:solidFill>
                  <a:schemeClr val="tx2"/>
                </a:solidFill>
              </a:rPr>
              <a:t>Delta table</a:t>
            </a:r>
            <a:pPr indent="0" marL="0">
              <a:spcAft>
                <a:spcPts val="900"/>
              </a:spcAft>
              <a:buNone/>
            </a:pPr>
            <a:r>
              <a:rPr lang="en-US" sz="1400" dirty="0">
                <a:solidFill>
                  <a:schemeClr val="tx1"/>
                </a:solidFill>
              </a:rPr>
              <a:t>  Databricks' default table format</a:t>
            </a:r>
            <a:endParaRPr lang="en-US" sz="1400" dirty="0"/>
          </a:p>
          <a:p>
            <a:pPr indent="0" marL="0">
              <a:spcAft>
                <a:spcPts val="900"/>
              </a:spcAft>
              <a:buNone/>
            </a:pPr>
            <a:r>
              <a:rPr lang="en-US" sz="1400" b="1" dirty="0">
                <a:solidFill>
                  <a:schemeClr val="tx2"/>
                </a:solidFill>
              </a:rPr>
              <a:t>SQL warehouse</a:t>
            </a:r>
            <a:pPr indent="0" marL="0">
              <a:spcAft>
                <a:spcPts val="900"/>
              </a:spcAft>
              <a:buNone/>
            </a:pPr>
            <a:r>
              <a:rPr lang="en-US" sz="1400" dirty="0">
                <a:solidFill>
                  <a:schemeClr val="tx1"/>
                </a:solidFill>
              </a:rPr>
              <a:t>  Databricks compute for SQL queries</a:t>
            </a:r>
            <a:endParaRPr lang="en-US" sz="1400" dirty="0"/>
          </a:p>
          <a:p>
            <a:pPr indent="0" marL="0">
              <a:spcAft>
                <a:spcPts val="900"/>
              </a:spcAft>
              <a:buNone/>
            </a:pPr>
            <a:r>
              <a:rPr lang="en-US" sz="1400" b="1" dirty="0">
                <a:solidFill>
                  <a:schemeClr val="tx2"/>
                </a:solidFill>
              </a:rPr>
              <a:t>Databricks Labs</a:t>
            </a:r>
            <a:pPr indent="0" marL="0">
              <a:spcAft>
                <a:spcPts val="900"/>
              </a:spcAft>
              <a:buNone/>
            </a:pPr>
            <a:r>
              <a:rPr lang="en-US" sz="1400" dirty="0">
                <a:solidFill>
                  <a:schemeClr val="tx1"/>
                </a:solidFill>
              </a:rPr>
              <a:t>  projects with no formal support</a:t>
            </a:r>
            <a:endParaRPr lang="en-US" sz="1400" dirty="0"/>
          </a:p>
          <a:p>
            <a:pPr indent="0" marL="0">
              <a:spcAft>
                <a:spcPts val="900"/>
              </a:spcAft>
              <a:buNone/>
            </a:pPr>
            <a:r>
              <a:rPr lang="en-US" sz="1400" b="1" dirty="0">
                <a:solidFill>
                  <a:schemeClr val="tx2"/>
                </a:solidFill>
              </a:rPr>
              <a:t>Solutions accelerator</a:t>
            </a:r>
            <a:pPr indent="0" marL="0">
              <a:spcAft>
                <a:spcPts val="900"/>
              </a:spcAft>
              <a:buNone/>
            </a:pPr>
            <a:r>
              <a:rPr lang="en-US" sz="1400" dirty="0">
                <a:solidFill>
                  <a:schemeClr val="tx1"/>
                </a:solidFill>
              </a:rPr>
              <a:t>  reference code, no SLA</a:t>
            </a:r>
            <a:endParaRPr lang="en-US" sz="1400" dirty="0"/>
          </a:p>
        </p:txBody>
      </p:sp>
      <p:sp>
        <p:nvSpPr>
          <p:cNvPr id="7" name="node_749"/>
          <p:cNvSpPr/>
          <p:nvPr/>
        </p:nvSpPr>
        <p:spPr>
          <a:xfrm>
            <a:off x="6217920" y="1417320"/>
            <a:ext cx="365760" cy="365760"/>
          </a:xfrm>
          <a:prstGeom prst="ellipse">
            <a:avLst/>
          </a:prstGeom>
          <a:solidFill>
            <a:schemeClr val="tx2"/>
          </a:solidFill>
          <a:ln w="12700">
            <a:solidFill>
              <a:schemeClr val="tx2"/>
            </a:solidFill>
            <a:prstDash val="solid"/>
          </a:ln>
        </p:spPr>
      </p:sp>
      <p:pic>
        <p:nvPicPr>
          <p:cNvPr id="8" name="icon_750" descr="preencoded.png">    </p:cNvPr>
          <p:cNvPicPr>
            <a:picLocks noChangeAspect="1"/>
          </p:cNvPicPr>
          <p:nvPr/>
        </p:nvPicPr>
        <p:blipFill>
          <a:blip r:embed="rId2"/>
          <a:stretch>
            <a:fillRect/>
          </a:stretch>
        </p:blipFill>
        <p:spPr>
          <a:xfrm>
            <a:off x="6305702" y="1505102"/>
            <a:ext cx="190195" cy="190195"/>
          </a:xfrm>
          <a:prstGeom prst="rect">
            <a:avLst/>
          </a:prstGeom>
        </p:spPr>
      </p:pic>
      <p:sp>
        <p:nvSpPr>
          <p:cNvPr id="9" name="txt_751"/>
          <p:cNvSpPr txBox="1"/>
          <p:nvPr/>
        </p:nvSpPr>
        <p:spPr>
          <a:xfrm>
            <a:off x="6720840" y="1417320"/>
            <a:ext cx="4892040" cy="365760"/>
          </a:xfrm>
          <a:prstGeom prst="rect">
            <a:avLst/>
          </a:prstGeom>
          <a:noFill/>
          <a:ln/>
        </p:spPr>
        <p:txBody>
          <a:bodyPr wrap="square" lIns="0" tIns="0" rIns="0" bIns="0" rtlCol="0" anchor="ctr"/>
          <a:lstStyle/>
          <a:p>
            <a:pPr indent="0" marL="0">
              <a:buNone/>
            </a:pPr>
            <a:r>
              <a:rPr lang="en-US" sz="1200" b="1" spc="100" kern="0" dirty="0">
                <a:solidFill>
                  <a:schemeClr val="tx2"/>
                </a:solidFill>
              </a:rPr>
              <a:t>INTERFACES AND AI</a:t>
            </a:r>
            <a:endParaRPr lang="en-US" sz="1200" dirty="0"/>
          </a:p>
        </p:txBody>
      </p:sp>
      <p:sp>
        <p:nvSpPr>
          <p:cNvPr id="10" name="glossary_752"/>
          <p:cNvSpPr txBox="1"/>
          <p:nvPr/>
        </p:nvSpPr>
        <p:spPr>
          <a:xfrm>
            <a:off x="6217920" y="1920240"/>
            <a:ext cx="5394960" cy="4343400"/>
          </a:xfrm>
          <a:prstGeom prst="rect">
            <a:avLst/>
          </a:prstGeom>
          <a:noFill/>
          <a:ln/>
        </p:spPr>
        <p:txBody>
          <a:bodyPr wrap="square" lIns="0" tIns="0" rIns="0" bIns="0" rtlCol="0" anchor="t"/>
          <a:lstStyle/>
          <a:p>
            <a:pPr indent="0" marL="0">
              <a:spcAft>
                <a:spcPts val="900"/>
              </a:spcAft>
              <a:buNone/>
            </a:pPr>
            <a:r>
              <a:rPr lang="en-US" sz="1400" b="1" dirty="0">
                <a:solidFill>
                  <a:schemeClr val="tx2"/>
                </a:solidFill>
              </a:rPr>
              <a:t>LLM</a:t>
            </a:r>
            <a:pPr indent="0" marL="0">
              <a:spcAft>
                <a:spcPts val="900"/>
              </a:spcAft>
              <a:buNone/>
            </a:pPr>
            <a:r>
              <a:rPr lang="en-US" sz="1400" dirty="0">
                <a:solidFill>
                  <a:schemeClr val="tx1"/>
                </a:solidFill>
              </a:rPr>
              <a:t>  large language model</a:t>
            </a:r>
            <a:endParaRPr lang="en-US" sz="1400" dirty="0"/>
          </a:p>
          <a:p>
            <a:pPr indent="0" marL="0">
              <a:spcAft>
                <a:spcPts val="900"/>
              </a:spcAft>
              <a:buNone/>
            </a:pPr>
            <a:r>
              <a:rPr lang="en-US" sz="1400" b="1" dirty="0">
                <a:solidFill>
                  <a:schemeClr val="tx2"/>
                </a:solidFill>
              </a:rPr>
              <a:t>MCP</a:t>
            </a:r>
            <a:pPr indent="0" marL="0">
              <a:spcAft>
                <a:spcPts val="900"/>
              </a:spcAft>
              <a:buNone/>
            </a:pPr>
            <a:r>
              <a:rPr lang="en-US" sz="1400" dirty="0">
                <a:solidFill>
                  <a:schemeClr val="tx1"/>
                </a:solidFill>
              </a:rPr>
              <a:t>  Model Context Protocol: how agents call tools</a:t>
            </a:r>
            <a:endParaRPr lang="en-US" sz="1400" dirty="0"/>
          </a:p>
          <a:p>
            <a:pPr indent="0" marL="0">
              <a:spcAft>
                <a:spcPts val="900"/>
              </a:spcAft>
              <a:buNone/>
            </a:pPr>
            <a:r>
              <a:rPr lang="en-US" sz="1400" b="1" dirty="0">
                <a:solidFill>
                  <a:schemeClr val="tx2"/>
                </a:solidFill>
              </a:rPr>
              <a:t>GraphQL</a:t>
            </a:r>
            <a:pPr indent="0" marL="0">
              <a:spcAft>
                <a:spcPts val="900"/>
              </a:spcAft>
              <a:buNone/>
            </a:pPr>
            <a:r>
              <a:rPr lang="en-US" sz="1400" dirty="0">
                <a:solidFill>
                  <a:schemeClr val="tx1"/>
                </a:solidFill>
              </a:rPr>
              <a:t>  API query language for nested data</a:t>
            </a:r>
            <a:endParaRPr lang="en-US" sz="1400" dirty="0"/>
          </a:p>
          <a:p>
            <a:pPr indent="0" marL="0">
              <a:spcAft>
                <a:spcPts val="900"/>
              </a:spcAft>
              <a:buNone/>
            </a:pPr>
            <a:r>
              <a:rPr lang="en-US" sz="1400" b="1" dirty="0">
                <a:solidFill>
                  <a:schemeClr val="tx2"/>
                </a:solidFill>
              </a:rPr>
              <a:t>REST</a:t>
            </a:r>
            <a:pPr indent="0" marL="0">
              <a:spcAft>
                <a:spcPts val="900"/>
              </a:spcAft>
              <a:buNone/>
            </a:pPr>
            <a:r>
              <a:rPr lang="en-US" sz="1400" dirty="0">
                <a:solidFill>
                  <a:schemeClr val="tx1"/>
                </a:solidFill>
              </a:rPr>
              <a:t>  the standard style for web APIs</a:t>
            </a:r>
            <a:endParaRPr lang="en-US" sz="1400" dirty="0"/>
          </a:p>
          <a:p>
            <a:pPr indent="0" marL="0">
              <a:spcAft>
                <a:spcPts val="900"/>
              </a:spcAft>
              <a:buNone/>
            </a:pPr>
            <a:r>
              <a:rPr lang="en-US" sz="1400" b="1" dirty="0">
                <a:solidFill>
                  <a:schemeClr val="tx2"/>
                </a:solidFill>
              </a:rPr>
              <a:t>GraphRAG</a:t>
            </a:r>
            <a:pPr indent="0" marL="0">
              <a:spcAft>
                <a:spcPts val="900"/>
              </a:spcAft>
              <a:buNone/>
            </a:pPr>
            <a:r>
              <a:rPr lang="en-US" sz="1400" dirty="0">
                <a:solidFill>
                  <a:schemeClr val="tx1"/>
                </a:solidFill>
              </a:rPr>
              <a:t>  retrieval that uses a graph to find context</a:t>
            </a:r>
            <a:endParaRPr lang="en-US" sz="1400" dirty="0"/>
          </a:p>
          <a:p>
            <a:pPr indent="0" marL="0">
              <a:spcAft>
                <a:spcPts val="900"/>
              </a:spcAft>
              <a:buNone/>
            </a:pPr>
            <a:r>
              <a:rPr lang="en-US" sz="1400" b="1" dirty="0">
                <a:solidFill>
                  <a:schemeClr val="tx2"/>
                </a:solidFill>
              </a:rPr>
              <a:t>Vector index</a:t>
            </a:r>
            <a:pPr indent="0" marL="0">
              <a:spcAft>
                <a:spcPts val="900"/>
              </a:spcAft>
              <a:buNone/>
            </a:pPr>
            <a:r>
              <a:rPr lang="en-US" sz="1400" dirty="0">
                <a:solidFill>
                  <a:schemeClr val="tx1"/>
                </a:solidFill>
              </a:rPr>
              <a:t>  search by meaning, not exact words</a:t>
            </a:r>
            <a:endParaRPr lang="en-US" sz="1400" dirty="0"/>
          </a:p>
          <a:p>
            <a:pPr indent="0" marL="0">
              <a:spcAft>
                <a:spcPts val="900"/>
              </a:spcAft>
              <a:buNone/>
            </a:pPr>
            <a:r>
              <a:rPr lang="en-US" sz="1400" b="1" dirty="0">
                <a:solidFill>
                  <a:schemeClr val="tx2"/>
                </a:solidFill>
              </a:rPr>
              <a:t>JDBC</a:t>
            </a:r>
            <a:pPr indent="0" marL="0">
              <a:spcAft>
                <a:spcPts val="900"/>
              </a:spcAft>
              <a:buNone/>
            </a:pPr>
            <a:r>
              <a:rPr lang="en-US" sz="1400" dirty="0">
                <a:solidFill>
                  <a:schemeClr val="tx1"/>
                </a:solidFill>
              </a:rPr>
              <a:t>  standard Java database connection</a:t>
            </a:r>
            <a:endParaRPr lang="en-US" sz="1400" dirty="0"/>
          </a:p>
          <a:p>
            <a:pPr indent="0" marL="0">
              <a:spcAft>
                <a:spcPts val="900"/>
              </a:spcAft>
              <a:buNone/>
            </a:pPr>
            <a:r>
              <a:rPr lang="en-US" sz="1400" b="1" dirty="0">
                <a:solidFill>
                  <a:schemeClr val="tx2"/>
                </a:solidFill>
              </a:rPr>
              <a:t>Lens (Ontop)</a:t>
            </a:r>
            <a:pPr indent="0" marL="0">
              <a:spcAft>
                <a:spcPts val="900"/>
              </a:spcAft>
              <a:buNone/>
            </a:pPr>
            <a:r>
              <a:rPr lang="en-US" sz="1400" dirty="0">
                <a:solidFill>
                  <a:schemeClr val="tx1"/>
                </a:solidFill>
              </a:rPr>
              <a:t>  declares keys a database doesn't expose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ntology Framing">
  <a:themeElements>
    <a:clrScheme name="Ontology Framing">
      <a:dk1>
        <a:srgbClr val="1B2A2F"/>
      </a:dk1>
      <a:lt1>
        <a:srgbClr val="FFFFFF"/>
      </a:lt1>
      <a:dk2>
        <a:srgbClr val="123F44"/>
      </a:dk2>
      <a:lt2>
        <a:srgbClr val="EEF3F2"/>
      </a:lt2>
      <a:accent1>
        <a:srgbClr val="0E7C7B"/>
      </a:accent1>
      <a:accent2>
        <a:srgbClr val="3D5A80"/>
      </a:accent2>
      <a:accent3>
        <a:srgbClr val="C8553D"/>
      </a:accent3>
      <a:accent4>
        <a:srgbClr val="6B4C9A"/>
      </a:accent4>
      <a:accent5>
        <a:srgbClr val="E0A526"/>
      </a:accent5>
      <a:accent6>
        <a:srgbClr val="56706C"/>
      </a:accent6>
      <a:hlink>
        <a:srgbClr val="0E7C7B"/>
      </a:hlink>
      <a:folHlink>
        <a:srgbClr val="6B4C9A"/>
      </a:folHlink>
    </a:clrScheme>
    <a:fontScheme name="Ontology Fram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 on Databricks: framing the options</dc:title>
  <dc:subject>PptxGenJS Presentation</dc:subject>
  <dc:creator>Data Engineering</dc:creator>
  <cp:lastModifiedBy>Data Engineering</cp:lastModifiedBy>
  <cp:revision>1</cp:revision>
  <dcterms:created xsi:type="dcterms:W3CDTF">2026-10-06T18:23:37Z</dcterms:created>
  <dcterms:modified xsi:type="dcterms:W3CDTF">2026-10-06T18:23:37Z</dcterms:modified>
</cp:coreProperties>
</file>